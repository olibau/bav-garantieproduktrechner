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5382" r:id="rId4"/>
  </p:sldMasterIdLst>
  <p:notesMasterIdLst>
    <p:notesMasterId r:id="rId16"/>
  </p:notesMasterIdLst>
  <p:handoutMasterIdLst>
    <p:handoutMasterId r:id="rId17"/>
  </p:handoutMasterIdLst>
  <p:sldIdLst>
    <p:sldId id="360" r:id="rId5"/>
    <p:sldId id="2145709357" r:id="rId6"/>
    <p:sldId id="2145709359" r:id="rId7"/>
    <p:sldId id="2145709349" r:id="rId8"/>
    <p:sldId id="256" r:id="rId9"/>
    <p:sldId id="2145709358" r:id="rId10"/>
    <p:sldId id="2145709355" r:id="rId11"/>
    <p:sldId id="2145709366" r:id="rId12"/>
    <p:sldId id="2145709364" r:id="rId13"/>
    <p:sldId id="2145709365" r:id="rId14"/>
    <p:sldId id="2145709367" r:id="rId15"/>
  </p:sldIdLst>
  <p:sldSz cx="12188825" cy="6858000"/>
  <p:notesSz cx="6670675" cy="9802813"/>
  <p:defaultTextStyle>
    <a:defPPr>
      <a:defRPr lang="en-US"/>
    </a:defPPr>
    <a:lvl1pPr algn="l" defTabSz="914414" rtl="0" fontAlgn="base">
      <a:spcBef>
        <a:spcPct val="0"/>
      </a:spcBef>
      <a:spcAft>
        <a:spcPct val="0"/>
      </a:spcAft>
      <a:defRPr sz="1814" kern="1200">
        <a:solidFill>
          <a:schemeClr val="tx1"/>
        </a:solidFill>
        <a:latin typeface="Arial" charset="0"/>
        <a:ea typeface="+mn-ea"/>
        <a:cs typeface="Arial" charset="0"/>
      </a:defRPr>
    </a:lvl1pPr>
    <a:lvl2pPr marL="456487" indent="-41761" algn="l" defTabSz="914414" rtl="0" fontAlgn="base">
      <a:spcBef>
        <a:spcPct val="0"/>
      </a:spcBef>
      <a:spcAft>
        <a:spcPct val="0"/>
      </a:spcAft>
      <a:defRPr sz="1814" kern="1200">
        <a:solidFill>
          <a:schemeClr val="tx1"/>
        </a:solidFill>
        <a:latin typeface="Arial" charset="0"/>
        <a:ea typeface="+mn-ea"/>
        <a:cs typeface="Arial" charset="0"/>
      </a:defRPr>
    </a:lvl2pPr>
    <a:lvl3pPr marL="914414" indent="-84962" algn="l" defTabSz="914414" rtl="0" fontAlgn="base">
      <a:spcBef>
        <a:spcPct val="0"/>
      </a:spcBef>
      <a:spcAft>
        <a:spcPct val="0"/>
      </a:spcAft>
      <a:defRPr sz="1814" kern="1200">
        <a:solidFill>
          <a:schemeClr val="tx1"/>
        </a:solidFill>
        <a:latin typeface="Arial" charset="0"/>
        <a:ea typeface="+mn-ea"/>
        <a:cs typeface="Arial" charset="0"/>
      </a:defRPr>
    </a:lvl3pPr>
    <a:lvl4pPr marL="1372341" indent="-128162" algn="l" defTabSz="914414" rtl="0" fontAlgn="base">
      <a:spcBef>
        <a:spcPct val="0"/>
      </a:spcBef>
      <a:spcAft>
        <a:spcPct val="0"/>
      </a:spcAft>
      <a:defRPr sz="1814" kern="1200">
        <a:solidFill>
          <a:schemeClr val="tx1"/>
        </a:solidFill>
        <a:latin typeface="Arial" charset="0"/>
        <a:ea typeface="+mn-ea"/>
        <a:cs typeface="Arial" charset="0"/>
      </a:defRPr>
    </a:lvl4pPr>
    <a:lvl5pPr marL="1830267" indent="-171363" algn="l" defTabSz="914414" rtl="0" fontAlgn="base">
      <a:spcBef>
        <a:spcPct val="0"/>
      </a:spcBef>
      <a:spcAft>
        <a:spcPct val="0"/>
      </a:spcAft>
      <a:defRPr sz="1814" kern="1200">
        <a:solidFill>
          <a:schemeClr val="tx1"/>
        </a:solidFill>
        <a:latin typeface="Arial" charset="0"/>
        <a:ea typeface="+mn-ea"/>
        <a:cs typeface="Arial" charset="0"/>
      </a:defRPr>
    </a:lvl5pPr>
    <a:lvl6pPr marL="2073631" algn="l" defTabSz="829452" rtl="0" eaLnBrk="1" latinLnBrk="0" hangingPunct="1">
      <a:defRPr sz="1814" kern="1200">
        <a:solidFill>
          <a:schemeClr val="tx1"/>
        </a:solidFill>
        <a:latin typeface="Arial" charset="0"/>
        <a:ea typeface="+mn-ea"/>
        <a:cs typeface="Arial" charset="0"/>
      </a:defRPr>
    </a:lvl6pPr>
    <a:lvl7pPr marL="2488357" algn="l" defTabSz="829452" rtl="0" eaLnBrk="1" latinLnBrk="0" hangingPunct="1">
      <a:defRPr sz="1814" kern="1200">
        <a:solidFill>
          <a:schemeClr val="tx1"/>
        </a:solidFill>
        <a:latin typeface="Arial" charset="0"/>
        <a:ea typeface="+mn-ea"/>
        <a:cs typeface="Arial" charset="0"/>
      </a:defRPr>
    </a:lvl7pPr>
    <a:lvl8pPr marL="2903083" algn="l" defTabSz="829452" rtl="0" eaLnBrk="1" latinLnBrk="0" hangingPunct="1">
      <a:defRPr sz="1814" kern="1200">
        <a:solidFill>
          <a:schemeClr val="tx1"/>
        </a:solidFill>
        <a:latin typeface="Arial" charset="0"/>
        <a:ea typeface="+mn-ea"/>
        <a:cs typeface="Arial" charset="0"/>
      </a:defRPr>
    </a:lvl8pPr>
    <a:lvl9pPr marL="3317809" algn="l" defTabSz="829452" rtl="0" eaLnBrk="1" latinLnBrk="0" hangingPunct="1">
      <a:defRPr sz="1814"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088" userDrawn="1">
          <p15:clr>
            <a:srgbClr val="A4A3A4"/>
          </p15:clr>
        </p15:guide>
        <p15:guide id="2" pos="2101"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or" initials="M"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or" initials="A" lastIdx="2" clrIdx="1"/>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3E0"/>
    <a:srgbClr val="4AC9E3"/>
    <a:srgbClr val="CEDC00"/>
    <a:srgbClr val="1D559B"/>
    <a:srgbClr val="005395"/>
    <a:srgbClr val="099534"/>
    <a:srgbClr val="D7DEE2"/>
    <a:srgbClr val="A7D6CD"/>
    <a:srgbClr val="DEEF07"/>
    <a:srgbClr val="CEDC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059" autoAdjust="0"/>
    <p:restoredTop sz="94665"/>
  </p:normalViewPr>
  <p:slideViewPr>
    <p:cSldViewPr snapToGrid="0">
      <p:cViewPr varScale="1">
        <p:scale>
          <a:sx n="100" d="100"/>
          <a:sy n="100" d="100"/>
        </p:scale>
        <p:origin x="176" y="320"/>
      </p:cViewPr>
      <p:guideLst/>
    </p:cSldViewPr>
  </p:slideViewPr>
  <p:notesTextViewPr>
    <p:cViewPr>
      <p:scale>
        <a:sx n="1" d="1"/>
        <a:sy n="1" d="1"/>
      </p:scale>
      <p:origin x="0" y="0"/>
    </p:cViewPr>
  </p:notesTextViewPr>
  <p:notesViewPr>
    <p:cSldViewPr snapToGrid="0">
      <p:cViewPr>
        <p:scale>
          <a:sx n="1" d="2"/>
          <a:sy n="1" d="2"/>
        </p:scale>
        <p:origin x="0" y="0"/>
      </p:cViewPr>
      <p:guideLst>
        <p:guide orient="horz" pos="3088"/>
        <p:guide pos="210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1146" cy="490141"/>
          </a:xfrm>
          <a:prstGeom prst="rect">
            <a:avLst/>
          </a:prstGeom>
        </p:spPr>
        <p:txBody>
          <a:bodyPr vert="horz" wrap="square" lIns="90196" tIns="45098" rIns="90196" bIns="45098" numCol="1" anchor="t" anchorCtr="0" compatLnSpc="1">
            <a:prstTxWarp prst="textNoShape">
              <a:avLst/>
            </a:prstTxWarp>
          </a:bodyPr>
          <a:lstStyle>
            <a:lvl1pPr>
              <a:defRPr sz="1200">
                <a:latin typeface="Arial" charset="0"/>
                <a:ea typeface="+mn-ea"/>
                <a:cs typeface="Arial" charset="0"/>
              </a:defRPr>
            </a:lvl1pPr>
          </a:lstStyle>
          <a:p>
            <a:pPr>
              <a:defRPr/>
            </a:pPr>
            <a:endParaRPr lang="en-GB"/>
          </a:p>
        </p:txBody>
      </p:sp>
      <p:sp>
        <p:nvSpPr>
          <p:cNvPr id="3" name="Date Placeholder 2"/>
          <p:cNvSpPr>
            <a:spLocks noGrp="1"/>
          </p:cNvSpPr>
          <p:nvPr>
            <p:ph type="dt" sz="quarter" idx="1"/>
          </p:nvPr>
        </p:nvSpPr>
        <p:spPr>
          <a:xfrm>
            <a:off x="3777971" y="0"/>
            <a:ext cx="2891146" cy="490141"/>
          </a:xfrm>
          <a:prstGeom prst="rect">
            <a:avLst/>
          </a:prstGeom>
        </p:spPr>
        <p:txBody>
          <a:bodyPr vert="horz" wrap="square" lIns="90196" tIns="45098" rIns="90196" bIns="45098" numCol="1" anchor="t" anchorCtr="0" compatLnSpc="1">
            <a:prstTxWarp prst="textNoShape">
              <a:avLst/>
            </a:prstTxWarp>
          </a:bodyPr>
          <a:lstStyle>
            <a:lvl1pPr algn="r">
              <a:defRPr sz="1200"/>
            </a:lvl1pPr>
          </a:lstStyle>
          <a:p>
            <a:pPr>
              <a:defRPr/>
            </a:pPr>
            <a:fld id="{E9BAC376-ACF6-4037-8F33-4FBF19ACBAFA}" type="datetime1">
              <a:rPr lang="en-US"/>
              <a:pPr>
                <a:defRPr/>
              </a:pPr>
              <a:t>3/24/26</a:t>
            </a:fld>
            <a:endParaRPr lang="en-GB"/>
          </a:p>
        </p:txBody>
      </p:sp>
      <p:sp>
        <p:nvSpPr>
          <p:cNvPr id="4" name="Footer Placeholder 3"/>
          <p:cNvSpPr>
            <a:spLocks noGrp="1"/>
          </p:cNvSpPr>
          <p:nvPr>
            <p:ph type="ftr" sz="quarter" idx="2"/>
          </p:nvPr>
        </p:nvSpPr>
        <p:spPr>
          <a:xfrm>
            <a:off x="0" y="9311102"/>
            <a:ext cx="2891146" cy="490141"/>
          </a:xfrm>
          <a:prstGeom prst="rect">
            <a:avLst/>
          </a:prstGeom>
        </p:spPr>
        <p:txBody>
          <a:bodyPr vert="horz" wrap="square" lIns="90196" tIns="45098" rIns="90196" bIns="45098" numCol="1" anchor="b" anchorCtr="0" compatLnSpc="1">
            <a:prstTxWarp prst="textNoShape">
              <a:avLst/>
            </a:prstTxWarp>
          </a:bodyPr>
          <a:lstStyle>
            <a:lvl1pPr>
              <a:defRPr sz="1200">
                <a:latin typeface="Arial" charset="0"/>
                <a:ea typeface="+mn-ea"/>
                <a:cs typeface="Arial" charset="0"/>
              </a:defRPr>
            </a:lvl1pPr>
          </a:lstStyle>
          <a:p>
            <a:pPr>
              <a:defRPr/>
            </a:pPr>
            <a:endParaRPr lang="en-GB"/>
          </a:p>
        </p:txBody>
      </p:sp>
      <p:sp>
        <p:nvSpPr>
          <p:cNvPr id="5" name="Slide Number Placeholder 4"/>
          <p:cNvSpPr>
            <a:spLocks noGrp="1"/>
          </p:cNvSpPr>
          <p:nvPr>
            <p:ph type="sldNum" sz="quarter" idx="3"/>
          </p:nvPr>
        </p:nvSpPr>
        <p:spPr>
          <a:xfrm>
            <a:off x="3777971" y="9311102"/>
            <a:ext cx="2891146" cy="490141"/>
          </a:xfrm>
          <a:prstGeom prst="rect">
            <a:avLst/>
          </a:prstGeom>
        </p:spPr>
        <p:txBody>
          <a:bodyPr vert="horz" wrap="square" lIns="90196" tIns="45098" rIns="90196" bIns="45098" numCol="1" anchor="b" anchorCtr="0" compatLnSpc="1">
            <a:prstTxWarp prst="textNoShape">
              <a:avLst/>
            </a:prstTxWarp>
          </a:bodyPr>
          <a:lstStyle>
            <a:lvl1pPr algn="r">
              <a:defRPr sz="1200"/>
            </a:lvl1pPr>
          </a:lstStyle>
          <a:p>
            <a:pPr>
              <a:defRPr/>
            </a:pPr>
            <a:fld id="{89938E28-B09B-447E-BCAC-DE51036E3ED3}" type="slidenum">
              <a:rPr lang="en-GB"/>
              <a:pPr>
                <a:defRPr/>
              </a:pPr>
              <a:t>‹Nr.›</a:t>
            </a:fld>
            <a:endParaRPr lang="en-GB"/>
          </a:p>
        </p:txBody>
      </p:sp>
    </p:spTree>
    <p:extLst>
      <p:ext uri="{BB962C8B-B14F-4D97-AF65-F5344CB8AC3E}">
        <p14:creationId xmlns:p14="http://schemas.microsoft.com/office/powerpoint/2010/main" val="3001151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1146" cy="490141"/>
          </a:xfrm>
          <a:prstGeom prst="rect">
            <a:avLst/>
          </a:prstGeom>
        </p:spPr>
        <p:txBody>
          <a:bodyPr vert="horz" wrap="square" lIns="90196" tIns="45098" rIns="90196" bIns="45098" numCol="1" anchor="t" anchorCtr="0" compatLnSpc="1">
            <a:prstTxWarp prst="textNoShape">
              <a:avLst/>
            </a:prstTxWarp>
          </a:bodyPr>
          <a:lstStyle>
            <a:lvl1pPr>
              <a:defRPr sz="1200">
                <a:latin typeface="Arial" charset="0"/>
                <a:ea typeface="+mn-ea"/>
                <a:cs typeface="Arial" charset="0"/>
              </a:defRPr>
            </a:lvl1pPr>
          </a:lstStyle>
          <a:p>
            <a:pPr>
              <a:defRPr/>
            </a:pPr>
            <a:endParaRPr lang="en-GB"/>
          </a:p>
        </p:txBody>
      </p:sp>
      <p:sp>
        <p:nvSpPr>
          <p:cNvPr id="3" name="Date Placeholder 2"/>
          <p:cNvSpPr>
            <a:spLocks noGrp="1"/>
          </p:cNvSpPr>
          <p:nvPr>
            <p:ph type="dt" idx="1"/>
          </p:nvPr>
        </p:nvSpPr>
        <p:spPr>
          <a:xfrm>
            <a:off x="3777971" y="0"/>
            <a:ext cx="2891146" cy="490141"/>
          </a:xfrm>
          <a:prstGeom prst="rect">
            <a:avLst/>
          </a:prstGeom>
        </p:spPr>
        <p:txBody>
          <a:bodyPr vert="horz" wrap="square" lIns="90196" tIns="45098" rIns="90196" bIns="45098" numCol="1" anchor="t" anchorCtr="0" compatLnSpc="1">
            <a:prstTxWarp prst="textNoShape">
              <a:avLst/>
            </a:prstTxWarp>
          </a:bodyPr>
          <a:lstStyle>
            <a:lvl1pPr algn="r">
              <a:defRPr sz="1200"/>
            </a:lvl1pPr>
          </a:lstStyle>
          <a:p>
            <a:pPr>
              <a:defRPr/>
            </a:pPr>
            <a:fld id="{43EBB1D3-38BD-4B0D-B98C-370541E46E48}" type="datetime1">
              <a:rPr lang="en-US"/>
              <a:pPr>
                <a:defRPr/>
              </a:pPr>
              <a:t>3/23/26</a:t>
            </a:fld>
            <a:endParaRPr lang="en-GB"/>
          </a:p>
        </p:txBody>
      </p:sp>
      <p:sp>
        <p:nvSpPr>
          <p:cNvPr id="4" name="Slide Image Placeholder 3"/>
          <p:cNvSpPr>
            <a:spLocks noGrp="1" noRot="1" noChangeAspect="1"/>
          </p:cNvSpPr>
          <p:nvPr>
            <p:ph type="sldImg" idx="2"/>
          </p:nvPr>
        </p:nvSpPr>
        <p:spPr>
          <a:xfrm>
            <a:off x="68263" y="735013"/>
            <a:ext cx="6534150" cy="3676650"/>
          </a:xfrm>
          <a:prstGeom prst="rect">
            <a:avLst/>
          </a:prstGeom>
          <a:noFill/>
          <a:ln w="12700">
            <a:solidFill>
              <a:prstClr val="black"/>
            </a:solidFill>
          </a:ln>
        </p:spPr>
        <p:txBody>
          <a:bodyPr vert="horz" lIns="90196" tIns="45098" rIns="90196" bIns="45098" rtlCol="0" anchor="ctr"/>
          <a:lstStyle/>
          <a:p>
            <a:pPr lvl="0"/>
            <a:endParaRPr lang="en-GB" noProof="0"/>
          </a:p>
        </p:txBody>
      </p:sp>
      <p:sp>
        <p:nvSpPr>
          <p:cNvPr id="5" name="Notes Placeholder 4"/>
          <p:cNvSpPr>
            <a:spLocks noGrp="1"/>
          </p:cNvSpPr>
          <p:nvPr>
            <p:ph type="body" sz="quarter" idx="3"/>
          </p:nvPr>
        </p:nvSpPr>
        <p:spPr>
          <a:xfrm>
            <a:off x="667068" y="4656336"/>
            <a:ext cx="5336540" cy="4411266"/>
          </a:xfrm>
          <a:prstGeom prst="rect">
            <a:avLst/>
          </a:prstGeom>
        </p:spPr>
        <p:txBody>
          <a:bodyPr vert="horz" wrap="square" lIns="90196" tIns="45098" rIns="90196" bIns="45098"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9311102"/>
            <a:ext cx="2891146" cy="490141"/>
          </a:xfrm>
          <a:prstGeom prst="rect">
            <a:avLst/>
          </a:prstGeom>
        </p:spPr>
        <p:txBody>
          <a:bodyPr vert="horz" wrap="square" lIns="90196" tIns="45098" rIns="90196" bIns="45098" numCol="1" anchor="b" anchorCtr="0" compatLnSpc="1">
            <a:prstTxWarp prst="textNoShape">
              <a:avLst/>
            </a:prstTxWarp>
          </a:bodyPr>
          <a:lstStyle>
            <a:lvl1pPr>
              <a:defRPr sz="1200">
                <a:latin typeface="Arial" charset="0"/>
                <a:ea typeface="+mn-ea"/>
                <a:cs typeface="Arial" charset="0"/>
              </a:defRPr>
            </a:lvl1pPr>
          </a:lstStyle>
          <a:p>
            <a:pPr>
              <a:defRPr/>
            </a:pPr>
            <a:endParaRPr lang="en-GB"/>
          </a:p>
        </p:txBody>
      </p:sp>
      <p:sp>
        <p:nvSpPr>
          <p:cNvPr id="7" name="Slide Number Placeholder 6"/>
          <p:cNvSpPr>
            <a:spLocks noGrp="1"/>
          </p:cNvSpPr>
          <p:nvPr>
            <p:ph type="sldNum" sz="quarter" idx="5"/>
          </p:nvPr>
        </p:nvSpPr>
        <p:spPr>
          <a:xfrm>
            <a:off x="3777971" y="9311102"/>
            <a:ext cx="2891146" cy="490141"/>
          </a:xfrm>
          <a:prstGeom prst="rect">
            <a:avLst/>
          </a:prstGeom>
        </p:spPr>
        <p:txBody>
          <a:bodyPr vert="horz" wrap="square" lIns="90196" tIns="45098" rIns="90196" bIns="45098" numCol="1" anchor="b" anchorCtr="0" compatLnSpc="1">
            <a:prstTxWarp prst="textNoShape">
              <a:avLst/>
            </a:prstTxWarp>
          </a:bodyPr>
          <a:lstStyle>
            <a:lvl1pPr algn="r">
              <a:defRPr sz="1200"/>
            </a:lvl1pPr>
          </a:lstStyle>
          <a:p>
            <a:pPr>
              <a:defRPr/>
            </a:pPr>
            <a:fld id="{C5BDCC07-116E-44A3-8F3A-12365A52EE2D}" type="slidenum">
              <a:rPr lang="en-GB"/>
              <a:pPr>
                <a:defRPr/>
              </a:pPr>
              <a:t>‹Nr.›</a:t>
            </a:fld>
            <a:endParaRPr lang="en-GB"/>
          </a:p>
        </p:txBody>
      </p:sp>
    </p:spTree>
    <p:extLst>
      <p:ext uri="{BB962C8B-B14F-4D97-AF65-F5344CB8AC3E}">
        <p14:creationId xmlns:p14="http://schemas.microsoft.com/office/powerpoint/2010/main" val="30458564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89" kern="1200">
        <a:solidFill>
          <a:schemeClr val="tx1"/>
        </a:solidFill>
        <a:latin typeface="Calibri Light" panose="020F0302020204030204" pitchFamily="34" charset="0"/>
        <a:ea typeface="ＭＳ Ｐゴシック" pitchFamily="-106" charset="-128"/>
        <a:cs typeface="ＭＳ Ｐゴシック" pitchFamily="-106" charset="-128"/>
      </a:defRPr>
    </a:lvl1pPr>
    <a:lvl2pPr marL="414726" algn="l" rtl="0" eaLnBrk="0" fontAlgn="base" hangingPunct="0">
      <a:spcBef>
        <a:spcPct val="30000"/>
      </a:spcBef>
      <a:spcAft>
        <a:spcPct val="0"/>
      </a:spcAft>
      <a:defRPr sz="1089" kern="1200">
        <a:solidFill>
          <a:schemeClr val="tx1"/>
        </a:solidFill>
        <a:latin typeface="Calibri Light" panose="020F0302020204030204" pitchFamily="34" charset="0"/>
        <a:ea typeface="ＭＳ Ｐゴシック" pitchFamily="-106" charset="-128"/>
        <a:cs typeface="+mn-cs"/>
      </a:defRPr>
    </a:lvl2pPr>
    <a:lvl3pPr marL="829452" algn="l" rtl="0" eaLnBrk="0" fontAlgn="base" hangingPunct="0">
      <a:spcBef>
        <a:spcPct val="30000"/>
      </a:spcBef>
      <a:spcAft>
        <a:spcPct val="0"/>
      </a:spcAft>
      <a:defRPr sz="1089" kern="1200">
        <a:solidFill>
          <a:schemeClr val="tx1"/>
        </a:solidFill>
        <a:latin typeface="Calibri Light" panose="020F0302020204030204" pitchFamily="34" charset="0"/>
        <a:ea typeface="ＭＳ Ｐゴシック" pitchFamily="-106" charset="-128"/>
        <a:cs typeface="+mn-cs"/>
      </a:defRPr>
    </a:lvl3pPr>
    <a:lvl4pPr marL="1244178" algn="l" rtl="0" eaLnBrk="0" fontAlgn="base" hangingPunct="0">
      <a:spcBef>
        <a:spcPct val="30000"/>
      </a:spcBef>
      <a:spcAft>
        <a:spcPct val="0"/>
      </a:spcAft>
      <a:defRPr sz="1089" kern="1200">
        <a:solidFill>
          <a:schemeClr val="tx1"/>
        </a:solidFill>
        <a:latin typeface="Calibri Light" panose="020F0302020204030204" pitchFamily="34" charset="0"/>
        <a:ea typeface="ＭＳ Ｐゴシック" pitchFamily="-106" charset="-128"/>
        <a:cs typeface="+mn-cs"/>
      </a:defRPr>
    </a:lvl4pPr>
    <a:lvl5pPr marL="1658904" algn="l" rtl="0" eaLnBrk="0" fontAlgn="base" hangingPunct="0">
      <a:spcBef>
        <a:spcPct val="30000"/>
      </a:spcBef>
      <a:spcAft>
        <a:spcPct val="0"/>
      </a:spcAft>
      <a:defRPr sz="1089" kern="1200">
        <a:solidFill>
          <a:schemeClr val="tx1"/>
        </a:solidFill>
        <a:latin typeface="Calibri Light" panose="020F0302020204030204" pitchFamily="34" charset="0"/>
        <a:ea typeface="ＭＳ Ｐゴシック" pitchFamily="-106" charset="-128"/>
        <a:cs typeface="+mn-cs"/>
      </a:defRPr>
    </a:lvl5pPr>
    <a:lvl6pPr marL="2073631" algn="l" defTabSz="829452" rtl="0" eaLnBrk="1" latinLnBrk="0" hangingPunct="1">
      <a:defRPr sz="1089" kern="1200">
        <a:solidFill>
          <a:schemeClr val="tx1"/>
        </a:solidFill>
        <a:latin typeface="+mn-lt"/>
        <a:ea typeface="+mn-ea"/>
        <a:cs typeface="+mn-cs"/>
      </a:defRPr>
    </a:lvl6pPr>
    <a:lvl7pPr marL="2488357" algn="l" defTabSz="829452" rtl="0" eaLnBrk="1" latinLnBrk="0" hangingPunct="1">
      <a:defRPr sz="1089" kern="1200">
        <a:solidFill>
          <a:schemeClr val="tx1"/>
        </a:solidFill>
        <a:latin typeface="+mn-lt"/>
        <a:ea typeface="+mn-ea"/>
        <a:cs typeface="+mn-cs"/>
      </a:defRPr>
    </a:lvl7pPr>
    <a:lvl8pPr marL="2903083" algn="l" defTabSz="829452" rtl="0" eaLnBrk="1" latinLnBrk="0" hangingPunct="1">
      <a:defRPr sz="1089" kern="1200">
        <a:solidFill>
          <a:schemeClr val="tx1"/>
        </a:solidFill>
        <a:latin typeface="+mn-lt"/>
        <a:ea typeface="+mn-ea"/>
        <a:cs typeface="+mn-cs"/>
      </a:defRPr>
    </a:lvl8pPr>
    <a:lvl9pPr marL="3317809" algn="l" defTabSz="829452" rtl="0" eaLnBrk="1" latinLnBrk="0" hangingPunct="1">
      <a:defRPr sz="108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6838" y="742950"/>
            <a:ext cx="6600825" cy="371475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a:defRPr/>
            </a:pPr>
            <a:fld id="{C5BDCC07-116E-44A3-8F3A-12365A52EE2D}" type="slidenum">
              <a:rPr lang="de-DE" smtClean="0"/>
              <a:pPr>
                <a:defRPr/>
              </a:pPr>
              <a:t>1</a:t>
            </a:fld>
            <a:endParaRPr lang="de-DE" dirty="0"/>
          </a:p>
        </p:txBody>
      </p:sp>
    </p:spTree>
    <p:extLst>
      <p:ext uri="{BB962C8B-B14F-4D97-AF65-F5344CB8AC3E}">
        <p14:creationId xmlns:p14="http://schemas.microsoft.com/office/powerpoint/2010/main" val="2792097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0EF06-3B7F-0D92-2FF8-562DE55509E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5BA620C-0801-821F-3A20-6F586EC6C90B}"/>
              </a:ext>
            </a:extLst>
          </p:cNvPr>
          <p:cNvSpPr>
            <a:spLocks noGrp="1" noRot="1" noChangeAspect="1"/>
          </p:cNvSpPr>
          <p:nvPr>
            <p:ph type="sldImg"/>
          </p:nvPr>
        </p:nvSpPr>
        <p:spPr>
          <a:xfrm>
            <a:off x="68263" y="735013"/>
            <a:ext cx="6534150" cy="3676650"/>
          </a:xfrm>
        </p:spPr>
      </p:sp>
      <p:sp>
        <p:nvSpPr>
          <p:cNvPr id="3" name="Notizenplatzhalter 2">
            <a:extLst>
              <a:ext uri="{FF2B5EF4-FFF2-40B4-BE49-F238E27FC236}">
                <a16:creationId xmlns:a16="http://schemas.microsoft.com/office/drawing/2014/main" id="{977E34D3-EF7B-BC67-4328-22A1DCDCCB0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7407BD3F-ED16-C224-2008-7BDB5C1FB3BB}"/>
              </a:ext>
            </a:extLst>
          </p:cNvPr>
          <p:cNvSpPr>
            <a:spLocks noGrp="1"/>
          </p:cNvSpPr>
          <p:nvPr>
            <p:ph type="sldNum" sz="quarter" idx="5"/>
          </p:nvPr>
        </p:nvSpPr>
        <p:spPr/>
        <p:txBody>
          <a:bodyPr/>
          <a:lstStyle/>
          <a:p>
            <a:pPr>
              <a:defRPr/>
            </a:pPr>
            <a:fld id="{C5BDCC07-116E-44A3-8F3A-12365A52EE2D}" type="slidenum">
              <a:rPr lang="en-GB" smtClean="0"/>
              <a:pPr>
                <a:defRPr/>
              </a:pPr>
              <a:t>6</a:t>
            </a:fld>
            <a:endParaRPr lang="en-GB"/>
          </a:p>
        </p:txBody>
      </p:sp>
    </p:spTree>
    <p:extLst>
      <p:ext uri="{BB962C8B-B14F-4D97-AF65-F5344CB8AC3E}">
        <p14:creationId xmlns:p14="http://schemas.microsoft.com/office/powerpoint/2010/main" val="771638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800E9-E7DC-7F8A-91D4-EF4A175E232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2F4A039-179E-F4F9-A418-74D045649908}"/>
              </a:ext>
            </a:extLst>
          </p:cNvPr>
          <p:cNvSpPr>
            <a:spLocks noGrp="1" noRot="1" noChangeAspect="1"/>
          </p:cNvSpPr>
          <p:nvPr>
            <p:ph type="sldImg"/>
          </p:nvPr>
        </p:nvSpPr>
        <p:spPr>
          <a:xfrm>
            <a:off x="68263" y="735013"/>
            <a:ext cx="6534150" cy="3676650"/>
          </a:xfrm>
        </p:spPr>
      </p:sp>
      <p:sp>
        <p:nvSpPr>
          <p:cNvPr id="3" name="Notizenplatzhalter 2">
            <a:extLst>
              <a:ext uri="{FF2B5EF4-FFF2-40B4-BE49-F238E27FC236}">
                <a16:creationId xmlns:a16="http://schemas.microsoft.com/office/drawing/2014/main" id="{39EC0FFF-A2B4-A9AF-C435-ECE03BB02BA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6CA5EF69-A8EF-7C07-DC8E-6A1A422C735E}"/>
              </a:ext>
            </a:extLst>
          </p:cNvPr>
          <p:cNvSpPr>
            <a:spLocks noGrp="1"/>
          </p:cNvSpPr>
          <p:nvPr>
            <p:ph type="sldNum" sz="quarter" idx="5"/>
          </p:nvPr>
        </p:nvSpPr>
        <p:spPr/>
        <p:txBody>
          <a:bodyPr/>
          <a:lstStyle/>
          <a:p>
            <a:pPr>
              <a:defRPr/>
            </a:pPr>
            <a:fld id="{C5BDCC07-116E-44A3-8F3A-12365A52EE2D}" type="slidenum">
              <a:rPr lang="en-GB" smtClean="0"/>
              <a:pPr>
                <a:defRPr/>
              </a:pPr>
              <a:t>7</a:t>
            </a:fld>
            <a:endParaRPr lang="en-GB"/>
          </a:p>
        </p:txBody>
      </p:sp>
    </p:spTree>
    <p:extLst>
      <p:ext uri="{BB962C8B-B14F-4D97-AF65-F5344CB8AC3E}">
        <p14:creationId xmlns:p14="http://schemas.microsoft.com/office/powerpoint/2010/main" val="1387300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6E8B0-51C3-64F4-8D58-E61767415B8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70F3730-3E3B-10DC-A84E-3CFE4ACE0968}"/>
              </a:ext>
            </a:extLst>
          </p:cNvPr>
          <p:cNvSpPr>
            <a:spLocks noGrp="1" noRot="1" noChangeAspect="1"/>
          </p:cNvSpPr>
          <p:nvPr>
            <p:ph type="sldImg"/>
          </p:nvPr>
        </p:nvSpPr>
        <p:spPr>
          <a:xfrm>
            <a:off x="68263" y="735013"/>
            <a:ext cx="6534150" cy="3676650"/>
          </a:xfrm>
        </p:spPr>
      </p:sp>
      <p:sp>
        <p:nvSpPr>
          <p:cNvPr id="3" name="Notizenplatzhalter 2">
            <a:extLst>
              <a:ext uri="{FF2B5EF4-FFF2-40B4-BE49-F238E27FC236}">
                <a16:creationId xmlns:a16="http://schemas.microsoft.com/office/drawing/2014/main" id="{B3EA1461-9735-1123-4570-B0B5D95B59FB}"/>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702BA3C3-6236-341F-E100-CC54DFE333FC}"/>
              </a:ext>
            </a:extLst>
          </p:cNvPr>
          <p:cNvSpPr>
            <a:spLocks noGrp="1"/>
          </p:cNvSpPr>
          <p:nvPr>
            <p:ph type="sldNum" sz="quarter" idx="5"/>
          </p:nvPr>
        </p:nvSpPr>
        <p:spPr/>
        <p:txBody>
          <a:bodyPr/>
          <a:lstStyle/>
          <a:p>
            <a:pPr>
              <a:defRPr/>
            </a:pPr>
            <a:fld id="{C5BDCC07-116E-44A3-8F3A-12365A52EE2D}" type="slidenum">
              <a:rPr lang="en-GB" smtClean="0"/>
              <a:pPr>
                <a:defRPr/>
              </a:pPr>
              <a:t>8</a:t>
            </a:fld>
            <a:endParaRPr lang="en-GB"/>
          </a:p>
        </p:txBody>
      </p:sp>
    </p:spTree>
    <p:extLst>
      <p:ext uri="{BB962C8B-B14F-4D97-AF65-F5344CB8AC3E}">
        <p14:creationId xmlns:p14="http://schemas.microsoft.com/office/powerpoint/2010/main" val="3884388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B47A4-927D-A8C3-4FC4-27719720484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1E8BB2C-6A84-84E2-4493-65DBAD7992FD}"/>
              </a:ext>
            </a:extLst>
          </p:cNvPr>
          <p:cNvSpPr>
            <a:spLocks noGrp="1" noRot="1" noChangeAspect="1"/>
          </p:cNvSpPr>
          <p:nvPr>
            <p:ph type="sldImg"/>
          </p:nvPr>
        </p:nvSpPr>
        <p:spPr>
          <a:xfrm>
            <a:off x="68263" y="735013"/>
            <a:ext cx="6534150" cy="3676650"/>
          </a:xfrm>
        </p:spPr>
      </p:sp>
      <p:sp>
        <p:nvSpPr>
          <p:cNvPr id="3" name="Notizenplatzhalter 2">
            <a:extLst>
              <a:ext uri="{FF2B5EF4-FFF2-40B4-BE49-F238E27FC236}">
                <a16:creationId xmlns:a16="http://schemas.microsoft.com/office/drawing/2014/main" id="{AC4B54C1-127C-545E-96A8-B24AF12EF800}"/>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12730095-889A-48CE-0966-8EA6FDABD32A}"/>
              </a:ext>
            </a:extLst>
          </p:cNvPr>
          <p:cNvSpPr>
            <a:spLocks noGrp="1"/>
          </p:cNvSpPr>
          <p:nvPr>
            <p:ph type="sldNum" sz="quarter" idx="5"/>
          </p:nvPr>
        </p:nvSpPr>
        <p:spPr/>
        <p:txBody>
          <a:bodyPr/>
          <a:lstStyle/>
          <a:p>
            <a:pPr>
              <a:defRPr/>
            </a:pPr>
            <a:fld id="{C5BDCC07-116E-44A3-8F3A-12365A52EE2D}" type="slidenum">
              <a:rPr lang="en-GB" smtClean="0"/>
              <a:pPr>
                <a:defRPr/>
              </a:pPr>
              <a:t>9</a:t>
            </a:fld>
            <a:endParaRPr lang="en-GB"/>
          </a:p>
        </p:txBody>
      </p:sp>
    </p:spTree>
    <p:extLst>
      <p:ext uri="{BB962C8B-B14F-4D97-AF65-F5344CB8AC3E}">
        <p14:creationId xmlns:p14="http://schemas.microsoft.com/office/powerpoint/2010/main" val="1162957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6A4D5-CA7A-F578-EC78-1BF55F74861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3507DA0-FDB7-53B2-ED36-948D5BDBA78B}"/>
              </a:ext>
            </a:extLst>
          </p:cNvPr>
          <p:cNvSpPr>
            <a:spLocks noGrp="1" noRot="1" noChangeAspect="1"/>
          </p:cNvSpPr>
          <p:nvPr>
            <p:ph type="sldImg"/>
          </p:nvPr>
        </p:nvSpPr>
        <p:spPr>
          <a:xfrm>
            <a:off x="68263" y="735013"/>
            <a:ext cx="6534150" cy="3676650"/>
          </a:xfrm>
        </p:spPr>
      </p:sp>
      <p:sp>
        <p:nvSpPr>
          <p:cNvPr id="3" name="Notizenplatzhalter 2">
            <a:extLst>
              <a:ext uri="{FF2B5EF4-FFF2-40B4-BE49-F238E27FC236}">
                <a16:creationId xmlns:a16="http://schemas.microsoft.com/office/drawing/2014/main" id="{2609F6DD-2727-BEAE-04AC-C1605A35AE83}"/>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60A90154-D53E-2F4B-3A78-8A1D142ACC6A}"/>
              </a:ext>
            </a:extLst>
          </p:cNvPr>
          <p:cNvSpPr>
            <a:spLocks noGrp="1"/>
          </p:cNvSpPr>
          <p:nvPr>
            <p:ph type="sldNum" sz="quarter" idx="5"/>
          </p:nvPr>
        </p:nvSpPr>
        <p:spPr/>
        <p:txBody>
          <a:bodyPr/>
          <a:lstStyle/>
          <a:p>
            <a:pPr>
              <a:defRPr/>
            </a:pPr>
            <a:fld id="{C5BDCC07-116E-44A3-8F3A-12365A52EE2D}" type="slidenum">
              <a:rPr lang="en-GB" smtClean="0"/>
              <a:pPr>
                <a:defRPr/>
              </a:pPr>
              <a:t>10</a:t>
            </a:fld>
            <a:endParaRPr lang="en-GB"/>
          </a:p>
        </p:txBody>
      </p:sp>
    </p:spTree>
    <p:extLst>
      <p:ext uri="{BB962C8B-B14F-4D97-AF65-F5344CB8AC3E}">
        <p14:creationId xmlns:p14="http://schemas.microsoft.com/office/powerpoint/2010/main" val="450131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556A-90CD-9371-A4B2-9FE5863F805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1296E20-6A3B-57F8-591C-7FDA24306583}"/>
              </a:ext>
            </a:extLst>
          </p:cNvPr>
          <p:cNvSpPr>
            <a:spLocks noGrp="1" noRot="1" noChangeAspect="1"/>
          </p:cNvSpPr>
          <p:nvPr>
            <p:ph type="sldImg"/>
          </p:nvPr>
        </p:nvSpPr>
        <p:spPr>
          <a:xfrm>
            <a:off x="68263" y="735013"/>
            <a:ext cx="6534150" cy="3676650"/>
          </a:xfrm>
        </p:spPr>
      </p:sp>
      <p:sp>
        <p:nvSpPr>
          <p:cNvPr id="3" name="Notizenplatzhalter 2">
            <a:extLst>
              <a:ext uri="{FF2B5EF4-FFF2-40B4-BE49-F238E27FC236}">
                <a16:creationId xmlns:a16="http://schemas.microsoft.com/office/drawing/2014/main" id="{A10E22AC-B392-5966-D422-96BFB81895F1}"/>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B4D04AB3-8958-CBFF-03ED-D975B2D2D555}"/>
              </a:ext>
            </a:extLst>
          </p:cNvPr>
          <p:cNvSpPr>
            <a:spLocks noGrp="1"/>
          </p:cNvSpPr>
          <p:nvPr>
            <p:ph type="sldNum" sz="quarter" idx="5"/>
          </p:nvPr>
        </p:nvSpPr>
        <p:spPr/>
        <p:txBody>
          <a:bodyPr/>
          <a:lstStyle/>
          <a:p>
            <a:pPr>
              <a:defRPr/>
            </a:pPr>
            <a:fld id="{C5BDCC07-116E-44A3-8F3A-12365A52EE2D}" type="slidenum">
              <a:rPr lang="en-GB" smtClean="0"/>
              <a:pPr>
                <a:defRPr/>
              </a:pPr>
              <a:t>11</a:t>
            </a:fld>
            <a:endParaRPr lang="en-GB"/>
          </a:p>
        </p:txBody>
      </p:sp>
    </p:spTree>
    <p:extLst>
      <p:ext uri="{BB962C8B-B14F-4D97-AF65-F5344CB8AC3E}">
        <p14:creationId xmlns:p14="http://schemas.microsoft.com/office/powerpoint/2010/main" val="1444781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EU Titel Background 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1726026"/>
      </p:ext>
    </p:extLst>
  </p:cSld>
  <p:clrMapOvr>
    <a:masterClrMapping/>
  </p:clrMapOvr>
  <p:extLst>
    <p:ext uri="{DCECCB84-F9BA-43D5-87BE-67443E8EF086}">
      <p15:sldGuideLst xmlns:p15="http://schemas.microsoft.com/office/powerpoint/2012/main">
        <p15:guide id="1" orient="horz" pos="92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EU">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2D946E97-DB90-6342-9B81-67ACFD07EEA2}"/>
              </a:ext>
            </a:extLst>
          </p:cNvPr>
          <p:cNvSpPr>
            <a:spLocks noGrp="1"/>
          </p:cNvSpPr>
          <p:nvPr>
            <p:ph type="sldNum" sz="quarter" idx="20"/>
          </p:nvPr>
        </p:nvSpPr>
        <p:spPr>
          <a:xfrm>
            <a:off x="11229075" y="6498000"/>
            <a:ext cx="479875" cy="360000"/>
          </a:xfrm>
          <a:prstGeom prst="rect">
            <a:avLst/>
          </a:prstGeom>
        </p:spPr>
        <p:txBody>
          <a:bodyPr lIns="0" tIns="0" rIns="0" bIns="0" anchor="t" anchorCtr="0"/>
          <a:lstStyle>
            <a:lvl1pPr algn="r">
              <a:defRPr sz="800" b="1">
                <a:latin typeface="+mn-lt"/>
                <a:ea typeface="Deutsche Bank Text" panose="020B0503020202030204" pitchFamily="34" charset="0"/>
                <a:cs typeface="Arial" panose="020B0604020202020204" pitchFamily="34" charset="0"/>
              </a:defRPr>
            </a:lvl1pPr>
          </a:lstStyle>
          <a:p>
            <a:pPr>
              <a:defRPr/>
            </a:pPr>
            <a:fld id="{2F3E20D8-87FE-CB44-8098-7B77BDE06CF2}" type="slidenum">
              <a:rPr lang="en-US" smtClean="0"/>
              <a:pPr>
                <a:defRPr/>
              </a:pPr>
              <a:t>‹Nr.›</a:t>
            </a:fld>
            <a:endParaRPr lang="en-US"/>
          </a:p>
        </p:txBody>
      </p:sp>
      <p:sp>
        <p:nvSpPr>
          <p:cNvPr id="4" name="Rechteck 3">
            <a:extLst>
              <a:ext uri="{FF2B5EF4-FFF2-40B4-BE49-F238E27FC236}">
                <a16:creationId xmlns:a16="http://schemas.microsoft.com/office/drawing/2014/main" id="{B491C907-FCAE-1545-9F86-0E1819C907DA}"/>
              </a:ext>
            </a:extLst>
          </p:cNvPr>
          <p:cNvSpPr/>
          <p:nvPr userDrawn="1"/>
        </p:nvSpPr>
        <p:spPr>
          <a:xfrm>
            <a:off x="479875" y="6498000"/>
            <a:ext cx="3839000" cy="360000"/>
          </a:xfrm>
          <a:prstGeom prst="rect">
            <a:avLst/>
          </a:prstGeom>
        </p:spPr>
        <p:txBody>
          <a:bodyPr wrap="square" lIns="0" tIns="0" rIns="0" bIns="0">
            <a:noAutofit/>
          </a:bodyPr>
          <a:lstStyle/>
          <a:p>
            <a:pPr marL="0" indent="0">
              <a:lnSpc>
                <a:spcPts val="998"/>
              </a:lnSpc>
              <a:defRPr/>
            </a:pPr>
            <a:r>
              <a:rPr lang="en-US" sz="800" b="1" dirty="0">
                <a:solidFill>
                  <a:srgbClr val="0018A8"/>
                </a:solidFill>
                <a:latin typeface="+mn-lt"/>
                <a:ea typeface="Deutsche Bank Text" panose="020B0503020202030204" pitchFamily="34" charset="0"/>
                <a:cs typeface="Arial" panose="020B0604020202020204" pitchFamily="34" charset="0"/>
              </a:rPr>
              <a:t>Deutsche Bank AG     </a:t>
            </a:r>
            <a:r>
              <a:rPr lang="en-US" sz="800" b="1" dirty="0" err="1">
                <a:solidFill>
                  <a:srgbClr val="0018A8"/>
                </a:solidFill>
                <a:latin typeface="+mn-lt"/>
                <a:ea typeface="Deutsche Bank Text" panose="020B0503020202030204" pitchFamily="34" charset="0"/>
                <a:cs typeface="Arial" panose="020B0604020202020204" pitchFamily="34" charset="0"/>
              </a:rPr>
              <a:t>Zukunftskonto</a:t>
            </a:r>
            <a:endParaRPr lang="en-US" sz="800" b="1" dirty="0">
              <a:solidFill>
                <a:srgbClr val="0018A8"/>
              </a:solidFill>
              <a:latin typeface="+mn-lt"/>
              <a:ea typeface="Deutsche Bank Text" panose="020B0503020202030204" pitchFamily="34" charset="0"/>
              <a:cs typeface="Arial" panose="020B0604020202020204" pitchFamily="34" charset="0"/>
            </a:endParaRPr>
          </a:p>
          <a:p>
            <a:pPr marL="0" indent="0">
              <a:lnSpc>
                <a:spcPts val="998"/>
              </a:lnSpc>
              <a:defRPr/>
            </a:pPr>
            <a:endParaRPr lang="en-US" sz="800" b="1" kern="1200" dirty="0">
              <a:solidFill>
                <a:srgbClr val="00A3E0"/>
              </a:solidFill>
              <a:latin typeface="Arial" charset="0"/>
              <a:ea typeface="Deutsche Bank Text" panose="020B0503020202030204" pitchFamily="34" charset="0"/>
              <a:cs typeface="Arial" panose="020B0604020202020204" pitchFamily="34" charset="0"/>
            </a:endParaRPr>
          </a:p>
        </p:txBody>
      </p:sp>
      <p:pic>
        <p:nvPicPr>
          <p:cNvPr id="5" name="Grafik 4">
            <a:extLst>
              <a:ext uri="{FF2B5EF4-FFF2-40B4-BE49-F238E27FC236}">
                <a16:creationId xmlns:a16="http://schemas.microsoft.com/office/drawing/2014/main" id="{57F84FD4-A53A-0D4E-B089-EB29F87AF2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89137" y="360000"/>
            <a:ext cx="719813" cy="540000"/>
          </a:xfrm>
          <a:prstGeom prst="rect">
            <a:avLst/>
          </a:prstGeom>
        </p:spPr>
      </p:pic>
    </p:spTree>
    <p:extLst>
      <p:ext uri="{BB962C8B-B14F-4D97-AF65-F5344CB8AC3E}">
        <p14:creationId xmlns:p14="http://schemas.microsoft.com/office/powerpoint/2010/main" val="1215164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EU Nur Seitenzahl">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2D946E97-DB90-6342-9B81-67ACFD07EEA2}"/>
              </a:ext>
            </a:extLst>
          </p:cNvPr>
          <p:cNvSpPr>
            <a:spLocks noGrp="1"/>
          </p:cNvSpPr>
          <p:nvPr>
            <p:ph type="sldNum" sz="quarter" idx="20"/>
          </p:nvPr>
        </p:nvSpPr>
        <p:spPr>
          <a:xfrm>
            <a:off x="11229075" y="6498000"/>
            <a:ext cx="479875" cy="360000"/>
          </a:xfrm>
          <a:prstGeom prst="rect">
            <a:avLst/>
          </a:prstGeom>
        </p:spPr>
        <p:txBody>
          <a:bodyPr lIns="0" tIns="0" rIns="0" bIns="0" anchor="t" anchorCtr="0"/>
          <a:lstStyle>
            <a:lvl1pPr algn="r">
              <a:defRPr sz="800" b="1">
                <a:latin typeface="+mn-lt"/>
                <a:ea typeface="Deutsche Bank Text" panose="020B0503020202030204" pitchFamily="34" charset="0"/>
                <a:cs typeface="Arial" panose="020B0604020202020204" pitchFamily="34" charset="0"/>
              </a:defRPr>
            </a:lvl1pPr>
          </a:lstStyle>
          <a:p>
            <a:pPr>
              <a:defRPr/>
            </a:pPr>
            <a:fld id="{2F3E20D8-87FE-CB44-8098-7B77BDE06CF2}" type="slidenum">
              <a:rPr lang="en-US" smtClean="0"/>
              <a:pPr>
                <a:defRPr/>
              </a:pPr>
              <a:t>‹Nr.›</a:t>
            </a:fld>
            <a:endParaRPr lang="en-US"/>
          </a:p>
        </p:txBody>
      </p:sp>
    </p:spTree>
    <p:extLst>
      <p:ext uri="{BB962C8B-B14F-4D97-AF65-F5344CB8AC3E}">
        <p14:creationId xmlns:p14="http://schemas.microsoft.com/office/powerpoint/2010/main" val="2133080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Title Slide long headline +topline +subline">
    <p:spTree>
      <p:nvGrpSpPr>
        <p:cNvPr id="1" name=""/>
        <p:cNvGrpSpPr/>
        <p:nvPr/>
      </p:nvGrpSpPr>
      <p:grpSpPr>
        <a:xfrm>
          <a:off x="0" y="0"/>
          <a:ext cx="0" cy="0"/>
          <a:chOff x="0" y="0"/>
          <a:chExt cx="0" cy="0"/>
        </a:xfrm>
      </p:grpSpPr>
      <p:pic>
        <p:nvPicPr>
          <p:cNvPr id="9" name="Grafik 6">
            <a:extLst>
              <a:ext uri="{FF2B5EF4-FFF2-40B4-BE49-F238E27FC236}">
                <a16:creationId xmlns:a16="http://schemas.microsoft.com/office/drawing/2014/main" id="{DAA20C16-4934-4811-9149-95B36C2DC7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792" y="-11498"/>
            <a:ext cx="12249609" cy="6892924"/>
          </a:xfrm>
          <a:prstGeom prst="rect">
            <a:avLst/>
          </a:prstGeom>
        </p:spPr>
      </p:pic>
      <p:sp>
        <p:nvSpPr>
          <p:cNvPr id="31" name="Textplatzhalter 28">
            <a:extLst>
              <a:ext uri="{FF2B5EF4-FFF2-40B4-BE49-F238E27FC236}">
                <a16:creationId xmlns:a16="http://schemas.microsoft.com/office/drawing/2014/main" id="{DEF35365-DC64-40F5-8DD2-C0940989F322}"/>
              </a:ext>
            </a:extLst>
          </p:cNvPr>
          <p:cNvSpPr>
            <a:spLocks noGrp="1"/>
          </p:cNvSpPr>
          <p:nvPr>
            <p:ph type="body" sz="quarter" idx="12" hasCustomPrompt="1"/>
          </p:nvPr>
        </p:nvSpPr>
        <p:spPr>
          <a:xfrm>
            <a:off x="660307" y="4615003"/>
            <a:ext cx="3202371" cy="431815"/>
          </a:xfrm>
          <a:prstGeom prst="rect">
            <a:avLst/>
          </a:prstGeom>
        </p:spPr>
        <p:txBody>
          <a:bodyPr lIns="0" tIns="468000" rIns="0" bIns="0" anchor="b" anchorCtr="0">
            <a:noAutofit/>
          </a:bodyPr>
          <a:lstStyle>
            <a:lvl1pPr>
              <a:defRPr sz="1361">
                <a:solidFill>
                  <a:srgbClr val="FFC845"/>
                </a:solidFill>
              </a:defRPr>
            </a:lvl1pPr>
          </a:lstStyle>
          <a:p>
            <a:pPr lvl="0"/>
            <a:r>
              <a:rPr lang="en-GB" noProof="1"/>
              <a:t>#PositiveImpact</a:t>
            </a:r>
          </a:p>
        </p:txBody>
      </p:sp>
      <p:sp>
        <p:nvSpPr>
          <p:cNvPr id="29" name="Textplatzhalter 28">
            <a:extLst>
              <a:ext uri="{FF2B5EF4-FFF2-40B4-BE49-F238E27FC236}">
                <a16:creationId xmlns:a16="http://schemas.microsoft.com/office/drawing/2014/main" id="{32811098-3698-4FDF-AA92-9463B68235BE}"/>
              </a:ext>
            </a:extLst>
          </p:cNvPr>
          <p:cNvSpPr>
            <a:spLocks noGrp="1"/>
          </p:cNvSpPr>
          <p:nvPr>
            <p:ph type="body" sz="quarter" idx="11" hasCustomPrompt="1"/>
          </p:nvPr>
        </p:nvSpPr>
        <p:spPr>
          <a:xfrm>
            <a:off x="660307" y="2842388"/>
            <a:ext cx="10877808" cy="569207"/>
          </a:xfrm>
          <a:prstGeom prst="rect">
            <a:avLst/>
          </a:prstGeom>
        </p:spPr>
        <p:txBody>
          <a:bodyPr lIns="0" tIns="0" rIns="0" bIns="0" anchor="b" anchorCtr="0">
            <a:noAutofit/>
          </a:bodyPr>
          <a:lstStyle>
            <a:lvl1pPr>
              <a:defRPr sz="1633">
                <a:solidFill>
                  <a:schemeClr val="bg1"/>
                </a:solidFill>
              </a:defRPr>
            </a:lvl1pPr>
          </a:lstStyle>
          <a:p>
            <a:pPr lvl="0"/>
            <a:r>
              <a:rPr lang="en-GB" noProof="0"/>
              <a:t>Click to edit </a:t>
            </a:r>
            <a:r>
              <a:rPr lang="en-GB" noProof="0" err="1"/>
              <a:t>topline</a:t>
            </a:r>
            <a:endParaRPr lang="en-GB" noProof="0"/>
          </a:p>
        </p:txBody>
      </p:sp>
      <p:sp>
        <p:nvSpPr>
          <p:cNvPr id="4" name="Text Placeholder 3">
            <a:extLst>
              <a:ext uri="{FF2B5EF4-FFF2-40B4-BE49-F238E27FC236}">
                <a16:creationId xmlns:a16="http://schemas.microsoft.com/office/drawing/2014/main" id="{90BF98DE-A1FB-4777-A6D7-53EE7B7D4A83}"/>
              </a:ext>
            </a:extLst>
          </p:cNvPr>
          <p:cNvSpPr>
            <a:spLocks noGrp="1"/>
          </p:cNvSpPr>
          <p:nvPr>
            <p:ph type="body" sz="quarter" idx="13" hasCustomPrompt="1"/>
          </p:nvPr>
        </p:nvSpPr>
        <p:spPr>
          <a:xfrm>
            <a:off x="652631" y="5308751"/>
            <a:ext cx="10885485" cy="649509"/>
          </a:xfrm>
          <a:prstGeom prst="rect">
            <a:avLst/>
          </a:prstGeom>
        </p:spPr>
        <p:txBody>
          <a:bodyPr anchor="b" anchorCtr="0"/>
          <a:lstStyle>
            <a:lvl1pPr>
              <a:defRPr sz="1633">
                <a:solidFill>
                  <a:schemeClr val="bg1"/>
                </a:solidFill>
              </a:defRPr>
            </a:lvl1pPr>
          </a:lstStyle>
          <a:p>
            <a:pPr lvl="0"/>
            <a:r>
              <a:rPr lang="en-GB"/>
              <a:t>Click to add further information like speaker,</a:t>
            </a:r>
            <a:br>
              <a:rPr lang="en-GB"/>
            </a:br>
            <a:r>
              <a:rPr lang="en-GB"/>
              <a:t>date and location</a:t>
            </a:r>
          </a:p>
        </p:txBody>
      </p:sp>
      <p:sp>
        <p:nvSpPr>
          <p:cNvPr id="5" name="Textplatzhalter 4">
            <a:extLst>
              <a:ext uri="{FF2B5EF4-FFF2-40B4-BE49-F238E27FC236}">
                <a16:creationId xmlns:a16="http://schemas.microsoft.com/office/drawing/2014/main" id="{0398177C-F289-4DAD-8522-AE91DC3A48DD}"/>
              </a:ext>
            </a:extLst>
          </p:cNvPr>
          <p:cNvSpPr>
            <a:spLocks noGrp="1"/>
          </p:cNvSpPr>
          <p:nvPr>
            <p:ph type="body" sz="quarter" idx="10" hasCustomPrompt="1"/>
          </p:nvPr>
        </p:nvSpPr>
        <p:spPr>
          <a:xfrm>
            <a:off x="659642" y="3679051"/>
            <a:ext cx="10878474" cy="1076486"/>
          </a:xfrm>
          <a:prstGeom prst="rect">
            <a:avLst/>
          </a:prstGeom>
        </p:spPr>
        <p:txBody>
          <a:bodyPr lIns="0" tIns="0" rIns="0" bIns="0" anchor="b" anchorCtr="0">
            <a:noAutofit/>
          </a:bodyPr>
          <a:lstStyle>
            <a:lvl1pPr>
              <a:lnSpc>
                <a:spcPct val="80000"/>
              </a:lnSpc>
              <a:spcBef>
                <a:spcPts val="0"/>
              </a:spcBef>
              <a:spcAft>
                <a:spcPts val="0"/>
              </a:spcAft>
              <a:defRPr sz="4354">
                <a:solidFill>
                  <a:schemeClr val="bg1"/>
                </a:solidFill>
                <a:latin typeface="+mj-lt"/>
              </a:defRPr>
            </a:lvl1pPr>
          </a:lstStyle>
          <a:p>
            <a:pPr lvl="0"/>
            <a:r>
              <a:rPr lang="en-GB" noProof="0"/>
              <a:t>Click to edit longer Headline</a:t>
            </a:r>
            <a:br>
              <a:rPr lang="en-GB" noProof="0"/>
            </a:br>
            <a:r>
              <a:rPr lang="en-GB" noProof="0"/>
              <a:t>over two lines</a:t>
            </a:r>
          </a:p>
        </p:txBody>
      </p:sp>
      <p:sp>
        <p:nvSpPr>
          <p:cNvPr id="11" name="TextBox 19"/>
          <p:cNvSpPr txBox="1"/>
          <p:nvPr userDrawn="1"/>
        </p:nvSpPr>
        <p:spPr bwMode="auto">
          <a:xfrm>
            <a:off x="647002" y="444537"/>
            <a:ext cx="5441783" cy="406102"/>
          </a:xfrm>
          <a:prstGeom prst="rect">
            <a:avLst/>
          </a:prstGeom>
          <a:noFill/>
        </p:spPr>
        <p:txBody>
          <a:bodyPr wrap="none" lIns="0" tIns="0" rIns="0" bIns="0">
            <a:noAutofit/>
          </a:bodyPr>
          <a:lstStyle/>
          <a:p>
            <a:pPr>
              <a:lnSpc>
                <a:spcPts val="1089"/>
              </a:lnSpc>
              <a:defRPr/>
            </a:pPr>
            <a:r>
              <a:rPr lang="en-US" sz="1089">
                <a:solidFill>
                  <a:schemeClr val="bg1"/>
                </a:solidFill>
                <a:latin typeface="+mn-lt"/>
                <a:ea typeface="Deutsche Bank Text" panose="020B0503020202030204" pitchFamily="34" charset="0"/>
                <a:cs typeface="Arial" panose="020B0604020202020204" pitchFamily="34" charset="0"/>
              </a:rPr>
              <a:t>Deutsche Bank AG</a:t>
            </a:r>
          </a:p>
          <a:p>
            <a:pPr>
              <a:lnSpc>
                <a:spcPts val="1089"/>
              </a:lnSpc>
              <a:defRPr/>
            </a:pPr>
            <a:r>
              <a:rPr lang="en-US" sz="1089">
                <a:solidFill>
                  <a:schemeClr val="accent1"/>
                </a:solidFill>
                <a:latin typeface="+mn-lt"/>
                <a:ea typeface="Deutsche Bank Text" panose="020B0503020202030204" pitchFamily="34" charset="0"/>
                <a:cs typeface="Arial" panose="020B0604020202020204" pitchFamily="34" charset="0"/>
              </a:rPr>
              <a:t>Identifier</a:t>
            </a:r>
          </a:p>
        </p:txBody>
      </p:sp>
      <p:sp>
        <p:nvSpPr>
          <p:cNvPr id="10" name="Freeform 4">
            <a:extLst>
              <a:ext uri="{FF2B5EF4-FFF2-40B4-BE49-F238E27FC236}">
                <a16:creationId xmlns:a16="http://schemas.microsoft.com/office/drawing/2014/main" id="{1F0A69C3-7054-584D-B5B6-CB072A926E0C}"/>
              </a:ext>
            </a:extLst>
          </p:cNvPr>
          <p:cNvSpPr>
            <a:spLocks noChangeAspect="1" noEditPoints="1"/>
          </p:cNvSpPr>
          <p:nvPr userDrawn="1"/>
        </p:nvSpPr>
        <p:spPr bwMode="black">
          <a:xfrm>
            <a:off x="11030236" y="360001"/>
            <a:ext cx="719706" cy="538055"/>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US" sz="1994"/>
          </a:p>
        </p:txBody>
      </p:sp>
    </p:spTree>
    <p:extLst>
      <p:ext uri="{BB962C8B-B14F-4D97-AF65-F5344CB8AC3E}">
        <p14:creationId xmlns:p14="http://schemas.microsoft.com/office/powerpoint/2010/main" val="4005921159"/>
      </p:ext>
    </p:extLst>
  </p:cSld>
  <p:clrMapOvr>
    <a:masterClrMapping/>
  </p:clrMapOvr>
  <p:extLst>
    <p:ext uri="{DCECCB84-F9BA-43D5-87BE-67443E8EF086}">
      <p15:sldGuideLst xmlns:p15="http://schemas.microsoft.com/office/powerpoint/2012/main">
        <p15:guide id="1" orient="horz" pos="117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Title slide +note box">
    <p:bg>
      <p:bgRef idx="1001">
        <a:schemeClr val="bg1"/>
      </p:bgRef>
    </p:bg>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2D579D6B-B28D-4C43-A0E4-0DA4E46CBA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792" y="521"/>
            <a:ext cx="12249609" cy="6892924"/>
          </a:xfrm>
          <a:prstGeom prst="rect">
            <a:avLst/>
          </a:prstGeom>
        </p:spPr>
      </p:pic>
      <p:sp>
        <p:nvSpPr>
          <p:cNvPr id="31" name="Textplatzhalter 28">
            <a:extLst>
              <a:ext uri="{FF2B5EF4-FFF2-40B4-BE49-F238E27FC236}">
                <a16:creationId xmlns:a16="http://schemas.microsoft.com/office/drawing/2014/main" id="{DEF35365-DC64-40F5-8DD2-C0940989F322}"/>
              </a:ext>
            </a:extLst>
          </p:cNvPr>
          <p:cNvSpPr>
            <a:spLocks noGrp="1"/>
          </p:cNvSpPr>
          <p:nvPr>
            <p:ph type="body" sz="quarter" idx="12" hasCustomPrompt="1"/>
          </p:nvPr>
        </p:nvSpPr>
        <p:spPr>
          <a:xfrm>
            <a:off x="1505480" y="4433752"/>
            <a:ext cx="3202371" cy="466659"/>
          </a:xfrm>
          <a:prstGeom prst="rect">
            <a:avLst/>
          </a:prstGeom>
        </p:spPr>
        <p:txBody>
          <a:bodyPr lIns="0" tIns="468000" rIns="0" bIns="0" anchor="b" anchorCtr="0">
            <a:noAutofit/>
          </a:bodyPr>
          <a:lstStyle>
            <a:lvl1pPr>
              <a:defRPr sz="1361">
                <a:solidFill>
                  <a:srgbClr val="CEDC00"/>
                </a:solidFill>
              </a:defRPr>
            </a:lvl1pPr>
          </a:lstStyle>
          <a:p>
            <a:pPr lvl="0"/>
            <a:r>
              <a:rPr lang="en-GB" noProof="1"/>
              <a:t>#PositiveImpact</a:t>
            </a:r>
          </a:p>
        </p:txBody>
      </p:sp>
      <p:sp>
        <p:nvSpPr>
          <p:cNvPr id="5" name="Textplatzhalter 4">
            <a:extLst>
              <a:ext uri="{FF2B5EF4-FFF2-40B4-BE49-F238E27FC236}">
                <a16:creationId xmlns:a16="http://schemas.microsoft.com/office/drawing/2014/main" id="{0398177C-F289-4DAD-8522-AE91DC3A48DD}"/>
              </a:ext>
            </a:extLst>
          </p:cNvPr>
          <p:cNvSpPr>
            <a:spLocks noGrp="1"/>
          </p:cNvSpPr>
          <p:nvPr>
            <p:ph type="body" sz="quarter" idx="10" hasCustomPrompt="1"/>
          </p:nvPr>
        </p:nvSpPr>
        <p:spPr>
          <a:xfrm>
            <a:off x="1504814" y="3343430"/>
            <a:ext cx="10031176" cy="1211582"/>
          </a:xfrm>
          <a:prstGeom prst="rect">
            <a:avLst/>
          </a:prstGeom>
        </p:spPr>
        <p:txBody>
          <a:bodyPr lIns="0" tIns="0" rIns="0" bIns="0" anchor="b" anchorCtr="0">
            <a:noAutofit/>
          </a:bodyPr>
          <a:lstStyle>
            <a:lvl1pPr>
              <a:lnSpc>
                <a:spcPct val="80000"/>
              </a:lnSpc>
              <a:spcBef>
                <a:spcPts val="0"/>
              </a:spcBef>
              <a:spcAft>
                <a:spcPts val="0"/>
              </a:spcAft>
              <a:defRPr sz="4354">
                <a:solidFill>
                  <a:schemeClr val="bg1"/>
                </a:solidFill>
                <a:latin typeface="+mj-lt"/>
              </a:defRPr>
            </a:lvl1pPr>
          </a:lstStyle>
          <a:p>
            <a:pPr lvl="0"/>
            <a:r>
              <a:rPr lang="en-GB" noProof="0"/>
              <a:t>Click to edit Headline</a:t>
            </a:r>
          </a:p>
        </p:txBody>
      </p:sp>
      <p:sp>
        <p:nvSpPr>
          <p:cNvPr id="10" name="TextBox 19"/>
          <p:cNvSpPr txBox="1"/>
          <p:nvPr userDrawn="1"/>
        </p:nvSpPr>
        <p:spPr bwMode="auto">
          <a:xfrm>
            <a:off x="647002" y="444537"/>
            <a:ext cx="5441783" cy="406102"/>
          </a:xfrm>
          <a:prstGeom prst="rect">
            <a:avLst/>
          </a:prstGeom>
          <a:noFill/>
        </p:spPr>
        <p:txBody>
          <a:bodyPr wrap="none" lIns="0" tIns="0" rIns="0" bIns="0">
            <a:noAutofit/>
          </a:bodyPr>
          <a:lstStyle/>
          <a:p>
            <a:pPr>
              <a:lnSpc>
                <a:spcPts val="1089"/>
              </a:lnSpc>
              <a:defRPr/>
            </a:pPr>
            <a:r>
              <a:rPr lang="en-US" sz="1089">
                <a:solidFill>
                  <a:schemeClr val="bg1"/>
                </a:solidFill>
                <a:latin typeface="+mn-lt"/>
                <a:ea typeface="Deutsche Bank Text" panose="020B0503020202030204" pitchFamily="34" charset="0"/>
                <a:cs typeface="Arial" panose="020B0604020202020204" pitchFamily="34" charset="0"/>
              </a:rPr>
              <a:t>Deutsche Bank AG</a:t>
            </a:r>
          </a:p>
          <a:p>
            <a:pPr>
              <a:lnSpc>
                <a:spcPts val="1089"/>
              </a:lnSpc>
              <a:defRPr/>
            </a:pPr>
            <a:r>
              <a:rPr lang="en-US" sz="1089">
                <a:solidFill>
                  <a:schemeClr val="accent1"/>
                </a:solidFill>
                <a:latin typeface="+mn-lt"/>
                <a:ea typeface="Deutsche Bank Text" panose="020B0503020202030204" pitchFamily="34" charset="0"/>
                <a:cs typeface="Arial" panose="020B0604020202020204" pitchFamily="34" charset="0"/>
              </a:rPr>
              <a:t>Identifier</a:t>
            </a:r>
          </a:p>
        </p:txBody>
      </p:sp>
      <p:sp>
        <p:nvSpPr>
          <p:cNvPr id="8" name="Freeform 4">
            <a:extLst>
              <a:ext uri="{FF2B5EF4-FFF2-40B4-BE49-F238E27FC236}">
                <a16:creationId xmlns:a16="http://schemas.microsoft.com/office/drawing/2014/main" id="{A12A3427-3CB8-8441-8DBF-C007E6FC9C44}"/>
              </a:ext>
            </a:extLst>
          </p:cNvPr>
          <p:cNvSpPr>
            <a:spLocks noChangeAspect="1" noEditPoints="1"/>
          </p:cNvSpPr>
          <p:nvPr userDrawn="1"/>
        </p:nvSpPr>
        <p:spPr bwMode="black">
          <a:xfrm>
            <a:off x="11030236" y="360001"/>
            <a:ext cx="719706" cy="538055"/>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US" sz="1994"/>
          </a:p>
        </p:txBody>
      </p:sp>
    </p:spTree>
    <p:extLst>
      <p:ext uri="{BB962C8B-B14F-4D97-AF65-F5344CB8AC3E}">
        <p14:creationId xmlns:p14="http://schemas.microsoft.com/office/powerpoint/2010/main" val="24795383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7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0.2 Titel mit einzeiliger Überschrift">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36736B80-7206-F67F-950C-8AF0B7509C6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88825" cy="6858000"/>
          </a:xfrm>
          <a:prstGeom prst="rect">
            <a:avLst/>
          </a:prstGeom>
        </p:spPr>
      </p:pic>
      <p:sp>
        <p:nvSpPr>
          <p:cNvPr id="17" name="TextBox 19">
            <a:extLst>
              <a:ext uri="{FF2B5EF4-FFF2-40B4-BE49-F238E27FC236}">
                <a16:creationId xmlns:a16="http://schemas.microsoft.com/office/drawing/2014/main" id="{FBC8F23C-BBD0-41C9-A1F2-34F7D25F56AF}"/>
              </a:ext>
            </a:extLst>
          </p:cNvPr>
          <p:cNvSpPr txBox="1"/>
          <p:nvPr userDrawn="1"/>
        </p:nvSpPr>
        <p:spPr bwMode="auto">
          <a:xfrm>
            <a:off x="644724" y="596763"/>
            <a:ext cx="5441783" cy="406101"/>
          </a:xfrm>
          <a:prstGeom prst="rect">
            <a:avLst/>
          </a:prstGeom>
          <a:noFill/>
        </p:spPr>
        <p:txBody>
          <a:bodyPr wrap="none" lIns="0" tIns="0" rIns="0" bIns="0">
            <a:noAutofit/>
          </a:bodyPr>
          <a:lstStyle/>
          <a:p>
            <a:pPr>
              <a:lnSpc>
                <a:spcPct val="90000"/>
              </a:lnSpc>
              <a:defRPr/>
            </a:pPr>
            <a:endParaRPr lang="de-DE" sz="1400" dirty="0">
              <a:solidFill>
                <a:schemeClr val="bg1"/>
              </a:solidFill>
              <a:latin typeface="+mn-lt"/>
              <a:ea typeface="Deutsche Bank Text" panose="020B0503020202030204" pitchFamily="34" charset="0"/>
              <a:cs typeface="Deutsche Bank Text" panose="020B0503020202030204" pitchFamily="34" charset="0"/>
            </a:endParaRPr>
          </a:p>
        </p:txBody>
      </p:sp>
      <p:sp>
        <p:nvSpPr>
          <p:cNvPr id="18" name="Freeform 4">
            <a:extLst>
              <a:ext uri="{FF2B5EF4-FFF2-40B4-BE49-F238E27FC236}">
                <a16:creationId xmlns:a16="http://schemas.microsoft.com/office/drawing/2014/main" id="{92DE6D80-E679-4528-8876-00EDFD81789D}"/>
              </a:ext>
            </a:extLst>
          </p:cNvPr>
          <p:cNvSpPr>
            <a:spLocks noEditPoints="1"/>
          </p:cNvSpPr>
          <p:nvPr userDrawn="1"/>
        </p:nvSpPr>
        <p:spPr bwMode="black">
          <a:xfrm>
            <a:off x="10890285" y="647700"/>
            <a:ext cx="647831" cy="648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de-DE" sz="1809" dirty="0">
              <a:latin typeface="Deutsche Bank Text" panose="020B0503020202030204" pitchFamily="34" charset="0"/>
              <a:cs typeface="Deutsche Bank Text" panose="020B0503020202030204" pitchFamily="34" charset="0"/>
            </a:endParaRPr>
          </a:p>
        </p:txBody>
      </p:sp>
      <p:sp>
        <p:nvSpPr>
          <p:cNvPr id="11" name="Textplatzhalter 28">
            <a:extLst>
              <a:ext uri="{FF2B5EF4-FFF2-40B4-BE49-F238E27FC236}">
                <a16:creationId xmlns:a16="http://schemas.microsoft.com/office/drawing/2014/main" id="{126BA6AF-C9CA-4230-85F4-078DBA224373}"/>
              </a:ext>
            </a:extLst>
          </p:cNvPr>
          <p:cNvSpPr>
            <a:spLocks noGrp="1"/>
          </p:cNvSpPr>
          <p:nvPr>
            <p:ph type="body" sz="quarter" idx="11" hasCustomPrompt="1"/>
          </p:nvPr>
        </p:nvSpPr>
        <p:spPr>
          <a:xfrm>
            <a:off x="614825" y="2846811"/>
            <a:ext cx="10884523" cy="569207"/>
          </a:xfrm>
          <a:prstGeom prst="rect">
            <a:avLst/>
          </a:prstGeom>
        </p:spPr>
        <p:txBody>
          <a:bodyPr lIns="0" tIns="0" rIns="0" bIns="0" anchor="b" anchorCtr="0">
            <a:noAutofit/>
          </a:bodyPr>
          <a:lstStyle>
            <a:lvl1pPr>
              <a:defRPr sz="1600">
                <a:solidFill>
                  <a:schemeClr val="bg1"/>
                </a:solidFill>
              </a:defRPr>
            </a:lvl1pPr>
          </a:lstStyle>
          <a:p>
            <a:pPr lvl="0"/>
            <a:r>
              <a:rPr lang="de-DE" noProof="0" dirty="0" err="1"/>
              <a:t>Topline</a:t>
            </a:r>
            <a:r>
              <a:rPr lang="de-DE" noProof="0" dirty="0"/>
              <a:t> bearbeiten</a:t>
            </a:r>
          </a:p>
        </p:txBody>
      </p:sp>
      <p:sp>
        <p:nvSpPr>
          <p:cNvPr id="16" name="Textplatzhalter 4">
            <a:extLst>
              <a:ext uri="{FF2B5EF4-FFF2-40B4-BE49-F238E27FC236}">
                <a16:creationId xmlns:a16="http://schemas.microsoft.com/office/drawing/2014/main" id="{BEE01C15-9746-401B-9706-77C91966B902}"/>
              </a:ext>
            </a:extLst>
          </p:cNvPr>
          <p:cNvSpPr>
            <a:spLocks noGrp="1"/>
          </p:cNvSpPr>
          <p:nvPr>
            <p:ph type="body" sz="quarter" idx="10" hasCustomPrompt="1"/>
          </p:nvPr>
        </p:nvSpPr>
        <p:spPr>
          <a:xfrm>
            <a:off x="614825" y="4173313"/>
            <a:ext cx="10890728" cy="537816"/>
          </a:xfrm>
          <a:prstGeom prst="rect">
            <a:avLst/>
          </a:prstGeom>
        </p:spPr>
        <p:txBody>
          <a:bodyPr lIns="0" tIns="0" rIns="0" bIns="0" anchor="b" anchorCtr="0">
            <a:noAutofit/>
          </a:bodyPr>
          <a:lstStyle>
            <a:lvl1pPr>
              <a:lnSpc>
                <a:spcPct val="90000"/>
              </a:lnSpc>
              <a:spcBef>
                <a:spcPts val="0"/>
              </a:spcBef>
              <a:spcAft>
                <a:spcPts val="0"/>
              </a:spcAft>
              <a:defRPr sz="3732">
                <a:solidFill>
                  <a:schemeClr val="bg1"/>
                </a:solidFill>
                <a:latin typeface="+mj-lt"/>
                <a:ea typeface="Deutsche Bank Display" panose="020F0403020203030304" pitchFamily="34" charset="0"/>
                <a:cs typeface="Deutsche Bank Display" panose="020F0403020203030304" pitchFamily="34" charset="0"/>
              </a:defRPr>
            </a:lvl1pPr>
          </a:lstStyle>
          <a:p>
            <a:pPr lvl="0"/>
            <a:r>
              <a:rPr lang="de-DE" noProof="0" dirty="0"/>
              <a:t>Corporate Benefits - </a:t>
            </a:r>
          </a:p>
          <a:p>
            <a:pPr lvl="0"/>
            <a:r>
              <a:rPr lang="de-DE" noProof="0" dirty="0"/>
              <a:t>Ausbau Versorgungsmodell </a:t>
            </a:r>
          </a:p>
        </p:txBody>
      </p:sp>
      <p:sp>
        <p:nvSpPr>
          <p:cNvPr id="3" name="Text Placeholder 3">
            <a:extLst>
              <a:ext uri="{FF2B5EF4-FFF2-40B4-BE49-F238E27FC236}">
                <a16:creationId xmlns:a16="http://schemas.microsoft.com/office/drawing/2014/main" id="{A313498E-DC90-3FE4-F9CE-D6F22FABA643}"/>
              </a:ext>
            </a:extLst>
          </p:cNvPr>
          <p:cNvSpPr>
            <a:spLocks noGrp="1"/>
          </p:cNvSpPr>
          <p:nvPr>
            <p:ph type="body" sz="quarter" idx="13" hasCustomPrompt="1"/>
          </p:nvPr>
        </p:nvSpPr>
        <p:spPr>
          <a:xfrm>
            <a:off x="652633" y="5082759"/>
            <a:ext cx="10885483" cy="1127541"/>
          </a:xfrm>
          <a:prstGeom prst="rect">
            <a:avLst/>
          </a:prstGeom>
        </p:spPr>
        <p:txBody>
          <a:bodyPr anchor="t" anchorCtr="0"/>
          <a:lstStyle>
            <a:lvl1pPr>
              <a:defRPr sz="1600">
                <a:solidFill>
                  <a:schemeClr val="bg1"/>
                </a:solidFill>
              </a:defRPr>
            </a:lvl1pPr>
          </a:lstStyle>
          <a:p>
            <a:pPr lvl="0"/>
            <a:r>
              <a:rPr lang="de-DE" noProof="0" dirty="0"/>
              <a:t>Hier Zusatzinformationen platzieren,</a:t>
            </a:r>
            <a:br>
              <a:rPr lang="de-DE" noProof="0" dirty="0"/>
            </a:br>
            <a:r>
              <a:rPr lang="de-DE" noProof="0" dirty="0"/>
              <a:t>wie Sprecher, Ort und Datum</a:t>
            </a:r>
          </a:p>
        </p:txBody>
      </p:sp>
    </p:spTree>
    <p:extLst>
      <p:ext uri="{BB962C8B-B14F-4D97-AF65-F5344CB8AC3E}">
        <p14:creationId xmlns:p14="http://schemas.microsoft.com/office/powerpoint/2010/main" val="61850687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DF69C3-08D3-6A5A-8570-BB258289CB75}"/>
              </a:ext>
            </a:extLst>
          </p:cNvPr>
          <p:cNvSpPr>
            <a:spLocks noGrp="1"/>
          </p:cNvSpPr>
          <p:nvPr>
            <p:ph type="ctrTitle"/>
          </p:nvPr>
        </p:nvSpPr>
        <p:spPr>
          <a:xfrm>
            <a:off x="1523603" y="1122363"/>
            <a:ext cx="9141619" cy="2387600"/>
          </a:xfrm>
        </p:spPr>
        <p:txBody>
          <a:bodyPr anchor="b"/>
          <a:lstStyle>
            <a:lvl1pPr algn="ctr">
              <a:defRPr sz="5998"/>
            </a:lvl1pPr>
          </a:lstStyle>
          <a:p>
            <a:r>
              <a:rPr lang="de-DE"/>
              <a:t>Mastertitelformat bearbeiten</a:t>
            </a:r>
          </a:p>
        </p:txBody>
      </p:sp>
      <p:sp>
        <p:nvSpPr>
          <p:cNvPr id="3" name="Untertitel 2">
            <a:extLst>
              <a:ext uri="{FF2B5EF4-FFF2-40B4-BE49-F238E27FC236}">
                <a16:creationId xmlns:a16="http://schemas.microsoft.com/office/drawing/2014/main" id="{CAD4C88F-9D4C-8673-C746-6861389ACE87}"/>
              </a:ext>
            </a:extLst>
          </p:cNvPr>
          <p:cNvSpPr>
            <a:spLocks noGrp="1"/>
          </p:cNvSpPr>
          <p:nvPr>
            <p:ph type="subTitle" idx="1"/>
          </p:nvPr>
        </p:nvSpPr>
        <p:spPr>
          <a:xfrm>
            <a:off x="1523603" y="3602038"/>
            <a:ext cx="9141619"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70286581-F7A3-83E1-3A74-E3313C11527A}"/>
              </a:ext>
            </a:extLst>
          </p:cNvPr>
          <p:cNvSpPr>
            <a:spLocks noGrp="1"/>
          </p:cNvSpPr>
          <p:nvPr>
            <p:ph type="dt" sz="half" idx="10"/>
          </p:nvPr>
        </p:nvSpPr>
        <p:spPr/>
        <p:txBody>
          <a:bodyPr/>
          <a:lstStyle/>
          <a:p>
            <a:fld id="{8D59107E-415F-44B2-A195-836C5AD4A90F}" type="datetimeFigureOut">
              <a:rPr lang="de-DE" smtClean="0"/>
              <a:t>23.03.26</a:t>
            </a:fld>
            <a:endParaRPr lang="de-DE"/>
          </a:p>
        </p:txBody>
      </p:sp>
      <p:sp>
        <p:nvSpPr>
          <p:cNvPr id="5" name="Fußzeilenplatzhalter 4">
            <a:extLst>
              <a:ext uri="{FF2B5EF4-FFF2-40B4-BE49-F238E27FC236}">
                <a16:creationId xmlns:a16="http://schemas.microsoft.com/office/drawing/2014/main" id="{AD907A85-183B-0ECB-A586-CF71441659F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507B115-1E50-80CD-2FFE-20032E45B19C}"/>
              </a:ext>
            </a:extLst>
          </p:cNvPr>
          <p:cNvSpPr>
            <a:spLocks noGrp="1"/>
          </p:cNvSpPr>
          <p:nvPr>
            <p:ph type="sldNum" sz="quarter" idx="12"/>
          </p:nvPr>
        </p:nvSpPr>
        <p:spPr/>
        <p:txBody>
          <a:bodyPr/>
          <a:lstStyle/>
          <a:p>
            <a:fld id="{DDCE4A9A-0F6E-4639-A99F-F7972E67DCDF}" type="slidenum">
              <a:rPr lang="de-DE" smtClean="0"/>
              <a:t>‹Nr.›</a:t>
            </a:fld>
            <a:endParaRPr lang="de-DE"/>
          </a:p>
        </p:txBody>
      </p:sp>
    </p:spTree>
    <p:extLst>
      <p:ext uri="{BB962C8B-B14F-4D97-AF65-F5344CB8AC3E}">
        <p14:creationId xmlns:p14="http://schemas.microsoft.com/office/powerpoint/2010/main" val="2593743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SIPCMContentMarking" descr="{&quot;HashCode&quot;:-1285184713,&quot;Placement&quot;:&quot;Footer&quot;,&quot;Top&quot;:519.343,&quot;Left&quot;:444.159119,&quot;SlideWidth&quot;:959,&quot;SlideHeight&quot;:540}">
            <a:extLst>
              <a:ext uri="{FF2B5EF4-FFF2-40B4-BE49-F238E27FC236}">
                <a16:creationId xmlns:a16="http://schemas.microsoft.com/office/drawing/2014/main" id="{FB5415AE-3E46-5D72-FEF0-9165DB138F21}"/>
              </a:ext>
            </a:extLst>
          </p:cNvPr>
          <p:cNvSpPr txBox="1"/>
          <p:nvPr userDrawn="1"/>
        </p:nvSpPr>
        <p:spPr bwMode="ltGray">
          <a:xfrm>
            <a:off x="5640821" y="6595656"/>
            <a:ext cx="907183" cy="262344"/>
          </a:xfrm>
          <a:prstGeom prst="rect">
            <a:avLst/>
          </a:prstGeom>
          <a:noFill/>
          <a:ln w="6350">
            <a:noFill/>
            <a:miter lim="800000"/>
            <a:headEnd/>
            <a:tailEnd/>
          </a:ln>
        </p:spPr>
        <p:txBody>
          <a:bodyPr vert="horz" wrap="square" lIns="0" tIns="0" rIns="0" bIns="0" rtlCol="0" anchor="ctr" anchorCtr="1">
            <a:spAutoFit/>
          </a:bodyPr>
          <a:lstStyle/>
          <a:p>
            <a:pPr algn="ctr" eaLnBrk="0" hangingPunct="0">
              <a:spcBef>
                <a:spcPct val="0"/>
              </a:spcBef>
              <a:spcAft>
                <a:spcPct val="0"/>
              </a:spcAft>
            </a:pPr>
            <a:r>
              <a:rPr lang="de-DE" sz="1000">
                <a:solidFill>
                  <a:srgbClr val="000000"/>
                </a:solidFill>
                <a:latin typeface="Calibri" panose="020F0502020204030204" pitchFamily="34" charset="0"/>
              </a:rPr>
              <a:t>Confidential </a:t>
            </a:r>
            <a:endParaRPr lang="de-DE" sz="1000" dirty="0" err="1">
              <a:solidFill>
                <a:srgbClr val="000000"/>
              </a:solidFill>
              <a:latin typeface="Calibri" panose="020F0502020204030204" pitchFamily="34" charset="0"/>
            </a:endParaRPr>
          </a:p>
        </p:txBody>
      </p:sp>
    </p:spTree>
    <p:extLst>
      <p:ext uri="{BB962C8B-B14F-4D97-AF65-F5344CB8AC3E}">
        <p14:creationId xmlns:p14="http://schemas.microsoft.com/office/powerpoint/2010/main" val="3411592479"/>
      </p:ext>
    </p:extLst>
  </p:cSld>
  <p:clrMap bg1="lt1" tx1="dk1" bg2="lt2" tx2="dk2" accent1="accent1" accent2="accent2" accent3="accent3" accent4="accent4" accent5="accent5" accent6="accent6" hlink="hlink" folHlink="folHlink"/>
  <p:sldLayoutIdLst>
    <p:sldLayoutId id="2147485396" r:id="rId1"/>
    <p:sldLayoutId id="2147485397" r:id="rId2"/>
    <p:sldLayoutId id="2147485398" r:id="rId3"/>
    <p:sldLayoutId id="2147485383" r:id="rId4"/>
    <p:sldLayoutId id="2147485384" r:id="rId5"/>
    <p:sldLayoutId id="2147485399" r:id="rId6"/>
    <p:sldLayoutId id="2147485400" r:id="rId7"/>
  </p:sldLayoutIdLst>
  <p:hf hdr="0"/>
  <p:txStyles>
    <p:titleStyle>
      <a:lvl1pPr algn="l" rtl="0" eaLnBrk="1" fontAlgn="base" hangingPunct="1">
        <a:lnSpc>
          <a:spcPct val="80000"/>
        </a:lnSpc>
        <a:spcBef>
          <a:spcPct val="0"/>
        </a:spcBef>
        <a:spcAft>
          <a:spcPct val="0"/>
        </a:spcAft>
        <a:defRPr sz="3266" kern="1200" baseline="0">
          <a:solidFill>
            <a:schemeClr val="tx1"/>
          </a:solidFill>
          <a:latin typeface="+mj-lt"/>
          <a:ea typeface="Deutsche Bank Display" panose="020F0403020203030304" pitchFamily="34" charset="0"/>
          <a:cs typeface="Calibri Light" panose="020F0302020204030204" pitchFamily="34" charset="0"/>
        </a:defRPr>
      </a:lvl1pPr>
      <a:lvl2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5pPr>
      <a:lvl6pPr marL="456273" algn="l" rtl="0" eaLnBrk="1" fontAlgn="base" hangingPunct="1">
        <a:lnSpc>
          <a:spcPct val="90000"/>
        </a:lnSpc>
        <a:spcBef>
          <a:spcPct val="0"/>
        </a:spcBef>
        <a:spcAft>
          <a:spcPct val="0"/>
        </a:spcAft>
        <a:tabLst>
          <a:tab pos="665398" algn="l"/>
        </a:tabLst>
        <a:defRPr sz="2351" b="1">
          <a:solidFill>
            <a:schemeClr val="tx1"/>
          </a:solidFill>
          <a:latin typeface="Arial" charset="0"/>
        </a:defRPr>
      </a:lvl6pPr>
      <a:lvl7pPr marL="912546" algn="l" rtl="0" eaLnBrk="1" fontAlgn="base" hangingPunct="1">
        <a:lnSpc>
          <a:spcPct val="90000"/>
        </a:lnSpc>
        <a:spcBef>
          <a:spcPct val="0"/>
        </a:spcBef>
        <a:spcAft>
          <a:spcPct val="0"/>
        </a:spcAft>
        <a:tabLst>
          <a:tab pos="665398" algn="l"/>
        </a:tabLst>
        <a:defRPr sz="2351" b="1">
          <a:solidFill>
            <a:schemeClr val="tx1"/>
          </a:solidFill>
          <a:latin typeface="Arial" charset="0"/>
        </a:defRPr>
      </a:lvl7pPr>
      <a:lvl8pPr marL="1368819" algn="l" rtl="0" eaLnBrk="1" fontAlgn="base" hangingPunct="1">
        <a:lnSpc>
          <a:spcPct val="90000"/>
        </a:lnSpc>
        <a:spcBef>
          <a:spcPct val="0"/>
        </a:spcBef>
        <a:spcAft>
          <a:spcPct val="0"/>
        </a:spcAft>
        <a:tabLst>
          <a:tab pos="665398" algn="l"/>
        </a:tabLst>
        <a:defRPr sz="2351" b="1">
          <a:solidFill>
            <a:schemeClr val="tx1"/>
          </a:solidFill>
          <a:latin typeface="Arial" charset="0"/>
        </a:defRPr>
      </a:lvl8pPr>
      <a:lvl9pPr marL="1825091" algn="l" rtl="0" eaLnBrk="1" fontAlgn="base" hangingPunct="1">
        <a:lnSpc>
          <a:spcPct val="90000"/>
        </a:lnSpc>
        <a:spcBef>
          <a:spcPct val="0"/>
        </a:spcBef>
        <a:spcAft>
          <a:spcPct val="0"/>
        </a:spcAft>
        <a:tabLst>
          <a:tab pos="665398" algn="l"/>
        </a:tabLst>
        <a:defRPr sz="2351" b="1">
          <a:solidFill>
            <a:schemeClr val="tx1"/>
          </a:solidFill>
          <a:latin typeface="Arial" charset="0"/>
        </a:defRPr>
      </a:lvl9pPr>
    </p:titleStyle>
    <p:bodyStyle>
      <a:lvl1pPr algn="l" rtl="0" eaLnBrk="1" fontAlgn="base" hangingPunct="1">
        <a:lnSpc>
          <a:spcPct val="90000"/>
        </a:lnSpc>
        <a:spcBef>
          <a:spcPts val="272"/>
        </a:spcBef>
        <a:spcAft>
          <a:spcPts val="272"/>
        </a:spcAft>
        <a:defRPr sz="1996" kern="1200" baseline="0">
          <a:solidFill>
            <a:srgbClr val="00A3E0"/>
          </a:solidFill>
          <a:latin typeface="+mn-lt"/>
          <a:ea typeface="ＭＳ Ｐゴシック" pitchFamily="-109" charset="-128"/>
          <a:cs typeface="ＭＳ Ｐゴシック" pitchFamily="-109" charset="-128"/>
        </a:defRPr>
      </a:lvl1pPr>
      <a:lvl2pPr algn="l" rtl="0" eaLnBrk="1" fontAlgn="base" hangingPunct="1">
        <a:lnSpc>
          <a:spcPct val="90000"/>
        </a:lnSpc>
        <a:spcBef>
          <a:spcPts val="272"/>
        </a:spcBef>
        <a:spcAft>
          <a:spcPts val="272"/>
        </a:spcAft>
        <a:defRPr sz="1996" kern="1200" baseline="0">
          <a:solidFill>
            <a:schemeClr val="tx1"/>
          </a:solidFill>
          <a:latin typeface="+mn-lt"/>
          <a:ea typeface="ＭＳ Ｐゴシック" pitchFamily="-109" charset="-128"/>
        </a:defRPr>
      </a:lvl2pPr>
      <a:lvl3pPr marL="404827" indent="-400521" algn="l" rtl="0" eaLnBrk="1" fontAlgn="base" hangingPunct="1">
        <a:lnSpc>
          <a:spcPct val="90000"/>
        </a:lnSpc>
        <a:spcBef>
          <a:spcPts val="272"/>
        </a:spcBef>
        <a:spcAft>
          <a:spcPts val="272"/>
        </a:spcAft>
        <a:buFont typeface="Arial" charset="0"/>
        <a:buChar char="—"/>
        <a:defRPr sz="1996" kern="1200" baseline="0">
          <a:solidFill>
            <a:schemeClr val="tx1"/>
          </a:solidFill>
          <a:latin typeface="+mn-lt"/>
          <a:ea typeface="Deutsche Bank Text" panose="020B0503020202030204" pitchFamily="34" charset="0"/>
          <a:cs typeface="Arial" panose="020B0604020202020204" pitchFamily="34" charset="0"/>
        </a:defRPr>
      </a:lvl3pPr>
      <a:lvl4pPr marL="812172" indent="-403206" algn="l" rtl="0" eaLnBrk="1" fontAlgn="base" hangingPunct="1">
        <a:lnSpc>
          <a:spcPct val="100000"/>
        </a:lnSpc>
        <a:spcBef>
          <a:spcPts val="272"/>
        </a:spcBef>
        <a:spcAft>
          <a:spcPts val="272"/>
        </a:spcAft>
        <a:buFont typeface="Arial" charset="0"/>
        <a:buChar char="—"/>
        <a:defRPr sz="1814" kern="1200" baseline="0">
          <a:solidFill>
            <a:schemeClr val="tx1"/>
          </a:solidFill>
          <a:latin typeface="+mn-lt"/>
          <a:ea typeface="ＭＳ Ｐゴシック" pitchFamily="-109" charset="-128"/>
        </a:defRPr>
      </a:lvl4pPr>
      <a:lvl5pPr marL="1139057" indent="-329765" algn="l" rtl="0" eaLnBrk="1" fontAlgn="base" hangingPunct="1">
        <a:lnSpc>
          <a:spcPct val="100000"/>
        </a:lnSpc>
        <a:spcBef>
          <a:spcPts val="272"/>
        </a:spcBef>
        <a:spcAft>
          <a:spcPts val="272"/>
        </a:spcAft>
        <a:buFont typeface="Arial" charset="0"/>
        <a:buChar char="—"/>
        <a:defRPr sz="1451" kern="1200" baseline="0">
          <a:solidFill>
            <a:schemeClr val="tx1"/>
          </a:solidFill>
          <a:latin typeface="+mn-lt"/>
          <a:ea typeface="ＭＳ Ｐゴシック" pitchFamily="-109" charset="-128"/>
        </a:defRPr>
      </a:lvl5pPr>
      <a:lvl6pPr marL="1177122" indent="-177440" algn="l" rtl="0" eaLnBrk="1" fontAlgn="base" hangingPunct="1">
        <a:spcBef>
          <a:spcPct val="10000"/>
        </a:spcBef>
        <a:spcAft>
          <a:spcPct val="10000"/>
        </a:spcAft>
        <a:buClr>
          <a:schemeClr val="tx2"/>
        </a:buClr>
        <a:buFont typeface="Arial" charset="0"/>
        <a:buChar char="-"/>
        <a:defRPr sz="1356">
          <a:solidFill>
            <a:schemeClr val="tx1"/>
          </a:solidFill>
          <a:latin typeface="+mn-lt"/>
        </a:defRPr>
      </a:lvl6pPr>
      <a:lvl7pPr marL="1633394" indent="-177440" algn="l" rtl="0" eaLnBrk="1" fontAlgn="base" hangingPunct="1">
        <a:spcBef>
          <a:spcPct val="10000"/>
        </a:spcBef>
        <a:spcAft>
          <a:spcPct val="10000"/>
        </a:spcAft>
        <a:buClr>
          <a:schemeClr val="tx2"/>
        </a:buClr>
        <a:buFont typeface="Arial" charset="0"/>
        <a:buChar char="-"/>
        <a:defRPr sz="1356">
          <a:solidFill>
            <a:schemeClr val="tx1"/>
          </a:solidFill>
          <a:latin typeface="+mn-lt"/>
        </a:defRPr>
      </a:lvl7pPr>
      <a:lvl8pPr marL="2089666" indent="-177440" algn="l" rtl="0" eaLnBrk="1" fontAlgn="base" hangingPunct="1">
        <a:spcBef>
          <a:spcPct val="10000"/>
        </a:spcBef>
        <a:spcAft>
          <a:spcPct val="10000"/>
        </a:spcAft>
        <a:buClr>
          <a:schemeClr val="tx2"/>
        </a:buClr>
        <a:buFont typeface="Arial" charset="0"/>
        <a:buChar char="-"/>
        <a:defRPr sz="1356">
          <a:solidFill>
            <a:schemeClr val="tx1"/>
          </a:solidFill>
          <a:latin typeface="+mn-lt"/>
        </a:defRPr>
      </a:lvl8pPr>
      <a:lvl9pPr marL="2545939" indent="-177440" algn="l" rtl="0" eaLnBrk="1" fontAlgn="base" hangingPunct="1">
        <a:spcBef>
          <a:spcPct val="10000"/>
        </a:spcBef>
        <a:spcAft>
          <a:spcPct val="10000"/>
        </a:spcAft>
        <a:buClr>
          <a:schemeClr val="tx2"/>
        </a:buClr>
        <a:buFont typeface="Arial" charset="0"/>
        <a:buChar char="-"/>
        <a:defRPr sz="1356">
          <a:solidFill>
            <a:schemeClr val="tx1"/>
          </a:solidFill>
          <a:latin typeface="+mn-lt"/>
        </a:defRPr>
      </a:lvl9pPr>
    </p:bodyStyle>
    <p:otherStyle>
      <a:defPPr>
        <a:defRPr lang="en-US"/>
      </a:defPPr>
      <a:lvl1pPr marL="0" algn="l" defTabSz="912546" rtl="0" eaLnBrk="1" latinLnBrk="0" hangingPunct="1">
        <a:defRPr sz="1809" kern="1200">
          <a:solidFill>
            <a:schemeClr val="tx1"/>
          </a:solidFill>
          <a:latin typeface="+mn-lt"/>
          <a:ea typeface="+mn-ea"/>
          <a:cs typeface="+mn-cs"/>
        </a:defRPr>
      </a:lvl1pPr>
      <a:lvl2pPr marL="456273" algn="l" defTabSz="912546" rtl="0" eaLnBrk="1" latinLnBrk="0" hangingPunct="1">
        <a:defRPr sz="1809" kern="1200">
          <a:solidFill>
            <a:schemeClr val="tx1"/>
          </a:solidFill>
          <a:latin typeface="+mn-lt"/>
          <a:ea typeface="+mn-ea"/>
          <a:cs typeface="+mn-cs"/>
        </a:defRPr>
      </a:lvl2pPr>
      <a:lvl3pPr marL="912546" algn="l" defTabSz="912546" rtl="0" eaLnBrk="1" latinLnBrk="0" hangingPunct="1">
        <a:defRPr sz="1809" kern="1200">
          <a:solidFill>
            <a:schemeClr val="tx1"/>
          </a:solidFill>
          <a:latin typeface="+mn-lt"/>
          <a:ea typeface="+mn-ea"/>
          <a:cs typeface="+mn-cs"/>
        </a:defRPr>
      </a:lvl3pPr>
      <a:lvl4pPr marL="1368819" algn="l" defTabSz="912546" rtl="0" eaLnBrk="1" latinLnBrk="0" hangingPunct="1">
        <a:defRPr sz="1809" kern="1200">
          <a:solidFill>
            <a:schemeClr val="tx1"/>
          </a:solidFill>
          <a:latin typeface="+mn-lt"/>
          <a:ea typeface="+mn-ea"/>
          <a:cs typeface="+mn-cs"/>
        </a:defRPr>
      </a:lvl4pPr>
      <a:lvl5pPr marL="1825091" algn="l" defTabSz="912546" rtl="0" eaLnBrk="1" latinLnBrk="0" hangingPunct="1">
        <a:defRPr sz="1809" kern="1200">
          <a:solidFill>
            <a:schemeClr val="tx1"/>
          </a:solidFill>
          <a:latin typeface="+mn-lt"/>
          <a:ea typeface="+mn-ea"/>
          <a:cs typeface="+mn-cs"/>
        </a:defRPr>
      </a:lvl5pPr>
      <a:lvl6pPr marL="2281365" algn="l" defTabSz="912546" rtl="0" eaLnBrk="1" latinLnBrk="0" hangingPunct="1">
        <a:defRPr sz="1809" kern="1200">
          <a:solidFill>
            <a:schemeClr val="tx1"/>
          </a:solidFill>
          <a:latin typeface="+mn-lt"/>
          <a:ea typeface="+mn-ea"/>
          <a:cs typeface="+mn-cs"/>
        </a:defRPr>
      </a:lvl6pPr>
      <a:lvl7pPr marL="2737638" algn="l" defTabSz="912546" rtl="0" eaLnBrk="1" latinLnBrk="0" hangingPunct="1">
        <a:defRPr sz="1809" kern="1200">
          <a:solidFill>
            <a:schemeClr val="tx1"/>
          </a:solidFill>
          <a:latin typeface="+mn-lt"/>
          <a:ea typeface="+mn-ea"/>
          <a:cs typeface="+mn-cs"/>
        </a:defRPr>
      </a:lvl7pPr>
      <a:lvl8pPr marL="3193910" algn="l" defTabSz="912546" rtl="0" eaLnBrk="1" latinLnBrk="0" hangingPunct="1">
        <a:defRPr sz="1809" kern="1200">
          <a:solidFill>
            <a:schemeClr val="tx1"/>
          </a:solidFill>
          <a:latin typeface="+mn-lt"/>
          <a:ea typeface="+mn-ea"/>
          <a:cs typeface="+mn-cs"/>
        </a:defRPr>
      </a:lvl8pPr>
      <a:lvl9pPr marL="3650183" algn="l" defTabSz="912546" rtl="0" eaLnBrk="1" latinLnBrk="0" hangingPunct="1">
        <a:defRPr sz="1809" kern="1200">
          <a:solidFill>
            <a:schemeClr val="tx1"/>
          </a:solidFill>
          <a:latin typeface="+mn-lt"/>
          <a:ea typeface="+mn-ea"/>
          <a:cs typeface="+mn-cs"/>
        </a:defRPr>
      </a:lvl9pPr>
    </p:otherStyle>
  </p:txStyles>
  <p:extLst>
    <p:ext uri="{27BBF7A9-308A-43DC-89C8-2F10F3537804}">
      <p15:sldGuideLst xmlns:p15="http://schemas.microsoft.com/office/powerpoint/2012/main">
        <p15:guide id="11" pos="7267" userDrawn="1">
          <p15:clr>
            <a:srgbClr val="F26B43"/>
          </p15:clr>
        </p15:guide>
        <p15:guide id="12" pos="411" userDrawn="1">
          <p15:clr>
            <a:srgbClr val="F26B43"/>
          </p15:clr>
        </p15:guide>
        <p15:guide id="13" orient="horz" pos="308" userDrawn="1">
          <p15:clr>
            <a:srgbClr val="F26B43"/>
          </p15:clr>
        </p15:guide>
        <p15:guide id="14" orient="horz" pos="4011" userDrawn="1">
          <p15:clr>
            <a:srgbClr val="F26B43"/>
          </p15:clr>
        </p15:guide>
        <p15:guide id="15" orient="horz" pos="4221" userDrawn="1">
          <p15:clr>
            <a:srgbClr val="F26B43"/>
          </p15:clr>
        </p15:guide>
        <p15:guide id="16" orient="horz" pos="3724" userDrawn="1">
          <p15:clr>
            <a:srgbClr val="F26B43"/>
          </p15:clr>
        </p15:guide>
        <p15:guide id="17" orient="horz" pos="92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21D0424-B3BD-4B7D-AEBD-AD66A0EC0CC9}"/>
              </a:ext>
            </a:extLst>
          </p:cNvPr>
          <p:cNvSpPr>
            <a:spLocks noGrp="1"/>
          </p:cNvSpPr>
          <p:nvPr>
            <p:ph type="body" sz="quarter" idx="10"/>
          </p:nvPr>
        </p:nvSpPr>
        <p:spPr>
          <a:xfrm>
            <a:off x="723537" y="4973530"/>
            <a:ext cx="10890728" cy="537676"/>
          </a:xfrm>
        </p:spPr>
        <p:txBody>
          <a:bodyPr/>
          <a:lstStyle/>
          <a:p>
            <a:r>
              <a:rPr lang="de-DE" noProof="0" dirty="0" err="1"/>
              <a:t>TopClub</a:t>
            </a:r>
            <a:r>
              <a:rPr lang="de-DE" noProof="0" dirty="0"/>
              <a:t> </a:t>
            </a:r>
            <a:r>
              <a:rPr lang="de-DE" noProof="0"/>
              <a:t>bAV</a:t>
            </a:r>
            <a:endParaRPr lang="de-DE" dirty="0"/>
          </a:p>
        </p:txBody>
      </p:sp>
      <p:sp>
        <p:nvSpPr>
          <p:cNvPr id="10" name="Text Placeholder 9">
            <a:extLst>
              <a:ext uri="{FF2B5EF4-FFF2-40B4-BE49-F238E27FC236}">
                <a16:creationId xmlns:a16="http://schemas.microsoft.com/office/drawing/2014/main" id="{34B36878-CC81-454F-9D65-B1086C9939C4}"/>
              </a:ext>
            </a:extLst>
          </p:cNvPr>
          <p:cNvSpPr>
            <a:spLocks noGrp="1"/>
          </p:cNvSpPr>
          <p:nvPr>
            <p:ph type="body" sz="quarter" idx="13"/>
          </p:nvPr>
        </p:nvSpPr>
        <p:spPr>
          <a:xfrm>
            <a:off x="650709" y="5681138"/>
            <a:ext cx="10885483" cy="355520"/>
          </a:xfrm>
        </p:spPr>
        <p:txBody>
          <a:bodyPr/>
          <a:lstStyle/>
          <a:p>
            <a:r>
              <a:rPr lang="de-DE" dirty="0"/>
              <a:t>Frankfurt, März 2026</a:t>
            </a:r>
          </a:p>
        </p:txBody>
      </p:sp>
    </p:spTree>
    <p:extLst>
      <p:ext uri="{BB962C8B-B14F-4D97-AF65-F5344CB8AC3E}">
        <p14:creationId xmlns:p14="http://schemas.microsoft.com/office/powerpoint/2010/main" val="123126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CFA0E-7F6F-07CA-9BD3-C7A5723C3229}"/>
            </a:ext>
          </a:extLst>
        </p:cNvPr>
        <p:cNvGrpSpPr/>
        <p:nvPr/>
      </p:nvGrpSpPr>
      <p:grpSpPr>
        <a:xfrm>
          <a:off x="0" y="0"/>
          <a:ext cx="0" cy="0"/>
          <a:chOff x="0" y="0"/>
          <a:chExt cx="0" cy="0"/>
        </a:xfrm>
      </p:grpSpPr>
      <p:pic>
        <p:nvPicPr>
          <p:cNvPr id="17" name="Grafik 16" descr="Ein Bild, das Computer, peripher, Büroausstattung, Eingabegerät enthält.&#10;&#10;Automatisch generierte Beschreibung">
            <a:extLst>
              <a:ext uri="{FF2B5EF4-FFF2-40B4-BE49-F238E27FC236}">
                <a16:creationId xmlns:a16="http://schemas.microsoft.com/office/drawing/2014/main" id="{4EC808B3-59F4-53FD-0A90-8298A7350668}"/>
              </a:ext>
            </a:extLst>
          </p:cNvPr>
          <p:cNvPicPr>
            <a:picLocks noChangeAspect="1"/>
          </p:cNvPicPr>
          <p:nvPr/>
        </p:nvPicPr>
        <p:blipFill>
          <a:blip r:embed="rId2">
            <a:alphaModFix amt="75000"/>
          </a:blip>
          <a:srcRect l="834" r="4337" b="2141"/>
          <a:stretch/>
        </p:blipFill>
        <p:spPr>
          <a:xfrm>
            <a:off x="1586" y="1786"/>
            <a:ext cx="12185651" cy="6856214"/>
          </a:xfrm>
          <a:prstGeom prst="rect">
            <a:avLst/>
          </a:prstGeom>
        </p:spPr>
      </p:pic>
      <p:sp>
        <p:nvSpPr>
          <p:cNvPr id="9" name="Titel 2">
            <a:extLst>
              <a:ext uri="{FF2B5EF4-FFF2-40B4-BE49-F238E27FC236}">
                <a16:creationId xmlns:a16="http://schemas.microsoft.com/office/drawing/2014/main" id="{FBB8FB72-B5F3-F35E-C49E-9420CCF7BE9E}"/>
              </a:ext>
            </a:extLst>
          </p:cNvPr>
          <p:cNvSpPr txBox="1">
            <a:spLocks/>
          </p:cNvSpPr>
          <p:nvPr/>
        </p:nvSpPr>
        <p:spPr>
          <a:xfrm>
            <a:off x="361493" y="360799"/>
            <a:ext cx="9554403" cy="611841"/>
          </a:xfrm>
          <a:prstGeom prst="rect">
            <a:avLst/>
          </a:prstGeom>
        </p:spPr>
        <p:txBody>
          <a:bodyPr lIns="0" tIns="0" rIns="0" bIns="0" anchor="t" anchorCtr="0"/>
          <a:lstStyle>
            <a:lvl1pPr algn="l" rtl="0" eaLnBrk="1" fontAlgn="base" hangingPunct="1">
              <a:lnSpc>
                <a:spcPct val="80000"/>
              </a:lnSpc>
              <a:spcBef>
                <a:spcPct val="0"/>
              </a:spcBef>
              <a:spcAft>
                <a:spcPct val="0"/>
              </a:spcAft>
              <a:defRPr sz="3266" kern="1200" baseline="0">
                <a:solidFill>
                  <a:schemeClr val="tx1"/>
                </a:solidFill>
                <a:latin typeface="+mj-lt"/>
                <a:ea typeface="Deutsche Bank Display" panose="020F0403020203030304" pitchFamily="34" charset="0"/>
                <a:cs typeface="Calibri Light" panose="020F0302020204030204" pitchFamily="34" charset="0"/>
              </a:defRPr>
            </a:lvl1pPr>
            <a:lvl2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5pPr>
            <a:lvl6pPr marL="456273" algn="l" rtl="0" eaLnBrk="1" fontAlgn="base" hangingPunct="1">
              <a:lnSpc>
                <a:spcPct val="90000"/>
              </a:lnSpc>
              <a:spcBef>
                <a:spcPct val="0"/>
              </a:spcBef>
              <a:spcAft>
                <a:spcPct val="0"/>
              </a:spcAft>
              <a:tabLst>
                <a:tab pos="665398" algn="l"/>
              </a:tabLst>
              <a:defRPr sz="2351" b="1">
                <a:solidFill>
                  <a:schemeClr val="tx1"/>
                </a:solidFill>
                <a:latin typeface="Arial" charset="0"/>
              </a:defRPr>
            </a:lvl6pPr>
            <a:lvl7pPr marL="912546" algn="l" rtl="0" eaLnBrk="1" fontAlgn="base" hangingPunct="1">
              <a:lnSpc>
                <a:spcPct val="90000"/>
              </a:lnSpc>
              <a:spcBef>
                <a:spcPct val="0"/>
              </a:spcBef>
              <a:spcAft>
                <a:spcPct val="0"/>
              </a:spcAft>
              <a:tabLst>
                <a:tab pos="665398" algn="l"/>
              </a:tabLst>
              <a:defRPr sz="2351" b="1">
                <a:solidFill>
                  <a:schemeClr val="tx1"/>
                </a:solidFill>
                <a:latin typeface="Arial" charset="0"/>
              </a:defRPr>
            </a:lvl7pPr>
            <a:lvl8pPr marL="1368819" algn="l" rtl="0" eaLnBrk="1" fontAlgn="base" hangingPunct="1">
              <a:lnSpc>
                <a:spcPct val="90000"/>
              </a:lnSpc>
              <a:spcBef>
                <a:spcPct val="0"/>
              </a:spcBef>
              <a:spcAft>
                <a:spcPct val="0"/>
              </a:spcAft>
              <a:tabLst>
                <a:tab pos="665398" algn="l"/>
              </a:tabLst>
              <a:defRPr sz="2351" b="1">
                <a:solidFill>
                  <a:schemeClr val="tx1"/>
                </a:solidFill>
                <a:latin typeface="Arial" charset="0"/>
              </a:defRPr>
            </a:lvl8pPr>
            <a:lvl9pPr marL="1825091" algn="l" rtl="0" eaLnBrk="1" fontAlgn="base" hangingPunct="1">
              <a:lnSpc>
                <a:spcPct val="90000"/>
              </a:lnSpc>
              <a:spcBef>
                <a:spcPct val="0"/>
              </a:spcBef>
              <a:spcAft>
                <a:spcPct val="0"/>
              </a:spcAft>
              <a:tabLst>
                <a:tab pos="665398" algn="l"/>
              </a:tabLst>
              <a:defRPr sz="2351" b="1">
                <a:solidFill>
                  <a:schemeClr val="tx1"/>
                </a:solidFill>
                <a:latin typeface="Arial" charset="0"/>
              </a:defRPr>
            </a:lvl9pPr>
          </a:lstStyle>
          <a:p>
            <a:pPr marL="12696">
              <a:lnSpc>
                <a:spcPct val="100000"/>
              </a:lnSpc>
              <a:spcBef>
                <a:spcPts val="645"/>
              </a:spcBef>
            </a:pPr>
            <a:r>
              <a:rPr lang="de-DE" sz="1800" dirty="0"/>
              <a:t>Vertriebschance gestiegene Maximalbeiträge (Direktversicherung):</a:t>
            </a:r>
          </a:p>
          <a:p>
            <a:pPr marL="12696">
              <a:lnSpc>
                <a:spcPct val="100000"/>
              </a:lnSpc>
              <a:spcBef>
                <a:spcPts val="645"/>
              </a:spcBef>
            </a:pPr>
            <a:r>
              <a:rPr lang="de-DE" sz="1400" dirty="0">
                <a:solidFill>
                  <a:srgbClr val="0C2340"/>
                </a:solidFill>
                <a:latin typeface="Calibri Light" panose="020F0302020204030204" pitchFamily="34" charset="0"/>
                <a:ea typeface="+mn-ea"/>
              </a:rPr>
              <a:t>Bestehende Versorgungen werden oft nicht angepasst.   </a:t>
            </a:r>
          </a:p>
        </p:txBody>
      </p:sp>
      <p:graphicFrame>
        <p:nvGraphicFramePr>
          <p:cNvPr id="4" name="Tabelle 3">
            <a:extLst>
              <a:ext uri="{FF2B5EF4-FFF2-40B4-BE49-F238E27FC236}">
                <a16:creationId xmlns:a16="http://schemas.microsoft.com/office/drawing/2014/main" id="{FD8AAEB5-365E-141D-F6CD-F22DE8D3568B}"/>
              </a:ext>
            </a:extLst>
          </p:cNvPr>
          <p:cNvGraphicFramePr>
            <a:graphicFrameLocks noGrp="1"/>
          </p:cNvGraphicFramePr>
          <p:nvPr>
            <p:extLst>
              <p:ext uri="{D42A27DB-BD31-4B8C-83A1-F6EECF244321}">
                <p14:modId xmlns:p14="http://schemas.microsoft.com/office/powerpoint/2010/main" val="385296055"/>
              </p:ext>
            </p:extLst>
          </p:nvPr>
        </p:nvGraphicFramePr>
        <p:xfrm>
          <a:off x="2792896" y="2315817"/>
          <a:ext cx="5765317" cy="2803075"/>
        </p:xfrm>
        <a:graphic>
          <a:graphicData uri="http://schemas.openxmlformats.org/drawingml/2006/table">
            <a:tbl>
              <a:tblPr/>
              <a:tblGrid>
                <a:gridCol w="950980">
                  <a:extLst>
                    <a:ext uri="{9D8B030D-6E8A-4147-A177-3AD203B41FA5}">
                      <a16:colId xmlns:a16="http://schemas.microsoft.com/office/drawing/2014/main" val="1036604952"/>
                    </a:ext>
                  </a:extLst>
                </a:gridCol>
                <a:gridCol w="1575061">
                  <a:extLst>
                    <a:ext uri="{9D8B030D-6E8A-4147-A177-3AD203B41FA5}">
                      <a16:colId xmlns:a16="http://schemas.microsoft.com/office/drawing/2014/main" val="1848624088"/>
                    </a:ext>
                  </a:extLst>
                </a:gridCol>
                <a:gridCol w="1352175">
                  <a:extLst>
                    <a:ext uri="{9D8B030D-6E8A-4147-A177-3AD203B41FA5}">
                      <a16:colId xmlns:a16="http://schemas.microsoft.com/office/drawing/2014/main" val="3579777509"/>
                    </a:ext>
                  </a:extLst>
                </a:gridCol>
                <a:gridCol w="1887101">
                  <a:extLst>
                    <a:ext uri="{9D8B030D-6E8A-4147-A177-3AD203B41FA5}">
                      <a16:colId xmlns:a16="http://schemas.microsoft.com/office/drawing/2014/main" val="1578471750"/>
                    </a:ext>
                  </a:extLst>
                </a:gridCol>
              </a:tblGrid>
              <a:tr h="254825">
                <a:tc>
                  <a:txBody>
                    <a:bodyPr/>
                    <a:lstStyle/>
                    <a:p>
                      <a:pPr algn="ctr" fontAlgn="b">
                        <a:buNone/>
                      </a:pPr>
                      <a:r>
                        <a:rPr lang="de-DE" sz="1200" b="1" i="0" u="none" strike="noStrike" dirty="0">
                          <a:solidFill>
                            <a:srgbClr val="000000"/>
                          </a:solidFill>
                          <a:effectLst/>
                          <a:latin typeface="Aptos Narrow" panose="020B0004020202020204" pitchFamily="34" charset="0"/>
                        </a:rPr>
                        <a:t>Jahr</a:t>
                      </a:r>
                    </a:p>
                  </a:txBody>
                  <a:tcPr marL="9525" marR="9525" marT="9525" marB="0" anchor="b">
                    <a:lnL>
                      <a:noFill/>
                    </a:lnL>
                    <a:lnR>
                      <a:noFill/>
                    </a:lnR>
                    <a:lnT>
                      <a:noFill/>
                    </a:lnT>
                    <a:lnB>
                      <a:noFill/>
                    </a:lnB>
                    <a:noFill/>
                  </a:tcPr>
                </a:tc>
                <a:tc>
                  <a:txBody>
                    <a:bodyPr/>
                    <a:lstStyle/>
                    <a:p>
                      <a:pPr algn="r" fontAlgn="b">
                        <a:buNone/>
                      </a:pPr>
                      <a:r>
                        <a:rPr lang="de-DE" sz="1200" b="1" i="0" u="none" strike="noStrike" dirty="0">
                          <a:solidFill>
                            <a:srgbClr val="000000"/>
                          </a:solidFill>
                          <a:effectLst/>
                          <a:latin typeface="Aptos Narrow" panose="020B0004020202020204" pitchFamily="34" charset="0"/>
                        </a:rPr>
                        <a:t>BBG RV (monatlich)</a:t>
                      </a:r>
                    </a:p>
                  </a:txBody>
                  <a:tcPr marL="9525" marR="9525" marT="9525" marB="0" anchor="b">
                    <a:lnL>
                      <a:noFill/>
                    </a:lnL>
                    <a:lnR>
                      <a:noFill/>
                    </a:lnR>
                    <a:lnT>
                      <a:noFill/>
                    </a:lnT>
                    <a:lnB>
                      <a:noFill/>
                    </a:lnB>
                    <a:noFill/>
                  </a:tcPr>
                </a:tc>
                <a:tc>
                  <a:txBody>
                    <a:bodyPr/>
                    <a:lstStyle/>
                    <a:p>
                      <a:pPr algn="r" fontAlgn="b">
                        <a:buNone/>
                      </a:pPr>
                      <a:r>
                        <a:rPr lang="de-DE" sz="1200" b="1" i="0" u="none" strike="noStrike" dirty="0">
                          <a:solidFill>
                            <a:srgbClr val="000000"/>
                          </a:solidFill>
                          <a:effectLst/>
                          <a:latin typeface="Aptos Narrow" panose="020B0004020202020204" pitchFamily="34" charset="0"/>
                        </a:rPr>
                        <a:t>BBG RV (jährlich)</a:t>
                      </a:r>
                    </a:p>
                  </a:txBody>
                  <a:tcPr marL="9525" marR="9525" marT="9525" marB="0" anchor="b">
                    <a:lnL>
                      <a:noFill/>
                    </a:lnL>
                    <a:lnR>
                      <a:noFill/>
                    </a:lnR>
                    <a:lnT>
                      <a:noFill/>
                    </a:lnT>
                    <a:lnB>
                      <a:noFill/>
                    </a:lnB>
                    <a:noFill/>
                  </a:tcPr>
                </a:tc>
                <a:tc>
                  <a:txBody>
                    <a:bodyPr/>
                    <a:lstStyle/>
                    <a:p>
                      <a:pPr algn="r" fontAlgn="b">
                        <a:buNone/>
                      </a:pPr>
                      <a:r>
                        <a:rPr lang="de-DE" sz="1200" b="1" i="0" u="none" strike="noStrike" dirty="0">
                          <a:solidFill>
                            <a:srgbClr val="000000"/>
                          </a:solidFill>
                          <a:effectLst/>
                          <a:latin typeface="Aptos Narrow" panose="020B0004020202020204" pitchFamily="34" charset="0"/>
                        </a:rPr>
                        <a:t>8 % der BBG (monatlich)</a:t>
                      </a:r>
                    </a:p>
                  </a:txBody>
                  <a:tcPr marL="9525" marR="9525" marT="9525" marB="0" anchor="b">
                    <a:lnL>
                      <a:noFill/>
                    </a:lnL>
                    <a:lnR>
                      <a:noFill/>
                    </a:lnR>
                    <a:lnT>
                      <a:noFill/>
                    </a:lnT>
                    <a:lnB>
                      <a:noFill/>
                    </a:lnB>
                    <a:noFill/>
                  </a:tcPr>
                </a:tc>
                <a:extLst>
                  <a:ext uri="{0D108BD9-81ED-4DB2-BD59-A6C34878D82A}">
                    <a16:rowId xmlns:a16="http://schemas.microsoft.com/office/drawing/2014/main" val="1664762077"/>
                  </a:ext>
                </a:extLst>
              </a:tr>
              <a:tr h="254825">
                <a:tc>
                  <a:txBody>
                    <a:bodyPr/>
                    <a:lstStyle/>
                    <a:p>
                      <a:pPr algn="ctr" fontAlgn="b">
                        <a:buNone/>
                      </a:pPr>
                      <a:r>
                        <a:rPr lang="de-DE" sz="1200" b="0" i="0" u="none" strike="noStrike" dirty="0">
                          <a:solidFill>
                            <a:srgbClr val="000000"/>
                          </a:solidFill>
                          <a:effectLst/>
                          <a:latin typeface="Aptos Narrow" panose="020B0004020202020204" pitchFamily="34" charset="0"/>
                        </a:rPr>
                        <a:t>2017</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6.350 €</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76.200 €</a:t>
                      </a:r>
                    </a:p>
                  </a:txBody>
                  <a:tcPr marL="9525" marR="9525" marT="9525" marB="0" anchor="b">
                    <a:lnL>
                      <a:noFill/>
                    </a:lnL>
                    <a:lnR>
                      <a:noFill/>
                    </a:lnR>
                    <a:lnT>
                      <a:noFill/>
                    </a:lnT>
                    <a:lnB>
                      <a:noFill/>
                    </a:lnB>
                    <a:noFill/>
                  </a:tcPr>
                </a:tc>
                <a:tc>
                  <a:txBody>
                    <a:bodyPr/>
                    <a:lstStyle/>
                    <a:p>
                      <a:pPr algn="r" fontAlgn="b">
                        <a:buNone/>
                      </a:pPr>
                      <a:r>
                        <a:rPr lang="de-DE" sz="1200" b="1" i="0" u="none" strike="noStrike">
                          <a:solidFill>
                            <a:srgbClr val="000000"/>
                          </a:solidFill>
                          <a:effectLst/>
                          <a:latin typeface="Aptos Narrow" panose="020B0004020202020204" pitchFamily="34" charset="0"/>
                        </a:rPr>
                        <a:t>508 €</a:t>
                      </a:r>
                    </a:p>
                  </a:txBody>
                  <a:tcPr marL="9525" marR="9525" marT="9525" marB="0" anchor="b">
                    <a:lnL>
                      <a:noFill/>
                    </a:lnL>
                    <a:lnR>
                      <a:noFill/>
                    </a:lnR>
                    <a:lnT>
                      <a:noFill/>
                    </a:lnT>
                    <a:lnB>
                      <a:noFill/>
                    </a:lnB>
                    <a:noFill/>
                  </a:tcPr>
                </a:tc>
                <a:extLst>
                  <a:ext uri="{0D108BD9-81ED-4DB2-BD59-A6C34878D82A}">
                    <a16:rowId xmlns:a16="http://schemas.microsoft.com/office/drawing/2014/main" val="1146868514"/>
                  </a:ext>
                </a:extLst>
              </a:tr>
              <a:tr h="254825">
                <a:tc>
                  <a:txBody>
                    <a:bodyPr/>
                    <a:lstStyle/>
                    <a:p>
                      <a:pPr algn="ctr" fontAlgn="b">
                        <a:buNone/>
                      </a:pPr>
                      <a:r>
                        <a:rPr lang="de-DE" sz="1200" b="0" i="0" u="none" strike="noStrike" dirty="0">
                          <a:solidFill>
                            <a:srgbClr val="000000"/>
                          </a:solidFill>
                          <a:effectLst/>
                          <a:latin typeface="Aptos Narrow" panose="020B0004020202020204" pitchFamily="34" charset="0"/>
                        </a:rPr>
                        <a:t>2018</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6.500 €</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78.000 €</a:t>
                      </a:r>
                    </a:p>
                  </a:txBody>
                  <a:tcPr marL="9525" marR="9525" marT="9525" marB="0" anchor="b">
                    <a:lnL>
                      <a:noFill/>
                    </a:lnL>
                    <a:lnR>
                      <a:noFill/>
                    </a:lnR>
                    <a:lnT>
                      <a:noFill/>
                    </a:lnT>
                    <a:lnB>
                      <a:noFill/>
                    </a:lnB>
                    <a:noFill/>
                  </a:tcPr>
                </a:tc>
                <a:tc>
                  <a:txBody>
                    <a:bodyPr/>
                    <a:lstStyle/>
                    <a:p>
                      <a:pPr algn="r" fontAlgn="b">
                        <a:buNone/>
                      </a:pPr>
                      <a:r>
                        <a:rPr lang="de-DE" sz="1200" b="1" i="0" u="none" strike="noStrike">
                          <a:solidFill>
                            <a:srgbClr val="000000"/>
                          </a:solidFill>
                          <a:effectLst/>
                          <a:latin typeface="Aptos Narrow" panose="020B0004020202020204" pitchFamily="34" charset="0"/>
                        </a:rPr>
                        <a:t>520 €</a:t>
                      </a:r>
                    </a:p>
                  </a:txBody>
                  <a:tcPr marL="9525" marR="9525" marT="9525" marB="0" anchor="b">
                    <a:lnL>
                      <a:noFill/>
                    </a:lnL>
                    <a:lnR>
                      <a:noFill/>
                    </a:lnR>
                    <a:lnT>
                      <a:noFill/>
                    </a:lnT>
                    <a:lnB>
                      <a:noFill/>
                    </a:lnB>
                    <a:noFill/>
                  </a:tcPr>
                </a:tc>
                <a:extLst>
                  <a:ext uri="{0D108BD9-81ED-4DB2-BD59-A6C34878D82A}">
                    <a16:rowId xmlns:a16="http://schemas.microsoft.com/office/drawing/2014/main" val="3823112144"/>
                  </a:ext>
                </a:extLst>
              </a:tr>
              <a:tr h="254825">
                <a:tc>
                  <a:txBody>
                    <a:bodyPr/>
                    <a:lstStyle/>
                    <a:p>
                      <a:pPr algn="ctr" fontAlgn="b">
                        <a:buNone/>
                      </a:pPr>
                      <a:r>
                        <a:rPr lang="de-DE" sz="1200" b="0" i="0" u="none" strike="noStrike" dirty="0">
                          <a:solidFill>
                            <a:srgbClr val="000000"/>
                          </a:solidFill>
                          <a:effectLst/>
                          <a:latin typeface="Aptos Narrow" panose="020B0004020202020204" pitchFamily="34" charset="0"/>
                        </a:rPr>
                        <a:t>2019</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6.700 €</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80.400 €</a:t>
                      </a:r>
                    </a:p>
                  </a:txBody>
                  <a:tcPr marL="9525" marR="9525" marT="9525" marB="0" anchor="b">
                    <a:lnL>
                      <a:noFill/>
                    </a:lnL>
                    <a:lnR>
                      <a:noFill/>
                    </a:lnR>
                    <a:lnT>
                      <a:noFill/>
                    </a:lnT>
                    <a:lnB>
                      <a:noFill/>
                    </a:lnB>
                    <a:noFill/>
                  </a:tcPr>
                </a:tc>
                <a:tc>
                  <a:txBody>
                    <a:bodyPr/>
                    <a:lstStyle/>
                    <a:p>
                      <a:pPr algn="r" fontAlgn="b">
                        <a:buNone/>
                      </a:pPr>
                      <a:r>
                        <a:rPr lang="de-DE" sz="1200" b="1" i="0" u="none" strike="noStrike">
                          <a:solidFill>
                            <a:srgbClr val="000000"/>
                          </a:solidFill>
                          <a:effectLst/>
                          <a:latin typeface="Aptos Narrow" panose="020B0004020202020204" pitchFamily="34" charset="0"/>
                        </a:rPr>
                        <a:t>536 €</a:t>
                      </a:r>
                    </a:p>
                  </a:txBody>
                  <a:tcPr marL="9525" marR="9525" marT="9525" marB="0" anchor="b">
                    <a:lnL>
                      <a:noFill/>
                    </a:lnL>
                    <a:lnR>
                      <a:noFill/>
                    </a:lnR>
                    <a:lnT>
                      <a:noFill/>
                    </a:lnT>
                    <a:lnB>
                      <a:noFill/>
                    </a:lnB>
                    <a:noFill/>
                  </a:tcPr>
                </a:tc>
                <a:extLst>
                  <a:ext uri="{0D108BD9-81ED-4DB2-BD59-A6C34878D82A}">
                    <a16:rowId xmlns:a16="http://schemas.microsoft.com/office/drawing/2014/main" val="368923924"/>
                  </a:ext>
                </a:extLst>
              </a:tr>
              <a:tr h="254825">
                <a:tc>
                  <a:txBody>
                    <a:bodyPr/>
                    <a:lstStyle/>
                    <a:p>
                      <a:pPr algn="ctr" fontAlgn="b">
                        <a:buNone/>
                      </a:pPr>
                      <a:r>
                        <a:rPr lang="de-DE" sz="1200" b="0" i="0" u="none" strike="noStrike">
                          <a:solidFill>
                            <a:srgbClr val="000000"/>
                          </a:solidFill>
                          <a:effectLst/>
                          <a:latin typeface="Aptos Narrow" panose="020B0004020202020204" pitchFamily="34" charset="0"/>
                        </a:rPr>
                        <a:t>2020</a:t>
                      </a:r>
                    </a:p>
                  </a:txBody>
                  <a:tcPr marL="9525" marR="9525" marT="9525" marB="0" anchor="b">
                    <a:lnL>
                      <a:noFill/>
                    </a:lnL>
                    <a:lnR>
                      <a:noFill/>
                    </a:lnR>
                    <a:lnT>
                      <a:noFill/>
                    </a:lnT>
                    <a:lnB>
                      <a:noFill/>
                    </a:lnB>
                    <a:noFill/>
                  </a:tcPr>
                </a:tc>
                <a:tc>
                  <a:txBody>
                    <a:bodyPr/>
                    <a:lstStyle/>
                    <a:p>
                      <a:pPr algn="r" fontAlgn="b">
                        <a:buNone/>
                      </a:pPr>
                      <a:r>
                        <a:rPr lang="de-DE" sz="1200" b="0" i="0" u="none" strike="noStrike" dirty="0">
                          <a:solidFill>
                            <a:srgbClr val="000000"/>
                          </a:solidFill>
                          <a:effectLst/>
                          <a:latin typeface="Aptos Narrow" panose="020B0004020202020204" pitchFamily="34" charset="0"/>
                        </a:rPr>
                        <a:t>6.900 €</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82.800 €</a:t>
                      </a:r>
                    </a:p>
                  </a:txBody>
                  <a:tcPr marL="9525" marR="9525" marT="9525" marB="0" anchor="b">
                    <a:lnL>
                      <a:noFill/>
                    </a:lnL>
                    <a:lnR>
                      <a:noFill/>
                    </a:lnR>
                    <a:lnT>
                      <a:noFill/>
                    </a:lnT>
                    <a:lnB>
                      <a:noFill/>
                    </a:lnB>
                    <a:noFill/>
                  </a:tcPr>
                </a:tc>
                <a:tc>
                  <a:txBody>
                    <a:bodyPr/>
                    <a:lstStyle/>
                    <a:p>
                      <a:pPr algn="r" fontAlgn="b">
                        <a:buNone/>
                      </a:pPr>
                      <a:r>
                        <a:rPr lang="de-DE" sz="1200" b="1" i="0" u="none" strike="noStrike">
                          <a:solidFill>
                            <a:srgbClr val="000000"/>
                          </a:solidFill>
                          <a:effectLst/>
                          <a:latin typeface="Aptos Narrow" panose="020B0004020202020204" pitchFamily="34" charset="0"/>
                        </a:rPr>
                        <a:t>552 €</a:t>
                      </a:r>
                    </a:p>
                  </a:txBody>
                  <a:tcPr marL="9525" marR="9525" marT="9525" marB="0" anchor="b">
                    <a:lnL>
                      <a:noFill/>
                    </a:lnL>
                    <a:lnR>
                      <a:noFill/>
                    </a:lnR>
                    <a:lnT>
                      <a:noFill/>
                    </a:lnT>
                    <a:lnB>
                      <a:noFill/>
                    </a:lnB>
                    <a:noFill/>
                  </a:tcPr>
                </a:tc>
                <a:extLst>
                  <a:ext uri="{0D108BD9-81ED-4DB2-BD59-A6C34878D82A}">
                    <a16:rowId xmlns:a16="http://schemas.microsoft.com/office/drawing/2014/main" val="3280392768"/>
                  </a:ext>
                </a:extLst>
              </a:tr>
              <a:tr h="254825">
                <a:tc>
                  <a:txBody>
                    <a:bodyPr/>
                    <a:lstStyle/>
                    <a:p>
                      <a:pPr algn="ctr" fontAlgn="b">
                        <a:buNone/>
                      </a:pPr>
                      <a:r>
                        <a:rPr lang="de-DE" sz="1200" b="0" i="0" u="none" strike="noStrike">
                          <a:solidFill>
                            <a:srgbClr val="000000"/>
                          </a:solidFill>
                          <a:effectLst/>
                          <a:latin typeface="Aptos Narrow" panose="020B0004020202020204" pitchFamily="34" charset="0"/>
                        </a:rPr>
                        <a:t>2021</a:t>
                      </a:r>
                    </a:p>
                  </a:txBody>
                  <a:tcPr marL="9525" marR="9525" marT="9525" marB="0" anchor="b">
                    <a:lnL>
                      <a:noFill/>
                    </a:lnL>
                    <a:lnR>
                      <a:noFill/>
                    </a:lnR>
                    <a:lnT>
                      <a:noFill/>
                    </a:lnT>
                    <a:lnB>
                      <a:noFill/>
                    </a:lnB>
                    <a:noFill/>
                  </a:tcPr>
                </a:tc>
                <a:tc>
                  <a:txBody>
                    <a:bodyPr/>
                    <a:lstStyle/>
                    <a:p>
                      <a:pPr algn="r" fontAlgn="b">
                        <a:buNone/>
                      </a:pPr>
                      <a:r>
                        <a:rPr lang="de-DE" sz="1200" b="0" i="0" u="none" strike="noStrike" dirty="0">
                          <a:solidFill>
                            <a:srgbClr val="000000"/>
                          </a:solidFill>
                          <a:effectLst/>
                          <a:latin typeface="Aptos Narrow" panose="020B0004020202020204" pitchFamily="34" charset="0"/>
                        </a:rPr>
                        <a:t>7.100 €</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85.200 €</a:t>
                      </a:r>
                    </a:p>
                  </a:txBody>
                  <a:tcPr marL="9525" marR="9525" marT="9525" marB="0" anchor="b">
                    <a:lnL>
                      <a:noFill/>
                    </a:lnL>
                    <a:lnR>
                      <a:noFill/>
                    </a:lnR>
                    <a:lnT>
                      <a:noFill/>
                    </a:lnT>
                    <a:lnB>
                      <a:noFill/>
                    </a:lnB>
                    <a:noFill/>
                  </a:tcPr>
                </a:tc>
                <a:tc>
                  <a:txBody>
                    <a:bodyPr/>
                    <a:lstStyle/>
                    <a:p>
                      <a:pPr algn="r" fontAlgn="b">
                        <a:buNone/>
                      </a:pPr>
                      <a:r>
                        <a:rPr lang="de-DE" sz="1200" b="1" i="0" u="none" strike="noStrike">
                          <a:solidFill>
                            <a:srgbClr val="000000"/>
                          </a:solidFill>
                          <a:effectLst/>
                          <a:latin typeface="Aptos Narrow" panose="020B0004020202020204" pitchFamily="34" charset="0"/>
                        </a:rPr>
                        <a:t>568 €</a:t>
                      </a:r>
                    </a:p>
                  </a:txBody>
                  <a:tcPr marL="9525" marR="9525" marT="9525" marB="0" anchor="b">
                    <a:lnL>
                      <a:noFill/>
                    </a:lnL>
                    <a:lnR>
                      <a:noFill/>
                    </a:lnR>
                    <a:lnT>
                      <a:noFill/>
                    </a:lnT>
                    <a:lnB>
                      <a:noFill/>
                    </a:lnB>
                    <a:noFill/>
                  </a:tcPr>
                </a:tc>
                <a:extLst>
                  <a:ext uri="{0D108BD9-81ED-4DB2-BD59-A6C34878D82A}">
                    <a16:rowId xmlns:a16="http://schemas.microsoft.com/office/drawing/2014/main" val="1733328067"/>
                  </a:ext>
                </a:extLst>
              </a:tr>
              <a:tr h="254825">
                <a:tc>
                  <a:txBody>
                    <a:bodyPr/>
                    <a:lstStyle/>
                    <a:p>
                      <a:pPr algn="ctr" fontAlgn="b">
                        <a:buNone/>
                      </a:pPr>
                      <a:r>
                        <a:rPr lang="de-DE" sz="1200" b="0" i="0" u="none" strike="noStrike">
                          <a:solidFill>
                            <a:srgbClr val="000000"/>
                          </a:solidFill>
                          <a:effectLst/>
                          <a:latin typeface="Aptos Narrow" panose="020B0004020202020204" pitchFamily="34" charset="0"/>
                        </a:rPr>
                        <a:t>2022</a:t>
                      </a:r>
                    </a:p>
                  </a:txBody>
                  <a:tcPr marL="9525" marR="9525" marT="9525" marB="0" anchor="b">
                    <a:lnL>
                      <a:noFill/>
                    </a:lnL>
                    <a:lnR>
                      <a:noFill/>
                    </a:lnR>
                    <a:lnT>
                      <a:noFill/>
                    </a:lnT>
                    <a:lnB>
                      <a:noFill/>
                    </a:lnB>
                    <a:noFill/>
                  </a:tcPr>
                </a:tc>
                <a:tc>
                  <a:txBody>
                    <a:bodyPr/>
                    <a:lstStyle/>
                    <a:p>
                      <a:pPr algn="r" fontAlgn="b">
                        <a:buNone/>
                      </a:pPr>
                      <a:r>
                        <a:rPr lang="de-DE" sz="1200" b="0" i="0" u="none" strike="noStrike" dirty="0">
                          <a:solidFill>
                            <a:srgbClr val="000000"/>
                          </a:solidFill>
                          <a:effectLst/>
                          <a:latin typeface="Aptos Narrow" panose="020B0004020202020204" pitchFamily="34" charset="0"/>
                        </a:rPr>
                        <a:t>7.050 €</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84.600 €</a:t>
                      </a:r>
                    </a:p>
                  </a:txBody>
                  <a:tcPr marL="9525" marR="9525" marT="9525" marB="0" anchor="b">
                    <a:lnL>
                      <a:noFill/>
                    </a:lnL>
                    <a:lnR>
                      <a:noFill/>
                    </a:lnR>
                    <a:lnT>
                      <a:noFill/>
                    </a:lnT>
                    <a:lnB>
                      <a:noFill/>
                    </a:lnB>
                    <a:noFill/>
                  </a:tcPr>
                </a:tc>
                <a:tc>
                  <a:txBody>
                    <a:bodyPr/>
                    <a:lstStyle/>
                    <a:p>
                      <a:pPr algn="r" fontAlgn="b">
                        <a:buNone/>
                      </a:pPr>
                      <a:r>
                        <a:rPr lang="de-DE" sz="1200" b="1" i="0" u="none" strike="noStrike">
                          <a:solidFill>
                            <a:srgbClr val="000000"/>
                          </a:solidFill>
                          <a:effectLst/>
                          <a:latin typeface="Aptos Narrow" panose="020B0004020202020204" pitchFamily="34" charset="0"/>
                        </a:rPr>
                        <a:t>564 €</a:t>
                      </a:r>
                    </a:p>
                  </a:txBody>
                  <a:tcPr marL="9525" marR="9525" marT="9525" marB="0" anchor="b">
                    <a:lnL>
                      <a:noFill/>
                    </a:lnL>
                    <a:lnR>
                      <a:noFill/>
                    </a:lnR>
                    <a:lnT>
                      <a:noFill/>
                    </a:lnT>
                    <a:lnB>
                      <a:noFill/>
                    </a:lnB>
                    <a:noFill/>
                  </a:tcPr>
                </a:tc>
                <a:extLst>
                  <a:ext uri="{0D108BD9-81ED-4DB2-BD59-A6C34878D82A}">
                    <a16:rowId xmlns:a16="http://schemas.microsoft.com/office/drawing/2014/main" val="728446865"/>
                  </a:ext>
                </a:extLst>
              </a:tr>
              <a:tr h="254825">
                <a:tc>
                  <a:txBody>
                    <a:bodyPr/>
                    <a:lstStyle/>
                    <a:p>
                      <a:pPr algn="ctr" fontAlgn="b">
                        <a:buNone/>
                      </a:pPr>
                      <a:r>
                        <a:rPr lang="de-DE" sz="1200" b="0" i="0" u="none" strike="noStrike">
                          <a:solidFill>
                            <a:srgbClr val="000000"/>
                          </a:solidFill>
                          <a:effectLst/>
                          <a:latin typeface="Aptos Narrow" panose="020B0004020202020204" pitchFamily="34" charset="0"/>
                        </a:rPr>
                        <a:t>2023</a:t>
                      </a:r>
                    </a:p>
                  </a:txBody>
                  <a:tcPr marL="9525" marR="9525" marT="9525" marB="0" anchor="b">
                    <a:lnL>
                      <a:noFill/>
                    </a:lnL>
                    <a:lnR>
                      <a:noFill/>
                    </a:lnR>
                    <a:lnT>
                      <a:noFill/>
                    </a:lnT>
                    <a:lnB>
                      <a:noFill/>
                    </a:lnB>
                    <a:noFill/>
                  </a:tcPr>
                </a:tc>
                <a:tc>
                  <a:txBody>
                    <a:bodyPr/>
                    <a:lstStyle/>
                    <a:p>
                      <a:pPr algn="r" fontAlgn="b">
                        <a:buNone/>
                      </a:pPr>
                      <a:r>
                        <a:rPr lang="de-DE" sz="1200" b="0" i="0" u="none" strike="noStrike" dirty="0">
                          <a:solidFill>
                            <a:srgbClr val="000000"/>
                          </a:solidFill>
                          <a:effectLst/>
                          <a:latin typeface="Aptos Narrow" panose="020B0004020202020204" pitchFamily="34" charset="0"/>
                        </a:rPr>
                        <a:t>7.300 €</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87.600 €</a:t>
                      </a:r>
                    </a:p>
                  </a:txBody>
                  <a:tcPr marL="9525" marR="9525" marT="9525" marB="0" anchor="b">
                    <a:lnL>
                      <a:noFill/>
                    </a:lnL>
                    <a:lnR>
                      <a:noFill/>
                    </a:lnR>
                    <a:lnT>
                      <a:noFill/>
                    </a:lnT>
                    <a:lnB>
                      <a:noFill/>
                    </a:lnB>
                    <a:noFill/>
                  </a:tcPr>
                </a:tc>
                <a:tc>
                  <a:txBody>
                    <a:bodyPr/>
                    <a:lstStyle/>
                    <a:p>
                      <a:pPr algn="r" fontAlgn="b">
                        <a:buNone/>
                      </a:pPr>
                      <a:r>
                        <a:rPr lang="de-DE" sz="1200" b="1" i="0" u="none" strike="noStrike">
                          <a:solidFill>
                            <a:srgbClr val="000000"/>
                          </a:solidFill>
                          <a:effectLst/>
                          <a:latin typeface="Aptos Narrow" panose="020B0004020202020204" pitchFamily="34" charset="0"/>
                        </a:rPr>
                        <a:t>584 €</a:t>
                      </a:r>
                    </a:p>
                  </a:txBody>
                  <a:tcPr marL="9525" marR="9525" marT="9525" marB="0" anchor="b">
                    <a:lnL>
                      <a:noFill/>
                    </a:lnL>
                    <a:lnR>
                      <a:noFill/>
                    </a:lnR>
                    <a:lnT>
                      <a:noFill/>
                    </a:lnT>
                    <a:lnB>
                      <a:noFill/>
                    </a:lnB>
                    <a:noFill/>
                  </a:tcPr>
                </a:tc>
                <a:extLst>
                  <a:ext uri="{0D108BD9-81ED-4DB2-BD59-A6C34878D82A}">
                    <a16:rowId xmlns:a16="http://schemas.microsoft.com/office/drawing/2014/main" val="2245759239"/>
                  </a:ext>
                </a:extLst>
              </a:tr>
              <a:tr h="254825">
                <a:tc>
                  <a:txBody>
                    <a:bodyPr/>
                    <a:lstStyle/>
                    <a:p>
                      <a:pPr algn="ctr" fontAlgn="b">
                        <a:buNone/>
                      </a:pPr>
                      <a:r>
                        <a:rPr lang="de-DE" sz="1200" b="0" i="0" u="none" strike="noStrike">
                          <a:solidFill>
                            <a:srgbClr val="000000"/>
                          </a:solidFill>
                          <a:effectLst/>
                          <a:latin typeface="Aptos Narrow" panose="020B0004020202020204" pitchFamily="34" charset="0"/>
                        </a:rPr>
                        <a:t>2024</a:t>
                      </a:r>
                    </a:p>
                  </a:txBody>
                  <a:tcPr marL="9525" marR="9525" marT="9525" marB="0" anchor="b">
                    <a:lnL>
                      <a:noFill/>
                    </a:lnL>
                    <a:lnR>
                      <a:noFill/>
                    </a:lnR>
                    <a:lnT>
                      <a:noFill/>
                    </a:lnT>
                    <a:lnB>
                      <a:noFill/>
                    </a:lnB>
                    <a:noFill/>
                  </a:tcPr>
                </a:tc>
                <a:tc>
                  <a:txBody>
                    <a:bodyPr/>
                    <a:lstStyle/>
                    <a:p>
                      <a:pPr algn="r" fontAlgn="b">
                        <a:buNone/>
                      </a:pPr>
                      <a:r>
                        <a:rPr lang="de-DE" sz="1200" b="0" i="0" u="none" strike="noStrike" dirty="0">
                          <a:solidFill>
                            <a:srgbClr val="000000"/>
                          </a:solidFill>
                          <a:effectLst/>
                          <a:latin typeface="Aptos Narrow" panose="020B0004020202020204" pitchFamily="34" charset="0"/>
                        </a:rPr>
                        <a:t>7.550 €</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90.600 €</a:t>
                      </a:r>
                    </a:p>
                  </a:txBody>
                  <a:tcPr marL="9525" marR="9525" marT="9525" marB="0" anchor="b">
                    <a:lnL>
                      <a:noFill/>
                    </a:lnL>
                    <a:lnR>
                      <a:noFill/>
                    </a:lnR>
                    <a:lnT>
                      <a:noFill/>
                    </a:lnT>
                    <a:lnB>
                      <a:noFill/>
                    </a:lnB>
                    <a:noFill/>
                  </a:tcPr>
                </a:tc>
                <a:tc>
                  <a:txBody>
                    <a:bodyPr/>
                    <a:lstStyle/>
                    <a:p>
                      <a:pPr algn="r" fontAlgn="b">
                        <a:buNone/>
                      </a:pPr>
                      <a:r>
                        <a:rPr lang="de-DE" sz="1200" b="1" i="0" u="none" strike="noStrike">
                          <a:solidFill>
                            <a:srgbClr val="000000"/>
                          </a:solidFill>
                          <a:effectLst/>
                          <a:latin typeface="Aptos Narrow" panose="020B0004020202020204" pitchFamily="34" charset="0"/>
                        </a:rPr>
                        <a:t>604 €</a:t>
                      </a:r>
                    </a:p>
                  </a:txBody>
                  <a:tcPr marL="9525" marR="9525" marT="9525" marB="0" anchor="b">
                    <a:lnL>
                      <a:noFill/>
                    </a:lnL>
                    <a:lnR>
                      <a:noFill/>
                    </a:lnR>
                    <a:lnT>
                      <a:noFill/>
                    </a:lnT>
                    <a:lnB>
                      <a:noFill/>
                    </a:lnB>
                    <a:noFill/>
                  </a:tcPr>
                </a:tc>
                <a:extLst>
                  <a:ext uri="{0D108BD9-81ED-4DB2-BD59-A6C34878D82A}">
                    <a16:rowId xmlns:a16="http://schemas.microsoft.com/office/drawing/2014/main" val="937951035"/>
                  </a:ext>
                </a:extLst>
              </a:tr>
              <a:tr h="254825">
                <a:tc>
                  <a:txBody>
                    <a:bodyPr/>
                    <a:lstStyle/>
                    <a:p>
                      <a:pPr algn="ctr" fontAlgn="b">
                        <a:buNone/>
                      </a:pPr>
                      <a:r>
                        <a:rPr lang="de-DE" sz="1200" b="0" i="0" u="none" strike="noStrike" dirty="0">
                          <a:solidFill>
                            <a:srgbClr val="000000"/>
                          </a:solidFill>
                          <a:effectLst/>
                          <a:latin typeface="Aptos Narrow" panose="020B0004020202020204" pitchFamily="34" charset="0"/>
                        </a:rPr>
                        <a:t>2025</a:t>
                      </a:r>
                    </a:p>
                  </a:txBody>
                  <a:tcPr marL="9525" marR="9525" marT="9525" marB="0" anchor="b">
                    <a:lnL>
                      <a:noFill/>
                    </a:lnL>
                    <a:lnR>
                      <a:noFill/>
                    </a:lnR>
                    <a:lnT>
                      <a:noFill/>
                    </a:lnT>
                    <a:lnB>
                      <a:noFill/>
                    </a:lnB>
                    <a:noFill/>
                  </a:tcPr>
                </a:tc>
                <a:tc>
                  <a:txBody>
                    <a:bodyPr/>
                    <a:lstStyle/>
                    <a:p>
                      <a:pPr algn="r" fontAlgn="b">
                        <a:buNone/>
                      </a:pPr>
                      <a:r>
                        <a:rPr lang="de-DE" sz="1200" b="0" i="0" u="none" strike="noStrike" dirty="0">
                          <a:solidFill>
                            <a:srgbClr val="000000"/>
                          </a:solidFill>
                          <a:effectLst/>
                          <a:latin typeface="Aptos Narrow" panose="020B0004020202020204" pitchFamily="34" charset="0"/>
                        </a:rPr>
                        <a:t>8.050 €</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96.600 €</a:t>
                      </a:r>
                    </a:p>
                  </a:txBody>
                  <a:tcPr marL="9525" marR="9525" marT="9525" marB="0" anchor="b">
                    <a:lnL>
                      <a:noFill/>
                    </a:lnL>
                    <a:lnR>
                      <a:noFill/>
                    </a:lnR>
                    <a:lnT>
                      <a:noFill/>
                    </a:lnT>
                    <a:lnB>
                      <a:noFill/>
                    </a:lnB>
                    <a:noFill/>
                  </a:tcPr>
                </a:tc>
                <a:tc>
                  <a:txBody>
                    <a:bodyPr/>
                    <a:lstStyle/>
                    <a:p>
                      <a:pPr algn="r" fontAlgn="b">
                        <a:buNone/>
                      </a:pPr>
                      <a:r>
                        <a:rPr lang="de-DE" sz="1200" b="1" i="0" u="none" strike="noStrike">
                          <a:solidFill>
                            <a:srgbClr val="000000"/>
                          </a:solidFill>
                          <a:effectLst/>
                          <a:latin typeface="Aptos Narrow" panose="020B0004020202020204" pitchFamily="34" charset="0"/>
                        </a:rPr>
                        <a:t>644 €</a:t>
                      </a:r>
                    </a:p>
                  </a:txBody>
                  <a:tcPr marL="9525" marR="9525" marT="9525" marB="0" anchor="b">
                    <a:lnL>
                      <a:noFill/>
                    </a:lnL>
                    <a:lnR>
                      <a:noFill/>
                    </a:lnR>
                    <a:lnT>
                      <a:noFill/>
                    </a:lnT>
                    <a:lnB>
                      <a:noFill/>
                    </a:lnB>
                    <a:noFill/>
                  </a:tcPr>
                </a:tc>
                <a:extLst>
                  <a:ext uri="{0D108BD9-81ED-4DB2-BD59-A6C34878D82A}">
                    <a16:rowId xmlns:a16="http://schemas.microsoft.com/office/drawing/2014/main" val="653540712"/>
                  </a:ext>
                </a:extLst>
              </a:tr>
              <a:tr h="254825">
                <a:tc>
                  <a:txBody>
                    <a:bodyPr/>
                    <a:lstStyle/>
                    <a:p>
                      <a:pPr algn="ctr" fontAlgn="b">
                        <a:buNone/>
                      </a:pPr>
                      <a:r>
                        <a:rPr lang="de-DE" sz="1200" b="0" i="0" u="none" strike="noStrike" dirty="0">
                          <a:solidFill>
                            <a:srgbClr val="000000"/>
                          </a:solidFill>
                          <a:effectLst/>
                          <a:latin typeface="Aptos Narrow" panose="020B0004020202020204" pitchFamily="34" charset="0"/>
                        </a:rPr>
                        <a:t>2026</a:t>
                      </a:r>
                    </a:p>
                  </a:txBody>
                  <a:tcPr marL="9525" marR="9525" marT="9525" marB="0" anchor="b">
                    <a:lnL>
                      <a:noFill/>
                    </a:lnL>
                    <a:lnR>
                      <a:noFill/>
                    </a:lnR>
                    <a:lnT>
                      <a:noFill/>
                    </a:lnT>
                    <a:lnB>
                      <a:noFill/>
                    </a:lnB>
                    <a:noFill/>
                  </a:tcPr>
                </a:tc>
                <a:tc>
                  <a:txBody>
                    <a:bodyPr/>
                    <a:lstStyle/>
                    <a:p>
                      <a:pPr algn="r" fontAlgn="b">
                        <a:buNone/>
                      </a:pPr>
                      <a:r>
                        <a:rPr lang="de-DE" sz="1200" b="0" i="0" u="none" strike="noStrike" dirty="0">
                          <a:solidFill>
                            <a:srgbClr val="000000"/>
                          </a:solidFill>
                          <a:effectLst/>
                          <a:latin typeface="Aptos Narrow" panose="020B0004020202020204" pitchFamily="34" charset="0"/>
                        </a:rPr>
                        <a:t>8.450 €</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101.400 €</a:t>
                      </a:r>
                    </a:p>
                  </a:txBody>
                  <a:tcPr marL="9525" marR="9525" marT="9525" marB="0" anchor="b">
                    <a:lnL>
                      <a:noFill/>
                    </a:lnL>
                    <a:lnR>
                      <a:noFill/>
                    </a:lnR>
                    <a:lnT>
                      <a:noFill/>
                    </a:lnT>
                    <a:lnB>
                      <a:noFill/>
                    </a:lnB>
                    <a:noFill/>
                  </a:tcPr>
                </a:tc>
                <a:tc>
                  <a:txBody>
                    <a:bodyPr/>
                    <a:lstStyle/>
                    <a:p>
                      <a:pPr algn="r" fontAlgn="b">
                        <a:buNone/>
                      </a:pPr>
                      <a:r>
                        <a:rPr lang="de-DE" sz="1200" b="1" i="0" u="none" strike="noStrike" dirty="0">
                          <a:solidFill>
                            <a:srgbClr val="000000"/>
                          </a:solidFill>
                          <a:effectLst/>
                          <a:latin typeface="Aptos Narrow" panose="020B0004020202020204" pitchFamily="34" charset="0"/>
                        </a:rPr>
                        <a:t>676 €</a:t>
                      </a:r>
                    </a:p>
                  </a:txBody>
                  <a:tcPr marL="9525" marR="9525" marT="9525" marB="0" anchor="b">
                    <a:lnL>
                      <a:noFill/>
                    </a:lnL>
                    <a:lnR>
                      <a:noFill/>
                    </a:lnR>
                    <a:lnT>
                      <a:noFill/>
                    </a:lnT>
                    <a:lnB>
                      <a:noFill/>
                    </a:lnB>
                    <a:noFill/>
                  </a:tcPr>
                </a:tc>
                <a:extLst>
                  <a:ext uri="{0D108BD9-81ED-4DB2-BD59-A6C34878D82A}">
                    <a16:rowId xmlns:a16="http://schemas.microsoft.com/office/drawing/2014/main" val="3171498650"/>
                  </a:ext>
                </a:extLst>
              </a:tr>
            </a:tbl>
          </a:graphicData>
        </a:graphic>
      </p:graphicFrame>
      <p:sp>
        <p:nvSpPr>
          <p:cNvPr id="5" name="Nach links gekrümmter Pfeil 4">
            <a:extLst>
              <a:ext uri="{FF2B5EF4-FFF2-40B4-BE49-F238E27FC236}">
                <a16:creationId xmlns:a16="http://schemas.microsoft.com/office/drawing/2014/main" id="{CBF592A3-D600-E284-0C31-FD17EA78367D}"/>
              </a:ext>
            </a:extLst>
          </p:cNvPr>
          <p:cNvSpPr/>
          <p:nvPr/>
        </p:nvSpPr>
        <p:spPr bwMode="auto">
          <a:xfrm>
            <a:off x="8558212" y="2613991"/>
            <a:ext cx="1023109" cy="2663687"/>
          </a:xfrm>
          <a:prstGeom prst="curvedLeftArrow">
            <a:avLst/>
          </a:prstGeom>
          <a:solidFill>
            <a:srgbClr val="00B050"/>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de-DE" dirty="0">
                <a:solidFill>
                  <a:srgbClr val="00B050"/>
                </a:solidFill>
                <a:latin typeface="+mn-lt"/>
              </a:rPr>
              <a:t>+ 33 %</a:t>
            </a:r>
          </a:p>
        </p:txBody>
      </p:sp>
    </p:spTree>
    <p:extLst>
      <p:ext uri="{BB962C8B-B14F-4D97-AF65-F5344CB8AC3E}">
        <p14:creationId xmlns:p14="http://schemas.microsoft.com/office/powerpoint/2010/main" val="367608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176FF-FA90-F038-39BA-E279551F6E6F}"/>
            </a:ext>
          </a:extLst>
        </p:cNvPr>
        <p:cNvGrpSpPr/>
        <p:nvPr/>
      </p:nvGrpSpPr>
      <p:grpSpPr>
        <a:xfrm>
          <a:off x="0" y="0"/>
          <a:ext cx="0" cy="0"/>
          <a:chOff x="0" y="0"/>
          <a:chExt cx="0" cy="0"/>
        </a:xfrm>
      </p:grpSpPr>
      <p:pic>
        <p:nvPicPr>
          <p:cNvPr id="17" name="Grafik 16" descr="Ein Bild, das Computer, peripher, Büroausstattung, Eingabegerät enthält.&#10;&#10;Automatisch generierte Beschreibung">
            <a:extLst>
              <a:ext uri="{FF2B5EF4-FFF2-40B4-BE49-F238E27FC236}">
                <a16:creationId xmlns:a16="http://schemas.microsoft.com/office/drawing/2014/main" id="{C672588A-7BF7-A316-D10C-278C57AFC7D6}"/>
              </a:ext>
            </a:extLst>
          </p:cNvPr>
          <p:cNvPicPr>
            <a:picLocks noChangeAspect="1"/>
          </p:cNvPicPr>
          <p:nvPr/>
        </p:nvPicPr>
        <p:blipFill>
          <a:blip r:embed="rId2">
            <a:alphaModFix amt="75000"/>
          </a:blip>
          <a:srcRect l="834" r="4337" b="2141"/>
          <a:stretch/>
        </p:blipFill>
        <p:spPr>
          <a:xfrm>
            <a:off x="1586" y="1786"/>
            <a:ext cx="12185651" cy="6856214"/>
          </a:xfrm>
          <a:prstGeom prst="rect">
            <a:avLst/>
          </a:prstGeom>
        </p:spPr>
      </p:pic>
      <p:sp>
        <p:nvSpPr>
          <p:cNvPr id="9" name="Titel 2">
            <a:extLst>
              <a:ext uri="{FF2B5EF4-FFF2-40B4-BE49-F238E27FC236}">
                <a16:creationId xmlns:a16="http://schemas.microsoft.com/office/drawing/2014/main" id="{D4CFE0CA-1439-22D0-EAD1-AB351A02CF9C}"/>
              </a:ext>
            </a:extLst>
          </p:cNvPr>
          <p:cNvSpPr txBox="1">
            <a:spLocks/>
          </p:cNvSpPr>
          <p:nvPr/>
        </p:nvSpPr>
        <p:spPr>
          <a:xfrm>
            <a:off x="361493" y="360799"/>
            <a:ext cx="9554403" cy="611841"/>
          </a:xfrm>
          <a:prstGeom prst="rect">
            <a:avLst/>
          </a:prstGeom>
        </p:spPr>
        <p:txBody>
          <a:bodyPr lIns="0" tIns="0" rIns="0" bIns="0" anchor="t" anchorCtr="0"/>
          <a:lstStyle>
            <a:lvl1pPr algn="l" rtl="0" eaLnBrk="1" fontAlgn="base" hangingPunct="1">
              <a:lnSpc>
                <a:spcPct val="80000"/>
              </a:lnSpc>
              <a:spcBef>
                <a:spcPct val="0"/>
              </a:spcBef>
              <a:spcAft>
                <a:spcPct val="0"/>
              </a:spcAft>
              <a:defRPr sz="3266" kern="1200" baseline="0">
                <a:solidFill>
                  <a:schemeClr val="tx1"/>
                </a:solidFill>
                <a:latin typeface="+mj-lt"/>
                <a:ea typeface="Deutsche Bank Display" panose="020F0403020203030304" pitchFamily="34" charset="0"/>
                <a:cs typeface="Calibri Light" panose="020F0302020204030204" pitchFamily="34" charset="0"/>
              </a:defRPr>
            </a:lvl1pPr>
            <a:lvl2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5pPr>
            <a:lvl6pPr marL="456273" algn="l" rtl="0" eaLnBrk="1" fontAlgn="base" hangingPunct="1">
              <a:lnSpc>
                <a:spcPct val="90000"/>
              </a:lnSpc>
              <a:spcBef>
                <a:spcPct val="0"/>
              </a:spcBef>
              <a:spcAft>
                <a:spcPct val="0"/>
              </a:spcAft>
              <a:tabLst>
                <a:tab pos="665398" algn="l"/>
              </a:tabLst>
              <a:defRPr sz="2351" b="1">
                <a:solidFill>
                  <a:schemeClr val="tx1"/>
                </a:solidFill>
                <a:latin typeface="Arial" charset="0"/>
              </a:defRPr>
            </a:lvl6pPr>
            <a:lvl7pPr marL="912546" algn="l" rtl="0" eaLnBrk="1" fontAlgn="base" hangingPunct="1">
              <a:lnSpc>
                <a:spcPct val="90000"/>
              </a:lnSpc>
              <a:spcBef>
                <a:spcPct val="0"/>
              </a:spcBef>
              <a:spcAft>
                <a:spcPct val="0"/>
              </a:spcAft>
              <a:tabLst>
                <a:tab pos="665398" algn="l"/>
              </a:tabLst>
              <a:defRPr sz="2351" b="1">
                <a:solidFill>
                  <a:schemeClr val="tx1"/>
                </a:solidFill>
                <a:latin typeface="Arial" charset="0"/>
              </a:defRPr>
            </a:lvl7pPr>
            <a:lvl8pPr marL="1368819" algn="l" rtl="0" eaLnBrk="1" fontAlgn="base" hangingPunct="1">
              <a:lnSpc>
                <a:spcPct val="90000"/>
              </a:lnSpc>
              <a:spcBef>
                <a:spcPct val="0"/>
              </a:spcBef>
              <a:spcAft>
                <a:spcPct val="0"/>
              </a:spcAft>
              <a:tabLst>
                <a:tab pos="665398" algn="l"/>
              </a:tabLst>
              <a:defRPr sz="2351" b="1">
                <a:solidFill>
                  <a:schemeClr val="tx1"/>
                </a:solidFill>
                <a:latin typeface="Arial" charset="0"/>
              </a:defRPr>
            </a:lvl8pPr>
            <a:lvl9pPr marL="1825091" algn="l" rtl="0" eaLnBrk="1" fontAlgn="base" hangingPunct="1">
              <a:lnSpc>
                <a:spcPct val="90000"/>
              </a:lnSpc>
              <a:spcBef>
                <a:spcPct val="0"/>
              </a:spcBef>
              <a:spcAft>
                <a:spcPct val="0"/>
              </a:spcAft>
              <a:tabLst>
                <a:tab pos="665398" algn="l"/>
              </a:tabLst>
              <a:defRPr sz="2351" b="1">
                <a:solidFill>
                  <a:schemeClr val="tx1"/>
                </a:solidFill>
                <a:latin typeface="Arial" charset="0"/>
              </a:defRPr>
            </a:lvl9pPr>
          </a:lstStyle>
          <a:p>
            <a:pPr marL="12696">
              <a:lnSpc>
                <a:spcPct val="100000"/>
              </a:lnSpc>
              <a:spcBef>
                <a:spcPts val="645"/>
              </a:spcBef>
            </a:pPr>
            <a:r>
              <a:rPr lang="de-DE" sz="1800" dirty="0"/>
              <a:t>Vertriebschance “Fremdvergleich“:</a:t>
            </a:r>
          </a:p>
          <a:p>
            <a:pPr marL="12696">
              <a:lnSpc>
                <a:spcPct val="100000"/>
              </a:lnSpc>
              <a:spcBef>
                <a:spcPts val="645"/>
              </a:spcBef>
            </a:pPr>
            <a:r>
              <a:rPr lang="de-DE" sz="1400" dirty="0">
                <a:solidFill>
                  <a:srgbClr val="0C2340"/>
                </a:solidFill>
                <a:latin typeface="Calibri Light" panose="020F0302020204030204" pitchFamily="34" charset="0"/>
                <a:ea typeface="+mn-ea"/>
              </a:rPr>
              <a:t>GGF haben oftmals eine schlechtere Versorgung als Angestellte.   </a:t>
            </a:r>
          </a:p>
        </p:txBody>
      </p:sp>
      <p:sp>
        <p:nvSpPr>
          <p:cNvPr id="8" name="Textfeld 7">
            <a:extLst>
              <a:ext uri="{FF2B5EF4-FFF2-40B4-BE49-F238E27FC236}">
                <a16:creationId xmlns:a16="http://schemas.microsoft.com/office/drawing/2014/main" id="{86E8CB3F-332D-286B-0E22-EB06E6F8D039}"/>
              </a:ext>
            </a:extLst>
          </p:cNvPr>
          <p:cNvSpPr txBox="1"/>
          <p:nvPr/>
        </p:nvSpPr>
        <p:spPr bwMode="ltGray">
          <a:xfrm>
            <a:off x="2201586" y="5176848"/>
            <a:ext cx="5481362" cy="738664"/>
          </a:xfrm>
          <a:prstGeom prst="rect">
            <a:avLst/>
          </a:prstGeom>
          <a:noFill/>
          <a:ln w="6350">
            <a:noFill/>
            <a:miter lim="800000"/>
            <a:headEnd/>
            <a:tailEnd/>
          </a:ln>
        </p:spPr>
        <p:txBody>
          <a:bodyPr wrap="square">
            <a:spAutoFit/>
          </a:bodyPr>
          <a:lstStyle/>
          <a:p>
            <a:r>
              <a:rPr lang="de-DE" sz="1400" b="1" dirty="0">
                <a:solidFill>
                  <a:srgbClr val="00B050"/>
                </a:solidFill>
                <a:latin typeface="Calibri Light" panose="020F0302020204030204" pitchFamily="34" charset="0"/>
                <a:cs typeface="Calibri Light" panose="020F0302020204030204" pitchFamily="34" charset="0"/>
              </a:rPr>
              <a:t>„Das theoretische Niveau eines vollständigen GRV-Beitrags lässt sich vollständig durch eine Kombination aus Direktversicherung und firmenfinanzierter Unterstützungskasse kapitalgedeckt abbilden.“</a:t>
            </a:r>
          </a:p>
        </p:txBody>
      </p:sp>
      <p:pic>
        <p:nvPicPr>
          <p:cNvPr id="11" name="Grafik 10" descr="Ein Bild, das Text, Screenshot, Schrift, Algebra enthält.&#10;&#10;KI-generierte Inhalte können fehlerhaft sein.">
            <a:extLst>
              <a:ext uri="{FF2B5EF4-FFF2-40B4-BE49-F238E27FC236}">
                <a16:creationId xmlns:a16="http://schemas.microsoft.com/office/drawing/2014/main" id="{EDDC65A7-56C5-2460-7612-A0790A20CC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1586" y="1136650"/>
            <a:ext cx="5481362" cy="1911019"/>
          </a:xfrm>
          <a:prstGeom prst="rect">
            <a:avLst/>
          </a:prstGeom>
        </p:spPr>
      </p:pic>
      <p:pic>
        <p:nvPicPr>
          <p:cNvPr id="13" name="Grafik 12" descr="Ein Bild, das Text, Screenshot, Schrift, Algebra enthält.&#10;&#10;KI-generierte Inhalte können fehlerhaft sein.">
            <a:extLst>
              <a:ext uri="{FF2B5EF4-FFF2-40B4-BE49-F238E27FC236}">
                <a16:creationId xmlns:a16="http://schemas.microsoft.com/office/drawing/2014/main" id="{B228C85D-B2C5-9B16-9216-4D79CA8CD0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1587" y="3347367"/>
            <a:ext cx="5481362" cy="1625657"/>
          </a:xfrm>
          <a:prstGeom prst="rect">
            <a:avLst/>
          </a:prstGeom>
        </p:spPr>
      </p:pic>
    </p:spTree>
    <p:extLst>
      <p:ext uri="{BB962C8B-B14F-4D97-AF65-F5344CB8AC3E}">
        <p14:creationId xmlns:p14="http://schemas.microsoft.com/office/powerpoint/2010/main" val="988797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EF62E-18E6-8074-1709-981E601A6916}"/>
            </a:ext>
          </a:extLst>
        </p:cNvPr>
        <p:cNvGrpSpPr/>
        <p:nvPr/>
      </p:nvGrpSpPr>
      <p:grpSpPr>
        <a:xfrm>
          <a:off x="0" y="0"/>
          <a:ext cx="0" cy="0"/>
          <a:chOff x="0" y="0"/>
          <a:chExt cx="0" cy="0"/>
        </a:xfrm>
      </p:grpSpPr>
      <p:pic>
        <p:nvPicPr>
          <p:cNvPr id="17" name="Grafik 16" descr="Ein Bild, das Computer, peripher, Büroausstattung, Eingabegerät enthält.&#10;&#10;Automatisch generierte Beschreibung">
            <a:extLst>
              <a:ext uri="{FF2B5EF4-FFF2-40B4-BE49-F238E27FC236}">
                <a16:creationId xmlns:a16="http://schemas.microsoft.com/office/drawing/2014/main" id="{D406A013-729F-CC8A-01EA-254C6B5FF222}"/>
              </a:ext>
            </a:extLst>
          </p:cNvPr>
          <p:cNvPicPr>
            <a:picLocks noChangeAspect="1"/>
          </p:cNvPicPr>
          <p:nvPr/>
        </p:nvPicPr>
        <p:blipFill>
          <a:blip r:embed="rId2">
            <a:alphaModFix amt="75000"/>
          </a:blip>
          <a:srcRect l="834" r="4337" b="2141"/>
          <a:stretch/>
        </p:blipFill>
        <p:spPr>
          <a:xfrm>
            <a:off x="1588" y="893"/>
            <a:ext cx="12185651" cy="6856214"/>
          </a:xfrm>
          <a:prstGeom prst="rect">
            <a:avLst/>
          </a:prstGeom>
        </p:spPr>
      </p:pic>
      <p:sp>
        <p:nvSpPr>
          <p:cNvPr id="9" name="Titel 2">
            <a:extLst>
              <a:ext uri="{FF2B5EF4-FFF2-40B4-BE49-F238E27FC236}">
                <a16:creationId xmlns:a16="http://schemas.microsoft.com/office/drawing/2014/main" id="{4528E70C-C262-6B18-0DCA-2BF2C49CFFA6}"/>
              </a:ext>
            </a:extLst>
          </p:cNvPr>
          <p:cNvSpPr txBox="1">
            <a:spLocks/>
          </p:cNvSpPr>
          <p:nvPr/>
        </p:nvSpPr>
        <p:spPr>
          <a:xfrm>
            <a:off x="361494" y="360799"/>
            <a:ext cx="8259848" cy="611841"/>
          </a:xfrm>
          <a:prstGeom prst="rect">
            <a:avLst/>
          </a:prstGeom>
        </p:spPr>
        <p:txBody>
          <a:bodyPr lIns="0" tIns="0" rIns="0" bIns="0" anchor="t" anchorCtr="0"/>
          <a:lstStyle>
            <a:lvl1pPr algn="l" rtl="0" eaLnBrk="1" fontAlgn="base" hangingPunct="1">
              <a:lnSpc>
                <a:spcPct val="80000"/>
              </a:lnSpc>
              <a:spcBef>
                <a:spcPct val="0"/>
              </a:spcBef>
              <a:spcAft>
                <a:spcPct val="0"/>
              </a:spcAft>
              <a:defRPr sz="3266" kern="1200" baseline="0">
                <a:solidFill>
                  <a:schemeClr val="tx1"/>
                </a:solidFill>
                <a:latin typeface="+mj-lt"/>
                <a:ea typeface="Deutsche Bank Display" panose="020F0403020203030304" pitchFamily="34" charset="0"/>
                <a:cs typeface="Calibri Light" panose="020F0302020204030204" pitchFamily="34" charset="0"/>
              </a:defRPr>
            </a:lvl1pPr>
            <a:lvl2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5pPr>
            <a:lvl6pPr marL="456273" algn="l" rtl="0" eaLnBrk="1" fontAlgn="base" hangingPunct="1">
              <a:lnSpc>
                <a:spcPct val="90000"/>
              </a:lnSpc>
              <a:spcBef>
                <a:spcPct val="0"/>
              </a:spcBef>
              <a:spcAft>
                <a:spcPct val="0"/>
              </a:spcAft>
              <a:tabLst>
                <a:tab pos="665398" algn="l"/>
              </a:tabLst>
              <a:defRPr sz="2351" b="1">
                <a:solidFill>
                  <a:schemeClr val="tx1"/>
                </a:solidFill>
                <a:latin typeface="Arial" charset="0"/>
              </a:defRPr>
            </a:lvl6pPr>
            <a:lvl7pPr marL="912546" algn="l" rtl="0" eaLnBrk="1" fontAlgn="base" hangingPunct="1">
              <a:lnSpc>
                <a:spcPct val="90000"/>
              </a:lnSpc>
              <a:spcBef>
                <a:spcPct val="0"/>
              </a:spcBef>
              <a:spcAft>
                <a:spcPct val="0"/>
              </a:spcAft>
              <a:tabLst>
                <a:tab pos="665398" algn="l"/>
              </a:tabLst>
              <a:defRPr sz="2351" b="1">
                <a:solidFill>
                  <a:schemeClr val="tx1"/>
                </a:solidFill>
                <a:latin typeface="Arial" charset="0"/>
              </a:defRPr>
            </a:lvl7pPr>
            <a:lvl8pPr marL="1368819" algn="l" rtl="0" eaLnBrk="1" fontAlgn="base" hangingPunct="1">
              <a:lnSpc>
                <a:spcPct val="90000"/>
              </a:lnSpc>
              <a:spcBef>
                <a:spcPct val="0"/>
              </a:spcBef>
              <a:spcAft>
                <a:spcPct val="0"/>
              </a:spcAft>
              <a:tabLst>
                <a:tab pos="665398" algn="l"/>
              </a:tabLst>
              <a:defRPr sz="2351" b="1">
                <a:solidFill>
                  <a:schemeClr val="tx1"/>
                </a:solidFill>
                <a:latin typeface="Arial" charset="0"/>
              </a:defRPr>
            </a:lvl8pPr>
            <a:lvl9pPr marL="1825091" algn="l" rtl="0" eaLnBrk="1" fontAlgn="base" hangingPunct="1">
              <a:lnSpc>
                <a:spcPct val="90000"/>
              </a:lnSpc>
              <a:spcBef>
                <a:spcPct val="0"/>
              </a:spcBef>
              <a:spcAft>
                <a:spcPct val="0"/>
              </a:spcAft>
              <a:tabLst>
                <a:tab pos="665398" algn="l"/>
              </a:tabLst>
              <a:defRPr sz="2351" b="1">
                <a:solidFill>
                  <a:schemeClr val="tx1"/>
                </a:solidFill>
                <a:latin typeface="Arial" charset="0"/>
              </a:defRPr>
            </a:lvl9pPr>
          </a:lstStyle>
          <a:p>
            <a:pPr marL="12696">
              <a:lnSpc>
                <a:spcPct val="100000"/>
              </a:lnSpc>
              <a:spcBef>
                <a:spcPts val="645"/>
              </a:spcBef>
            </a:pPr>
            <a:r>
              <a:rPr lang="de-DE" sz="2099" dirty="0">
                <a:solidFill>
                  <a:srgbClr val="0C2340"/>
                </a:solidFill>
                <a:latin typeface="Calibri Light" panose="020F0302020204030204" pitchFamily="34" charset="0"/>
              </a:rPr>
              <a:t>Vertriebschance </a:t>
            </a:r>
            <a:r>
              <a:rPr lang="de-DE" sz="2099" dirty="0" err="1">
                <a:solidFill>
                  <a:srgbClr val="0C2340"/>
                </a:solidFill>
                <a:latin typeface="Calibri Light" panose="020F0302020204030204" pitchFamily="34" charset="0"/>
              </a:rPr>
              <a:t>ETF´s</a:t>
            </a:r>
            <a:r>
              <a:rPr lang="de-DE" sz="2099" dirty="0">
                <a:solidFill>
                  <a:srgbClr val="0C2340"/>
                </a:solidFill>
                <a:latin typeface="Calibri Light" panose="020F0302020204030204" pitchFamily="34" charset="0"/>
              </a:rPr>
              <a:t> in den Depotmodellen – </a:t>
            </a:r>
          </a:p>
          <a:p>
            <a:pPr marL="12696">
              <a:lnSpc>
                <a:spcPct val="100000"/>
              </a:lnSpc>
              <a:spcBef>
                <a:spcPts val="645"/>
              </a:spcBef>
            </a:pPr>
            <a:r>
              <a:rPr lang="de-DE" sz="1400" dirty="0">
                <a:solidFill>
                  <a:srgbClr val="0C2340"/>
                </a:solidFill>
                <a:latin typeface="Calibri Light" panose="020F0302020204030204" pitchFamily="34" charset="0"/>
                <a:ea typeface="+mn-ea"/>
              </a:rPr>
              <a:t>Mehr als nur ein Trend</a:t>
            </a:r>
          </a:p>
          <a:p>
            <a:pPr marL="12696">
              <a:lnSpc>
                <a:spcPct val="100000"/>
              </a:lnSpc>
              <a:spcBef>
                <a:spcPts val="645"/>
              </a:spcBef>
            </a:pPr>
            <a:r>
              <a:rPr lang="de-DE" sz="2099" dirty="0">
                <a:solidFill>
                  <a:srgbClr val="0C2340"/>
                </a:solidFill>
                <a:latin typeface="Calibri Light" panose="020F0302020204030204" pitchFamily="34" charset="0"/>
              </a:rPr>
              <a:t>   </a:t>
            </a:r>
          </a:p>
        </p:txBody>
      </p:sp>
      <p:sp>
        <p:nvSpPr>
          <p:cNvPr id="10" name="Textfeld 9">
            <a:extLst>
              <a:ext uri="{FF2B5EF4-FFF2-40B4-BE49-F238E27FC236}">
                <a16:creationId xmlns:a16="http://schemas.microsoft.com/office/drawing/2014/main" id="{36F24067-B89F-7BAF-A6A9-E0321B0E6F58}"/>
              </a:ext>
            </a:extLst>
          </p:cNvPr>
          <p:cNvSpPr txBox="1"/>
          <p:nvPr/>
        </p:nvSpPr>
        <p:spPr bwMode="ltGray">
          <a:xfrm>
            <a:off x="288591" y="1055634"/>
            <a:ext cx="9420617" cy="738472"/>
          </a:xfrm>
          <a:prstGeom prst="rect">
            <a:avLst/>
          </a:prstGeom>
          <a:noFill/>
          <a:ln w="6350">
            <a:noFill/>
            <a:miter lim="800000"/>
            <a:headEnd/>
            <a:tailEnd/>
          </a:ln>
        </p:spPr>
        <p:txBody>
          <a:bodyPr wrap="square">
            <a:spAutoFit/>
          </a:bodyPr>
          <a:lstStyle/>
          <a:p>
            <a:r>
              <a:rPr lang="de-DE" sz="1400" dirty="0">
                <a:solidFill>
                  <a:srgbClr val="0C2340"/>
                </a:solidFill>
                <a:latin typeface="Calibri Light" panose="020F0302020204030204" pitchFamily="34" charset="0"/>
                <a:cs typeface="Calibri Light" panose="020F0302020204030204" pitchFamily="34" charset="0"/>
              </a:rPr>
              <a:t>Als Geldanlage fürs Alter liegen Exchange </a:t>
            </a:r>
            <a:r>
              <a:rPr lang="de-DE" sz="1400" dirty="0" err="1">
                <a:solidFill>
                  <a:srgbClr val="0C2340"/>
                </a:solidFill>
                <a:latin typeface="Calibri Light" panose="020F0302020204030204" pitchFamily="34" charset="0"/>
                <a:cs typeface="Calibri Light" panose="020F0302020204030204" pitchFamily="34" charset="0"/>
              </a:rPr>
              <a:t>Traded</a:t>
            </a:r>
            <a:r>
              <a:rPr lang="de-DE" sz="1400" dirty="0">
                <a:solidFill>
                  <a:srgbClr val="0C2340"/>
                </a:solidFill>
                <a:latin typeface="Calibri Light" panose="020F0302020204030204" pitchFamily="34" charset="0"/>
                <a:cs typeface="Calibri Light" panose="020F0302020204030204" pitchFamily="34" charset="0"/>
              </a:rPr>
              <a:t> Funds (ETFs) im Trend. Der Kundenmonitor Assekuranz beobachtet seit 2017 ein deutlich zunehmendes Interesse an diesen passiven Investmentfonds, die durch niedrigere Fondskosten eine bessere Performance versprechen</a:t>
            </a:r>
          </a:p>
        </p:txBody>
      </p:sp>
      <p:pic>
        <p:nvPicPr>
          <p:cNvPr id="3" name="Grafik 2" descr="Ein Bild, das Text, Screenshot, Schrift, Zahl enthält.&#10;&#10;KI-generierte Inhalte können fehlerhaft sein.">
            <a:extLst>
              <a:ext uri="{FF2B5EF4-FFF2-40B4-BE49-F238E27FC236}">
                <a16:creationId xmlns:a16="http://schemas.microsoft.com/office/drawing/2014/main" id="{F05E4EE8-ED5A-93D4-7012-E4036251AC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4443" y="1723085"/>
            <a:ext cx="6466899" cy="4774116"/>
          </a:xfrm>
          <a:prstGeom prst="rect">
            <a:avLst/>
          </a:prstGeom>
        </p:spPr>
      </p:pic>
      <p:sp>
        <p:nvSpPr>
          <p:cNvPr id="5" name="Rechteck 4">
            <a:extLst>
              <a:ext uri="{FF2B5EF4-FFF2-40B4-BE49-F238E27FC236}">
                <a16:creationId xmlns:a16="http://schemas.microsoft.com/office/drawing/2014/main" id="{7DDD7BC2-187A-1795-EC20-853899C21DA1}"/>
              </a:ext>
            </a:extLst>
          </p:cNvPr>
          <p:cNvSpPr/>
          <p:nvPr/>
        </p:nvSpPr>
        <p:spPr bwMode="auto">
          <a:xfrm>
            <a:off x="4840357" y="5138530"/>
            <a:ext cx="3508513" cy="715618"/>
          </a:xfrm>
          <a:prstGeom prst="rect">
            <a:avLst/>
          </a:prstGeom>
          <a:noFill/>
          <a:ln w="47625">
            <a:solidFill>
              <a:srgbClr val="00B050"/>
            </a:solidFill>
            <a:miter lim="800000"/>
            <a:headEnd/>
            <a:tailEnd/>
          </a:ln>
        </p:spPr>
        <p:txBody>
          <a:bodyPr lIns="100913" tIns="50457" rIns="100913" bIns="50457" rtlCol="0" anchor="ctr">
            <a:noAutofit/>
          </a:bodyPr>
          <a:lstStyle/>
          <a:p>
            <a:pPr algn="ctr" defTabSz="963613" eaLnBrk="0" hangingPunct="0">
              <a:tabLst>
                <a:tab pos="1257300" algn="l"/>
              </a:tabLst>
            </a:pPr>
            <a:endParaRPr lang="de-DE" dirty="0" err="1">
              <a:solidFill>
                <a:srgbClr val="FFFFFF"/>
              </a:solidFill>
              <a:latin typeface="+mn-lt"/>
            </a:endParaRPr>
          </a:p>
        </p:txBody>
      </p:sp>
      <p:sp>
        <p:nvSpPr>
          <p:cNvPr id="6" name="Rechteck 5">
            <a:extLst>
              <a:ext uri="{FF2B5EF4-FFF2-40B4-BE49-F238E27FC236}">
                <a16:creationId xmlns:a16="http://schemas.microsoft.com/office/drawing/2014/main" id="{A654311F-CC84-A69E-24A5-7F5B5181E160}"/>
              </a:ext>
            </a:extLst>
          </p:cNvPr>
          <p:cNvSpPr/>
          <p:nvPr/>
        </p:nvSpPr>
        <p:spPr bwMode="auto">
          <a:xfrm>
            <a:off x="2239618" y="3779859"/>
            <a:ext cx="6109252" cy="454211"/>
          </a:xfrm>
          <a:prstGeom prst="rect">
            <a:avLst/>
          </a:prstGeom>
          <a:noFill/>
          <a:ln w="47625">
            <a:solidFill>
              <a:srgbClr val="00B050"/>
            </a:solidFill>
            <a:miter lim="800000"/>
            <a:headEnd/>
            <a:tailEnd/>
          </a:ln>
        </p:spPr>
        <p:txBody>
          <a:bodyPr lIns="100913" tIns="50457" rIns="100913" bIns="50457" rtlCol="0" anchor="ctr">
            <a:noAutofit/>
          </a:bodyPr>
          <a:lstStyle/>
          <a:p>
            <a:pPr algn="ctr" defTabSz="963613" eaLnBrk="0" hangingPunct="0">
              <a:tabLst>
                <a:tab pos="1257300" algn="l"/>
              </a:tabLst>
            </a:pPr>
            <a:endParaRPr lang="de-DE" dirty="0" err="1">
              <a:solidFill>
                <a:srgbClr val="FFFFFF"/>
              </a:solidFill>
              <a:latin typeface="+mn-lt"/>
            </a:endParaRPr>
          </a:p>
        </p:txBody>
      </p:sp>
    </p:spTree>
    <p:extLst>
      <p:ext uri="{BB962C8B-B14F-4D97-AF65-F5344CB8AC3E}">
        <p14:creationId xmlns:p14="http://schemas.microsoft.com/office/powerpoint/2010/main" val="1612844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fik 16" descr="Ein Bild, das Computer, peripher, Büroausstattung, Eingabegerät enthält.&#10;&#10;Automatisch generierte Beschreibung">
            <a:extLst>
              <a:ext uri="{FF2B5EF4-FFF2-40B4-BE49-F238E27FC236}">
                <a16:creationId xmlns:a16="http://schemas.microsoft.com/office/drawing/2014/main" id="{37305A61-1BDC-8058-9444-4EB51438B8B3}"/>
              </a:ext>
            </a:extLst>
          </p:cNvPr>
          <p:cNvPicPr>
            <a:picLocks noChangeAspect="1"/>
          </p:cNvPicPr>
          <p:nvPr/>
        </p:nvPicPr>
        <p:blipFill>
          <a:blip r:embed="rId2">
            <a:alphaModFix amt="75000"/>
          </a:blip>
          <a:srcRect l="834" r="4337" b="2141"/>
          <a:stretch/>
        </p:blipFill>
        <p:spPr>
          <a:xfrm>
            <a:off x="1588" y="893"/>
            <a:ext cx="12185651" cy="6856214"/>
          </a:xfrm>
          <a:prstGeom prst="rect">
            <a:avLst/>
          </a:prstGeom>
        </p:spPr>
      </p:pic>
      <p:sp>
        <p:nvSpPr>
          <p:cNvPr id="9" name="Titel 2">
            <a:extLst>
              <a:ext uri="{FF2B5EF4-FFF2-40B4-BE49-F238E27FC236}">
                <a16:creationId xmlns:a16="http://schemas.microsoft.com/office/drawing/2014/main" id="{4C4EE73C-ECAE-10A5-1272-D3B48D84417C}"/>
              </a:ext>
            </a:extLst>
          </p:cNvPr>
          <p:cNvSpPr txBox="1">
            <a:spLocks/>
          </p:cNvSpPr>
          <p:nvPr/>
        </p:nvSpPr>
        <p:spPr>
          <a:xfrm>
            <a:off x="361493" y="360799"/>
            <a:ext cx="9554403" cy="611841"/>
          </a:xfrm>
          <a:prstGeom prst="rect">
            <a:avLst/>
          </a:prstGeom>
        </p:spPr>
        <p:txBody>
          <a:bodyPr lIns="0" tIns="0" rIns="0" bIns="0" anchor="t" anchorCtr="0"/>
          <a:lstStyle>
            <a:lvl1pPr algn="l" rtl="0" eaLnBrk="1" fontAlgn="base" hangingPunct="1">
              <a:lnSpc>
                <a:spcPct val="80000"/>
              </a:lnSpc>
              <a:spcBef>
                <a:spcPct val="0"/>
              </a:spcBef>
              <a:spcAft>
                <a:spcPct val="0"/>
              </a:spcAft>
              <a:defRPr sz="3266" kern="1200" baseline="0">
                <a:solidFill>
                  <a:schemeClr val="tx1"/>
                </a:solidFill>
                <a:latin typeface="+mj-lt"/>
                <a:ea typeface="Deutsche Bank Display" panose="020F0403020203030304" pitchFamily="34" charset="0"/>
                <a:cs typeface="Calibri Light" panose="020F0302020204030204" pitchFamily="34" charset="0"/>
              </a:defRPr>
            </a:lvl1pPr>
            <a:lvl2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5pPr>
            <a:lvl6pPr marL="456273" algn="l" rtl="0" eaLnBrk="1" fontAlgn="base" hangingPunct="1">
              <a:lnSpc>
                <a:spcPct val="90000"/>
              </a:lnSpc>
              <a:spcBef>
                <a:spcPct val="0"/>
              </a:spcBef>
              <a:spcAft>
                <a:spcPct val="0"/>
              </a:spcAft>
              <a:tabLst>
                <a:tab pos="665398" algn="l"/>
              </a:tabLst>
              <a:defRPr sz="2351" b="1">
                <a:solidFill>
                  <a:schemeClr val="tx1"/>
                </a:solidFill>
                <a:latin typeface="Arial" charset="0"/>
              </a:defRPr>
            </a:lvl6pPr>
            <a:lvl7pPr marL="912546" algn="l" rtl="0" eaLnBrk="1" fontAlgn="base" hangingPunct="1">
              <a:lnSpc>
                <a:spcPct val="90000"/>
              </a:lnSpc>
              <a:spcBef>
                <a:spcPct val="0"/>
              </a:spcBef>
              <a:spcAft>
                <a:spcPct val="0"/>
              </a:spcAft>
              <a:tabLst>
                <a:tab pos="665398" algn="l"/>
              </a:tabLst>
              <a:defRPr sz="2351" b="1">
                <a:solidFill>
                  <a:schemeClr val="tx1"/>
                </a:solidFill>
                <a:latin typeface="Arial" charset="0"/>
              </a:defRPr>
            </a:lvl7pPr>
            <a:lvl8pPr marL="1368819" algn="l" rtl="0" eaLnBrk="1" fontAlgn="base" hangingPunct="1">
              <a:lnSpc>
                <a:spcPct val="90000"/>
              </a:lnSpc>
              <a:spcBef>
                <a:spcPct val="0"/>
              </a:spcBef>
              <a:spcAft>
                <a:spcPct val="0"/>
              </a:spcAft>
              <a:tabLst>
                <a:tab pos="665398" algn="l"/>
              </a:tabLst>
              <a:defRPr sz="2351" b="1">
                <a:solidFill>
                  <a:schemeClr val="tx1"/>
                </a:solidFill>
                <a:latin typeface="Arial" charset="0"/>
              </a:defRPr>
            </a:lvl8pPr>
            <a:lvl9pPr marL="1825091" algn="l" rtl="0" eaLnBrk="1" fontAlgn="base" hangingPunct="1">
              <a:lnSpc>
                <a:spcPct val="90000"/>
              </a:lnSpc>
              <a:spcBef>
                <a:spcPct val="0"/>
              </a:spcBef>
              <a:spcAft>
                <a:spcPct val="0"/>
              </a:spcAft>
              <a:tabLst>
                <a:tab pos="665398" algn="l"/>
              </a:tabLst>
              <a:defRPr sz="2351" b="1">
                <a:solidFill>
                  <a:schemeClr val="tx1"/>
                </a:solidFill>
                <a:latin typeface="Arial" charset="0"/>
              </a:defRPr>
            </a:lvl9pPr>
          </a:lstStyle>
          <a:p>
            <a:pPr marL="12696">
              <a:lnSpc>
                <a:spcPct val="100000"/>
              </a:lnSpc>
              <a:spcBef>
                <a:spcPts val="645"/>
              </a:spcBef>
            </a:pPr>
            <a:r>
              <a:rPr lang="de-DE" sz="2099" dirty="0">
                <a:solidFill>
                  <a:srgbClr val="0C2340"/>
                </a:solidFill>
                <a:latin typeface="Calibri Light" panose="020F0302020204030204" pitchFamily="34" charset="0"/>
              </a:rPr>
              <a:t>Vertriebschance Kapitalmarktaffinität:</a:t>
            </a:r>
          </a:p>
          <a:p>
            <a:pPr marL="12696">
              <a:lnSpc>
                <a:spcPct val="100000"/>
              </a:lnSpc>
              <a:spcBef>
                <a:spcPts val="645"/>
              </a:spcBef>
            </a:pPr>
            <a:r>
              <a:rPr lang="de-DE" sz="1400" dirty="0">
                <a:solidFill>
                  <a:srgbClr val="0C2340"/>
                </a:solidFill>
                <a:latin typeface="Calibri Light" panose="020F0302020204030204" pitchFamily="34" charset="0"/>
                <a:ea typeface="+mn-ea"/>
              </a:rPr>
              <a:t>Kombination aus Direktversicherung </a:t>
            </a:r>
            <a:r>
              <a:rPr lang="de-DE" sz="1400" dirty="0" err="1">
                <a:solidFill>
                  <a:srgbClr val="0C2340"/>
                </a:solidFill>
                <a:latin typeface="Calibri Light" panose="020F0302020204030204" pitchFamily="34" charset="0"/>
                <a:ea typeface="+mn-ea"/>
              </a:rPr>
              <a:t>FondsRente</a:t>
            </a:r>
            <a:r>
              <a:rPr lang="de-DE" sz="1400" dirty="0">
                <a:solidFill>
                  <a:srgbClr val="0C2340"/>
                </a:solidFill>
                <a:latin typeface="Calibri Light" panose="020F0302020204030204" pitchFamily="34" charset="0"/>
                <a:ea typeface="+mn-ea"/>
              </a:rPr>
              <a:t> ohne Garantie und U-Kasse mit 70 % Teilkapitalschutz</a:t>
            </a:r>
          </a:p>
          <a:p>
            <a:pPr marL="12696">
              <a:lnSpc>
                <a:spcPct val="100000"/>
              </a:lnSpc>
              <a:spcBef>
                <a:spcPts val="645"/>
              </a:spcBef>
            </a:pPr>
            <a:r>
              <a:rPr lang="de-DE" sz="1400" dirty="0">
                <a:solidFill>
                  <a:srgbClr val="0C2340"/>
                </a:solidFill>
                <a:latin typeface="Calibri Light" panose="020F0302020204030204" pitchFamily="34" charset="0"/>
                <a:ea typeface="+mn-ea"/>
              </a:rPr>
              <a:t>   </a:t>
            </a:r>
          </a:p>
        </p:txBody>
      </p:sp>
      <p:pic>
        <p:nvPicPr>
          <p:cNvPr id="4" name="Grafik 3" descr="Ein Bild, das Text, Diagramm, Reihe, Screenshot enthält.&#10;&#10;KI-generierte Inhalte können fehlerhaft sein.">
            <a:extLst>
              <a:ext uri="{FF2B5EF4-FFF2-40B4-BE49-F238E27FC236}">
                <a16:creationId xmlns:a16="http://schemas.microsoft.com/office/drawing/2014/main" id="{DE7AFAEB-A339-192F-A841-55FAA0685C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492" y="1332546"/>
            <a:ext cx="8871407" cy="5140441"/>
          </a:xfrm>
          <a:prstGeom prst="rect">
            <a:avLst/>
          </a:prstGeom>
        </p:spPr>
      </p:pic>
    </p:spTree>
    <p:extLst>
      <p:ext uri="{BB962C8B-B14F-4D97-AF65-F5344CB8AC3E}">
        <p14:creationId xmlns:p14="http://schemas.microsoft.com/office/powerpoint/2010/main" val="2354151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C247-3760-49C4-596F-F606F5E883C7}"/>
            </a:ext>
          </a:extLst>
        </p:cNvPr>
        <p:cNvGrpSpPr/>
        <p:nvPr/>
      </p:nvGrpSpPr>
      <p:grpSpPr>
        <a:xfrm>
          <a:off x="0" y="0"/>
          <a:ext cx="0" cy="0"/>
          <a:chOff x="0" y="0"/>
          <a:chExt cx="0" cy="0"/>
        </a:xfrm>
      </p:grpSpPr>
      <p:pic>
        <p:nvPicPr>
          <p:cNvPr id="27" name="Grafik 26" descr="Ein Bild, das Computer, peripher, Büroausstattung, Eingabegerät enthält.&#10;&#10;Automatisch generierte Beschreibung">
            <a:extLst>
              <a:ext uri="{FF2B5EF4-FFF2-40B4-BE49-F238E27FC236}">
                <a16:creationId xmlns:a16="http://schemas.microsoft.com/office/drawing/2014/main" id="{DF518E86-3FC1-E2F1-6A81-8360334CF13F}"/>
              </a:ext>
            </a:extLst>
          </p:cNvPr>
          <p:cNvPicPr>
            <a:picLocks noChangeAspect="1"/>
          </p:cNvPicPr>
          <p:nvPr/>
        </p:nvPicPr>
        <p:blipFill>
          <a:blip r:embed="rId3">
            <a:alphaModFix amt="75000"/>
          </a:blip>
          <a:srcRect l="834" r="4337" b="2141"/>
          <a:stretch/>
        </p:blipFill>
        <p:spPr>
          <a:xfrm>
            <a:off x="0" y="0"/>
            <a:ext cx="12188825" cy="6858000"/>
          </a:xfrm>
          <a:prstGeom prst="rect">
            <a:avLst/>
          </a:prstGeom>
        </p:spPr>
      </p:pic>
      <p:sp>
        <p:nvSpPr>
          <p:cNvPr id="3" name="Foliennummernplatzhalter 1">
            <a:extLst>
              <a:ext uri="{FF2B5EF4-FFF2-40B4-BE49-F238E27FC236}">
                <a16:creationId xmlns:a16="http://schemas.microsoft.com/office/drawing/2014/main" id="{394412B8-3E2F-ADCB-10D2-C872BB5AD1E3}"/>
              </a:ext>
            </a:extLst>
          </p:cNvPr>
          <p:cNvSpPr txBox="1">
            <a:spLocks/>
          </p:cNvSpPr>
          <p:nvPr/>
        </p:nvSpPr>
        <p:spPr>
          <a:xfrm>
            <a:off x="11412000" y="6552000"/>
            <a:ext cx="360000" cy="306000"/>
          </a:xfrm>
          <a:prstGeom prst="rect">
            <a:avLst/>
          </a:prstGeom>
        </p:spPr>
        <p:txBody>
          <a:bodyPr lIns="0" tIns="0" rIns="0" bIns="0"/>
          <a:lstStyle>
            <a:defPPr>
              <a:defRPr lang="en-US"/>
            </a:defPPr>
            <a:lvl1pPr algn="l" defTabSz="914414" rtl="0" fontAlgn="base">
              <a:spcBef>
                <a:spcPct val="0"/>
              </a:spcBef>
              <a:spcAft>
                <a:spcPct val="0"/>
              </a:spcAft>
              <a:defRPr sz="1814" kern="1200">
                <a:solidFill>
                  <a:schemeClr val="tx1"/>
                </a:solidFill>
                <a:latin typeface="Arial" charset="0"/>
                <a:ea typeface="+mn-ea"/>
                <a:cs typeface="Arial" charset="0"/>
              </a:defRPr>
            </a:lvl1pPr>
            <a:lvl2pPr marL="456487" indent="-41761" algn="l" defTabSz="914414" rtl="0" fontAlgn="base">
              <a:spcBef>
                <a:spcPct val="0"/>
              </a:spcBef>
              <a:spcAft>
                <a:spcPct val="0"/>
              </a:spcAft>
              <a:defRPr sz="1814" kern="1200">
                <a:solidFill>
                  <a:schemeClr val="tx1"/>
                </a:solidFill>
                <a:latin typeface="Arial" charset="0"/>
                <a:ea typeface="+mn-ea"/>
                <a:cs typeface="Arial" charset="0"/>
              </a:defRPr>
            </a:lvl2pPr>
            <a:lvl3pPr marL="914414" indent="-84962" algn="l" defTabSz="914414" rtl="0" fontAlgn="base">
              <a:spcBef>
                <a:spcPct val="0"/>
              </a:spcBef>
              <a:spcAft>
                <a:spcPct val="0"/>
              </a:spcAft>
              <a:defRPr sz="1814" kern="1200">
                <a:solidFill>
                  <a:schemeClr val="tx1"/>
                </a:solidFill>
                <a:latin typeface="Arial" charset="0"/>
                <a:ea typeface="+mn-ea"/>
                <a:cs typeface="Arial" charset="0"/>
              </a:defRPr>
            </a:lvl3pPr>
            <a:lvl4pPr marL="1372341" indent="-128162" algn="l" defTabSz="914414" rtl="0" fontAlgn="base">
              <a:spcBef>
                <a:spcPct val="0"/>
              </a:spcBef>
              <a:spcAft>
                <a:spcPct val="0"/>
              </a:spcAft>
              <a:defRPr sz="1814" kern="1200">
                <a:solidFill>
                  <a:schemeClr val="tx1"/>
                </a:solidFill>
                <a:latin typeface="Arial" charset="0"/>
                <a:ea typeface="+mn-ea"/>
                <a:cs typeface="Arial" charset="0"/>
              </a:defRPr>
            </a:lvl4pPr>
            <a:lvl5pPr marL="1830267" indent="-171363" algn="l" defTabSz="914414" rtl="0" fontAlgn="base">
              <a:spcBef>
                <a:spcPct val="0"/>
              </a:spcBef>
              <a:spcAft>
                <a:spcPct val="0"/>
              </a:spcAft>
              <a:defRPr sz="1814" kern="1200">
                <a:solidFill>
                  <a:schemeClr val="tx1"/>
                </a:solidFill>
                <a:latin typeface="Arial" charset="0"/>
                <a:ea typeface="+mn-ea"/>
                <a:cs typeface="Arial" charset="0"/>
              </a:defRPr>
            </a:lvl5pPr>
            <a:lvl6pPr marL="2073631" algn="l" defTabSz="829452" rtl="0" eaLnBrk="1" latinLnBrk="0" hangingPunct="1">
              <a:defRPr sz="1814" kern="1200">
                <a:solidFill>
                  <a:schemeClr val="tx1"/>
                </a:solidFill>
                <a:latin typeface="Arial" charset="0"/>
                <a:ea typeface="+mn-ea"/>
                <a:cs typeface="Arial" charset="0"/>
              </a:defRPr>
            </a:lvl6pPr>
            <a:lvl7pPr marL="2488357" algn="l" defTabSz="829452" rtl="0" eaLnBrk="1" latinLnBrk="0" hangingPunct="1">
              <a:defRPr sz="1814" kern="1200">
                <a:solidFill>
                  <a:schemeClr val="tx1"/>
                </a:solidFill>
                <a:latin typeface="Arial" charset="0"/>
                <a:ea typeface="+mn-ea"/>
                <a:cs typeface="Arial" charset="0"/>
              </a:defRPr>
            </a:lvl7pPr>
            <a:lvl8pPr marL="2903083" algn="l" defTabSz="829452" rtl="0" eaLnBrk="1" latinLnBrk="0" hangingPunct="1">
              <a:defRPr sz="1814" kern="1200">
                <a:solidFill>
                  <a:schemeClr val="tx1"/>
                </a:solidFill>
                <a:latin typeface="Arial" charset="0"/>
                <a:ea typeface="+mn-ea"/>
                <a:cs typeface="Arial" charset="0"/>
              </a:defRPr>
            </a:lvl8pPr>
            <a:lvl9pPr marL="3317809" algn="l" defTabSz="829452" rtl="0" eaLnBrk="1" latinLnBrk="0" hangingPunct="1">
              <a:defRPr sz="1814" kern="1200">
                <a:solidFill>
                  <a:schemeClr val="tx1"/>
                </a:solidFill>
                <a:latin typeface="Arial" charset="0"/>
                <a:ea typeface="+mn-ea"/>
                <a:cs typeface="Arial" charset="0"/>
              </a:defRPr>
            </a:lvl9pPr>
          </a:lstStyle>
          <a:p>
            <a:pPr algn="r">
              <a:defRPr/>
            </a:pPr>
            <a:fld id="{2F3E20D8-87FE-CB44-8098-7B77BDE06CF2}" type="slidenum">
              <a:rPr lang="en-US" sz="1000" b="1">
                <a:solidFill>
                  <a:srgbClr val="0C2340"/>
                </a:solidFill>
                <a:latin typeface="Calibri" panose="020F0502020204030204" pitchFamily="34" charset="0"/>
                <a:cs typeface="Calibri" panose="020F0502020204030204" pitchFamily="34" charset="0"/>
              </a:rPr>
              <a:pPr algn="r">
                <a:defRPr/>
              </a:pPr>
              <a:t>6</a:t>
            </a:fld>
            <a:endParaRPr lang="en-US" sz="1000" b="1">
              <a:solidFill>
                <a:srgbClr val="0C2340"/>
              </a:solidFill>
              <a:latin typeface="Calibri" panose="020F0502020204030204" pitchFamily="34" charset="0"/>
              <a:cs typeface="Calibri" panose="020F0502020204030204" pitchFamily="34" charset="0"/>
            </a:endParaRPr>
          </a:p>
        </p:txBody>
      </p:sp>
      <p:sp>
        <p:nvSpPr>
          <p:cNvPr id="4" name="Rechteck 3">
            <a:extLst>
              <a:ext uri="{FF2B5EF4-FFF2-40B4-BE49-F238E27FC236}">
                <a16:creationId xmlns:a16="http://schemas.microsoft.com/office/drawing/2014/main" id="{CA0D9F1A-3E7E-8BAC-8B6F-3279DD534DBA}"/>
              </a:ext>
            </a:extLst>
          </p:cNvPr>
          <p:cNvSpPr/>
          <p:nvPr/>
        </p:nvSpPr>
        <p:spPr>
          <a:xfrm>
            <a:off x="360000" y="6570000"/>
            <a:ext cx="2880000" cy="288000"/>
          </a:xfrm>
          <a:prstGeom prst="rect">
            <a:avLst/>
          </a:prstGeom>
        </p:spPr>
        <p:txBody>
          <a:bodyPr wrap="square" lIns="0" tIns="0" rIns="0" bIns="0">
            <a:noAutofit/>
          </a:bodyPr>
          <a:lstStyle/>
          <a:p>
            <a:pPr>
              <a:lnSpc>
                <a:spcPts val="998"/>
              </a:lnSpc>
              <a:defRPr/>
            </a:pPr>
            <a:r>
              <a:rPr lang="en-US" sz="800" b="1">
                <a:solidFill>
                  <a:srgbClr val="0018A8"/>
                </a:solidFill>
                <a:ea typeface="Deutsche Bank Text" panose="020B0503020202030204" pitchFamily="34" charset="0"/>
                <a:cs typeface="Arial" panose="020B0604020202020204" pitchFamily="34" charset="0"/>
              </a:rPr>
              <a:t>Deutsche Bank AG     </a:t>
            </a:r>
            <a:r>
              <a:rPr lang="en-US" sz="800" b="1">
                <a:solidFill>
                  <a:srgbClr val="0C2340"/>
                </a:solidFill>
                <a:ea typeface="Deutsche Bank Text" panose="020B0503020202030204" pitchFamily="34" charset="0"/>
                <a:cs typeface="Arial" panose="020B0604020202020204" pitchFamily="34" charset="0"/>
              </a:rPr>
              <a:t>Betriebliche Altersversorgung</a:t>
            </a:r>
          </a:p>
        </p:txBody>
      </p:sp>
      <p:pic>
        <p:nvPicPr>
          <p:cNvPr id="5" name="Grafik 4">
            <a:extLst>
              <a:ext uri="{FF2B5EF4-FFF2-40B4-BE49-F238E27FC236}">
                <a16:creationId xmlns:a16="http://schemas.microsoft.com/office/drawing/2014/main" id="{A9A4234E-5C84-6B42-E708-9F5C8FD88785}"/>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232000" y="360000"/>
            <a:ext cx="540000" cy="540000"/>
          </a:xfrm>
          <a:prstGeom prst="rect">
            <a:avLst/>
          </a:prstGeom>
        </p:spPr>
      </p:pic>
      <p:sp>
        <p:nvSpPr>
          <p:cNvPr id="7" name="Titel 2">
            <a:extLst>
              <a:ext uri="{FF2B5EF4-FFF2-40B4-BE49-F238E27FC236}">
                <a16:creationId xmlns:a16="http://schemas.microsoft.com/office/drawing/2014/main" id="{3740B56D-89E2-CB99-B8A7-CDB0B7476A1F}"/>
              </a:ext>
            </a:extLst>
          </p:cNvPr>
          <p:cNvSpPr txBox="1">
            <a:spLocks/>
          </p:cNvSpPr>
          <p:nvPr/>
        </p:nvSpPr>
        <p:spPr>
          <a:xfrm>
            <a:off x="360000" y="360000"/>
            <a:ext cx="8262000" cy="612000"/>
          </a:xfrm>
          <a:prstGeom prst="rect">
            <a:avLst/>
          </a:prstGeom>
        </p:spPr>
        <p:txBody>
          <a:bodyPr lIns="0" tIns="0" rIns="0" bIns="0" anchor="t" anchorCtr="0"/>
          <a:lstStyle>
            <a:lvl1pPr algn="l" rtl="0" eaLnBrk="1" fontAlgn="base" hangingPunct="1">
              <a:lnSpc>
                <a:spcPct val="80000"/>
              </a:lnSpc>
              <a:spcBef>
                <a:spcPct val="0"/>
              </a:spcBef>
              <a:spcAft>
                <a:spcPct val="0"/>
              </a:spcAft>
              <a:defRPr sz="3266" kern="1200" baseline="0">
                <a:solidFill>
                  <a:schemeClr val="tx1"/>
                </a:solidFill>
                <a:latin typeface="+mj-lt"/>
                <a:ea typeface="Deutsche Bank Display" panose="020F0403020203030304" pitchFamily="34" charset="0"/>
                <a:cs typeface="Calibri Light" panose="020F0302020204030204" pitchFamily="34" charset="0"/>
              </a:defRPr>
            </a:lvl1pPr>
            <a:lvl2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5pPr>
            <a:lvl6pPr marL="456273" algn="l" rtl="0" eaLnBrk="1" fontAlgn="base" hangingPunct="1">
              <a:lnSpc>
                <a:spcPct val="90000"/>
              </a:lnSpc>
              <a:spcBef>
                <a:spcPct val="0"/>
              </a:spcBef>
              <a:spcAft>
                <a:spcPct val="0"/>
              </a:spcAft>
              <a:tabLst>
                <a:tab pos="665398" algn="l"/>
              </a:tabLst>
              <a:defRPr sz="2351" b="1">
                <a:solidFill>
                  <a:schemeClr val="tx1"/>
                </a:solidFill>
                <a:latin typeface="Arial" charset="0"/>
              </a:defRPr>
            </a:lvl6pPr>
            <a:lvl7pPr marL="912546" algn="l" rtl="0" eaLnBrk="1" fontAlgn="base" hangingPunct="1">
              <a:lnSpc>
                <a:spcPct val="90000"/>
              </a:lnSpc>
              <a:spcBef>
                <a:spcPct val="0"/>
              </a:spcBef>
              <a:spcAft>
                <a:spcPct val="0"/>
              </a:spcAft>
              <a:tabLst>
                <a:tab pos="665398" algn="l"/>
              </a:tabLst>
              <a:defRPr sz="2351" b="1">
                <a:solidFill>
                  <a:schemeClr val="tx1"/>
                </a:solidFill>
                <a:latin typeface="Arial" charset="0"/>
              </a:defRPr>
            </a:lvl7pPr>
            <a:lvl8pPr marL="1368819" algn="l" rtl="0" eaLnBrk="1" fontAlgn="base" hangingPunct="1">
              <a:lnSpc>
                <a:spcPct val="90000"/>
              </a:lnSpc>
              <a:spcBef>
                <a:spcPct val="0"/>
              </a:spcBef>
              <a:spcAft>
                <a:spcPct val="0"/>
              </a:spcAft>
              <a:tabLst>
                <a:tab pos="665398" algn="l"/>
              </a:tabLst>
              <a:defRPr sz="2351" b="1">
                <a:solidFill>
                  <a:schemeClr val="tx1"/>
                </a:solidFill>
                <a:latin typeface="Arial" charset="0"/>
              </a:defRPr>
            </a:lvl8pPr>
            <a:lvl9pPr marL="1825091" algn="l" rtl="0" eaLnBrk="1" fontAlgn="base" hangingPunct="1">
              <a:lnSpc>
                <a:spcPct val="90000"/>
              </a:lnSpc>
              <a:spcBef>
                <a:spcPct val="0"/>
              </a:spcBef>
              <a:spcAft>
                <a:spcPct val="0"/>
              </a:spcAft>
              <a:tabLst>
                <a:tab pos="665398" algn="l"/>
              </a:tabLst>
              <a:defRPr sz="2351" b="1">
                <a:solidFill>
                  <a:schemeClr val="tx1"/>
                </a:solidFill>
                <a:latin typeface="Arial" charset="0"/>
              </a:defRPr>
            </a:lvl9pPr>
          </a:lstStyle>
          <a:p>
            <a:pPr marL="12700">
              <a:lnSpc>
                <a:spcPct val="100000"/>
              </a:lnSpc>
              <a:spcBef>
                <a:spcPts val="645"/>
              </a:spcBef>
            </a:pPr>
            <a:r>
              <a:rPr lang="de-DE" sz="2100" dirty="0">
                <a:solidFill>
                  <a:srgbClr val="0C2340"/>
                </a:solidFill>
                <a:latin typeface="Calibri Light" panose="020F0302020204030204" pitchFamily="34" charset="0"/>
              </a:rPr>
              <a:t>Best </a:t>
            </a:r>
            <a:r>
              <a:rPr lang="de-DE" sz="2100" dirty="0" err="1">
                <a:solidFill>
                  <a:srgbClr val="0C2340"/>
                </a:solidFill>
                <a:latin typeface="Calibri Light" panose="020F0302020204030204" pitchFamily="34" charset="0"/>
              </a:rPr>
              <a:t>Practise</a:t>
            </a:r>
            <a:endParaRPr lang="de-DE" sz="2100" dirty="0">
              <a:solidFill>
                <a:srgbClr val="0C2340"/>
              </a:solidFill>
              <a:latin typeface="Calibri Light" panose="020F0302020204030204" pitchFamily="34" charset="0"/>
            </a:endParaRPr>
          </a:p>
        </p:txBody>
      </p:sp>
      <p:sp>
        <p:nvSpPr>
          <p:cNvPr id="26" name="Textfeld 25">
            <a:extLst>
              <a:ext uri="{FF2B5EF4-FFF2-40B4-BE49-F238E27FC236}">
                <a16:creationId xmlns:a16="http://schemas.microsoft.com/office/drawing/2014/main" id="{9B75C354-960E-271E-216F-1E6990CEE252}"/>
              </a:ext>
            </a:extLst>
          </p:cNvPr>
          <p:cNvSpPr txBox="1"/>
          <p:nvPr/>
        </p:nvSpPr>
        <p:spPr bwMode="ltGray">
          <a:xfrm>
            <a:off x="416825" y="1179037"/>
            <a:ext cx="5894523" cy="3754874"/>
          </a:xfrm>
          <a:prstGeom prst="rect">
            <a:avLst/>
          </a:prstGeom>
          <a:noFill/>
          <a:ln w="6350">
            <a:noFill/>
            <a:miter lim="800000"/>
            <a:headEnd/>
            <a:tailEnd/>
          </a:ln>
        </p:spPr>
        <p:txBody>
          <a:bodyPr wrap="square">
            <a:spAutoFit/>
          </a:bodyPr>
          <a:lstStyle/>
          <a:p>
            <a:pPr marL="342900" indent="-342900">
              <a:buFont typeface="Arial" panose="020B0604020202020204" pitchFamily="34" charset="0"/>
              <a:buChar char="•"/>
            </a:pPr>
            <a:r>
              <a:rPr lang="de-DE" sz="1400" dirty="0">
                <a:solidFill>
                  <a:srgbClr val="0C2340"/>
                </a:solidFill>
                <a:latin typeface="Calibri Light" panose="020F0302020204030204" pitchFamily="34" charset="0"/>
                <a:cs typeface="Calibri Light" panose="020F0302020204030204" pitchFamily="34" charset="0"/>
              </a:rPr>
              <a:t>Beim Kunden bestanden bereits mehrere Versorgungsmodelle für die Geschäftsführer sowie die leitenden Angestellten, die sich aus Direktversicherungen und teilweise aus Unterstützungskassen zusammensetzten. Diese waren überwiegend konservativ ausgerichtet. Vor dem Hintergrund der ausgeprägten Kapitalmarktaffinität des Kunden wurden die bestehenden Strukturen ganzheitlich analysiert und an die aktuellen Rahmenbedingungen angepasst.</a:t>
            </a:r>
          </a:p>
          <a:p>
            <a:pPr marL="342900" indent="-342900">
              <a:buFont typeface="Arial" panose="020B0604020202020204" pitchFamily="34" charset="0"/>
              <a:buChar char="•"/>
            </a:pPr>
            <a:endParaRPr lang="de-DE" sz="1400" dirty="0">
              <a:solidFill>
                <a:srgbClr val="0C2340"/>
              </a:solidFill>
              <a:latin typeface="Calibri Light" panose="020F0302020204030204" pitchFamily="34" charset="0"/>
              <a:cs typeface="Calibri Light" panose="020F0302020204030204" pitchFamily="34" charset="0"/>
            </a:endParaRPr>
          </a:p>
          <a:p>
            <a:pPr marL="342900" indent="-342900">
              <a:buFont typeface="Arial" panose="020B0604020202020204" pitchFamily="34" charset="0"/>
              <a:buChar char="•"/>
            </a:pPr>
            <a:r>
              <a:rPr lang="de-DE" sz="1400" dirty="0">
                <a:solidFill>
                  <a:srgbClr val="0C2340"/>
                </a:solidFill>
                <a:latin typeface="Calibri Light" panose="020F0302020204030204" pitchFamily="34" charset="0"/>
                <a:cs typeface="Calibri Light" panose="020F0302020204030204" pitchFamily="34" charset="0"/>
              </a:rPr>
              <a:t>Im Ergebnis erfolgte eine Umstellung auf eine stärker kapitalmarktorientierte Ausgestaltung. Parallel dazu wurden die steuerlichen Höchstgrenzen der Direktversicherung konsequent ausgeschöpft. Die Unterstützungskasse wurde ausschließlich auf eine firmenfinanzierte Ausgestaltung umgestellt.</a:t>
            </a:r>
          </a:p>
          <a:p>
            <a:endParaRPr lang="de-DE" sz="1400" dirty="0">
              <a:solidFill>
                <a:srgbClr val="0C2340"/>
              </a:solidFill>
              <a:latin typeface="Calibri Light" panose="020F0302020204030204" pitchFamily="34" charset="0"/>
              <a:cs typeface="Calibri Light" panose="020F0302020204030204" pitchFamily="34" charset="0"/>
            </a:endParaRPr>
          </a:p>
          <a:p>
            <a:pPr marL="342900" indent="-342900">
              <a:buFont typeface="Arial" panose="020B0604020202020204" pitchFamily="34" charset="0"/>
              <a:buChar char="•"/>
            </a:pPr>
            <a:r>
              <a:rPr lang="de-DE" sz="1400" dirty="0">
                <a:solidFill>
                  <a:srgbClr val="0C2340"/>
                </a:solidFill>
                <a:latin typeface="Calibri Light" panose="020F0302020204030204" pitchFamily="34" charset="0"/>
                <a:cs typeface="Calibri Light" panose="020F0302020204030204" pitchFamily="34" charset="0"/>
              </a:rPr>
              <a:t>Darüber hinaus wurden zum Jahreswechsel die beitragsfinanzierten Komponenten überprüft und entsprechend der neuen gesetzlichen und wirtschaftlichen Rahmenbedingungen angepasst.</a:t>
            </a:r>
          </a:p>
        </p:txBody>
      </p:sp>
      <p:graphicFrame>
        <p:nvGraphicFramePr>
          <p:cNvPr id="9" name="Tabelle 8">
            <a:extLst>
              <a:ext uri="{FF2B5EF4-FFF2-40B4-BE49-F238E27FC236}">
                <a16:creationId xmlns:a16="http://schemas.microsoft.com/office/drawing/2014/main" id="{D7741BA6-5806-505B-3412-248DB44523DB}"/>
              </a:ext>
            </a:extLst>
          </p:cNvPr>
          <p:cNvGraphicFramePr>
            <a:graphicFrameLocks noGrp="1"/>
          </p:cNvGraphicFramePr>
          <p:nvPr>
            <p:extLst>
              <p:ext uri="{D42A27DB-BD31-4B8C-83A1-F6EECF244321}">
                <p14:modId xmlns:p14="http://schemas.microsoft.com/office/powerpoint/2010/main" val="280112663"/>
              </p:ext>
            </p:extLst>
          </p:nvPr>
        </p:nvGraphicFramePr>
        <p:xfrm>
          <a:off x="6487007" y="1179037"/>
          <a:ext cx="2971800" cy="1625600"/>
        </p:xfrm>
        <a:graphic>
          <a:graphicData uri="http://schemas.openxmlformats.org/drawingml/2006/table">
            <a:tbl>
              <a:tblPr/>
              <a:tblGrid>
                <a:gridCol w="1638300">
                  <a:extLst>
                    <a:ext uri="{9D8B030D-6E8A-4147-A177-3AD203B41FA5}">
                      <a16:colId xmlns:a16="http://schemas.microsoft.com/office/drawing/2014/main" val="532020150"/>
                    </a:ext>
                  </a:extLst>
                </a:gridCol>
                <a:gridCol w="1333500">
                  <a:extLst>
                    <a:ext uri="{9D8B030D-6E8A-4147-A177-3AD203B41FA5}">
                      <a16:colId xmlns:a16="http://schemas.microsoft.com/office/drawing/2014/main" val="2256111406"/>
                    </a:ext>
                  </a:extLst>
                </a:gridCol>
              </a:tblGrid>
              <a:tr h="203200">
                <a:tc>
                  <a:txBody>
                    <a:bodyPr/>
                    <a:lstStyle/>
                    <a:p>
                      <a:pPr algn="l" fontAlgn="b">
                        <a:buNone/>
                      </a:pPr>
                      <a:r>
                        <a:rPr lang="de-DE" sz="1200" b="1" i="0" u="none" strike="noStrike">
                          <a:solidFill>
                            <a:srgbClr val="000000"/>
                          </a:solidFill>
                          <a:effectLst/>
                          <a:latin typeface="Aptos Narrow" panose="020B0004020202020204" pitchFamily="34" charset="0"/>
                        </a:rPr>
                        <a:t>Mitarbeiter Bezeichnung</a:t>
                      </a:r>
                    </a:p>
                  </a:txBody>
                  <a:tcPr marL="9525" marR="9525" marT="9525" marB="0" anchor="b">
                    <a:lnL>
                      <a:noFill/>
                    </a:lnL>
                    <a:lnR>
                      <a:noFill/>
                    </a:lnR>
                    <a:lnT>
                      <a:noFill/>
                    </a:lnT>
                    <a:lnB>
                      <a:noFill/>
                    </a:lnB>
                    <a:noFill/>
                  </a:tcPr>
                </a:tc>
                <a:tc>
                  <a:txBody>
                    <a:bodyPr/>
                    <a:lstStyle/>
                    <a:p>
                      <a:pPr algn="l" fontAlgn="b">
                        <a:buNone/>
                      </a:pPr>
                      <a:r>
                        <a:rPr lang="de-DE" sz="1200" b="1" i="0" u="none" strike="noStrike">
                          <a:solidFill>
                            <a:srgbClr val="000000"/>
                          </a:solidFill>
                          <a:effectLst/>
                          <a:latin typeface="Aptos Narrow" panose="020B0004020202020204" pitchFamily="34" charset="0"/>
                        </a:rPr>
                        <a:t>Bewertungssumme</a:t>
                      </a:r>
                    </a:p>
                  </a:txBody>
                  <a:tcPr marL="9525" marR="9525" marT="9525" marB="0" anchor="b">
                    <a:lnL>
                      <a:noFill/>
                    </a:lnL>
                    <a:lnR>
                      <a:noFill/>
                    </a:lnR>
                    <a:lnT>
                      <a:noFill/>
                    </a:lnT>
                    <a:lnB>
                      <a:noFill/>
                    </a:lnB>
                    <a:noFill/>
                  </a:tcPr>
                </a:tc>
                <a:extLst>
                  <a:ext uri="{0D108BD9-81ED-4DB2-BD59-A6C34878D82A}">
                    <a16:rowId xmlns:a16="http://schemas.microsoft.com/office/drawing/2014/main" val="390082433"/>
                  </a:ext>
                </a:extLst>
              </a:tr>
              <a:tr h="203200">
                <a:tc>
                  <a:txBody>
                    <a:bodyPr/>
                    <a:lstStyle/>
                    <a:p>
                      <a:pPr algn="l" fontAlgn="b">
                        <a:buNone/>
                      </a:pPr>
                      <a:r>
                        <a:rPr lang="de-DE" sz="1200" b="0" i="0" u="none" strike="noStrike">
                          <a:solidFill>
                            <a:srgbClr val="000000"/>
                          </a:solidFill>
                          <a:effectLst/>
                          <a:latin typeface="Aptos Narrow" panose="020B0004020202020204" pitchFamily="34" charset="0"/>
                        </a:rPr>
                        <a:t>Geschäftsführerin</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216.348 €</a:t>
                      </a:r>
                    </a:p>
                  </a:txBody>
                  <a:tcPr marL="9525" marR="9525" marT="9525" marB="0" anchor="b">
                    <a:lnL>
                      <a:noFill/>
                    </a:lnL>
                    <a:lnR>
                      <a:noFill/>
                    </a:lnR>
                    <a:lnT>
                      <a:noFill/>
                    </a:lnT>
                    <a:lnB>
                      <a:noFill/>
                    </a:lnB>
                    <a:noFill/>
                  </a:tcPr>
                </a:tc>
                <a:extLst>
                  <a:ext uri="{0D108BD9-81ED-4DB2-BD59-A6C34878D82A}">
                    <a16:rowId xmlns:a16="http://schemas.microsoft.com/office/drawing/2014/main" val="3349552661"/>
                  </a:ext>
                </a:extLst>
              </a:tr>
              <a:tr h="203200">
                <a:tc>
                  <a:txBody>
                    <a:bodyPr/>
                    <a:lstStyle/>
                    <a:p>
                      <a:pPr algn="l" fontAlgn="b">
                        <a:buNone/>
                      </a:pPr>
                      <a:r>
                        <a:rPr lang="de-DE" sz="1200" b="0" i="0" u="none" strike="noStrike">
                          <a:solidFill>
                            <a:srgbClr val="000000"/>
                          </a:solidFill>
                          <a:effectLst/>
                          <a:latin typeface="Aptos Narrow" panose="020B0004020202020204" pitchFamily="34" charset="0"/>
                        </a:rPr>
                        <a:t>Geschäftsführer</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154.559 €</a:t>
                      </a:r>
                    </a:p>
                  </a:txBody>
                  <a:tcPr marL="9525" marR="9525" marT="9525" marB="0" anchor="b">
                    <a:lnL>
                      <a:noFill/>
                    </a:lnL>
                    <a:lnR>
                      <a:noFill/>
                    </a:lnR>
                    <a:lnT>
                      <a:noFill/>
                    </a:lnT>
                    <a:lnB>
                      <a:noFill/>
                    </a:lnB>
                    <a:noFill/>
                  </a:tcPr>
                </a:tc>
                <a:extLst>
                  <a:ext uri="{0D108BD9-81ED-4DB2-BD59-A6C34878D82A}">
                    <a16:rowId xmlns:a16="http://schemas.microsoft.com/office/drawing/2014/main" val="2372257719"/>
                  </a:ext>
                </a:extLst>
              </a:tr>
              <a:tr h="203200">
                <a:tc>
                  <a:txBody>
                    <a:bodyPr/>
                    <a:lstStyle/>
                    <a:p>
                      <a:pPr algn="l" fontAlgn="b">
                        <a:buNone/>
                      </a:pPr>
                      <a:r>
                        <a:rPr lang="de-DE" sz="1200" b="0" i="0" u="none" strike="noStrike">
                          <a:solidFill>
                            <a:srgbClr val="000000"/>
                          </a:solidFill>
                          <a:effectLst/>
                          <a:latin typeface="Aptos Narrow" panose="020B0004020202020204" pitchFamily="34" charset="0"/>
                        </a:rPr>
                        <a:t>Leitner Angestellter</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177.743 €</a:t>
                      </a:r>
                    </a:p>
                  </a:txBody>
                  <a:tcPr marL="9525" marR="9525" marT="9525" marB="0" anchor="b">
                    <a:lnL>
                      <a:noFill/>
                    </a:lnL>
                    <a:lnR>
                      <a:noFill/>
                    </a:lnR>
                    <a:lnT>
                      <a:noFill/>
                    </a:lnT>
                    <a:lnB>
                      <a:noFill/>
                    </a:lnB>
                    <a:noFill/>
                  </a:tcPr>
                </a:tc>
                <a:extLst>
                  <a:ext uri="{0D108BD9-81ED-4DB2-BD59-A6C34878D82A}">
                    <a16:rowId xmlns:a16="http://schemas.microsoft.com/office/drawing/2014/main" val="204014172"/>
                  </a:ext>
                </a:extLst>
              </a:tr>
              <a:tr h="203200">
                <a:tc>
                  <a:txBody>
                    <a:bodyPr/>
                    <a:lstStyle/>
                    <a:p>
                      <a:pPr algn="l" fontAlgn="b">
                        <a:buNone/>
                      </a:pPr>
                      <a:r>
                        <a:rPr lang="de-DE" sz="1200" b="0" i="0" u="none" strike="noStrike">
                          <a:solidFill>
                            <a:srgbClr val="000000"/>
                          </a:solidFill>
                          <a:effectLst/>
                          <a:latin typeface="Aptos Narrow" panose="020B0004020202020204" pitchFamily="34" charset="0"/>
                        </a:rPr>
                        <a:t>Leitner Angestellter</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239.568 €</a:t>
                      </a:r>
                    </a:p>
                  </a:txBody>
                  <a:tcPr marL="9525" marR="9525" marT="9525" marB="0" anchor="b">
                    <a:lnL>
                      <a:noFill/>
                    </a:lnL>
                    <a:lnR>
                      <a:noFill/>
                    </a:lnR>
                    <a:lnT>
                      <a:noFill/>
                    </a:lnT>
                    <a:lnB>
                      <a:noFill/>
                    </a:lnB>
                    <a:noFill/>
                  </a:tcPr>
                </a:tc>
                <a:extLst>
                  <a:ext uri="{0D108BD9-81ED-4DB2-BD59-A6C34878D82A}">
                    <a16:rowId xmlns:a16="http://schemas.microsoft.com/office/drawing/2014/main" val="2539942102"/>
                  </a:ext>
                </a:extLst>
              </a:tr>
              <a:tr h="203200">
                <a:tc>
                  <a:txBody>
                    <a:bodyPr/>
                    <a:lstStyle/>
                    <a:p>
                      <a:pPr algn="l" fontAlgn="b">
                        <a:buNone/>
                      </a:pPr>
                      <a:r>
                        <a:rPr lang="de-DE" sz="1200" b="0" i="0" u="none" strike="noStrike" dirty="0">
                          <a:solidFill>
                            <a:srgbClr val="000000"/>
                          </a:solidFill>
                          <a:effectLst/>
                          <a:latin typeface="Aptos Narrow" panose="020B0004020202020204" pitchFamily="34" charset="0"/>
                        </a:rPr>
                        <a:t>Mitarbeiterin</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216.384 €</a:t>
                      </a:r>
                    </a:p>
                  </a:txBody>
                  <a:tcPr marL="9525" marR="9525" marT="9525" marB="0" anchor="b">
                    <a:lnL>
                      <a:noFill/>
                    </a:lnL>
                    <a:lnR>
                      <a:noFill/>
                    </a:lnR>
                    <a:lnT>
                      <a:noFill/>
                    </a:lnT>
                    <a:lnB>
                      <a:noFill/>
                    </a:lnB>
                    <a:noFill/>
                  </a:tcPr>
                </a:tc>
                <a:extLst>
                  <a:ext uri="{0D108BD9-81ED-4DB2-BD59-A6C34878D82A}">
                    <a16:rowId xmlns:a16="http://schemas.microsoft.com/office/drawing/2014/main" val="3790487468"/>
                  </a:ext>
                </a:extLst>
              </a:tr>
              <a:tr h="203200">
                <a:tc>
                  <a:txBody>
                    <a:bodyPr/>
                    <a:lstStyle/>
                    <a:p>
                      <a:pPr algn="l" fontAlgn="b">
                        <a:buNone/>
                      </a:pPr>
                      <a:r>
                        <a:rPr lang="de-DE" sz="1200" b="0" i="0" u="none" strike="noStrike">
                          <a:solidFill>
                            <a:srgbClr val="000000"/>
                          </a:solidFill>
                          <a:effectLst/>
                          <a:latin typeface="Aptos Narrow" panose="020B0004020202020204" pitchFamily="34" charset="0"/>
                        </a:rPr>
                        <a:t>Mitarbeiter</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59.520 €</a:t>
                      </a:r>
                    </a:p>
                  </a:txBody>
                  <a:tcPr marL="9525" marR="9525" marT="9525" marB="0" anchor="b">
                    <a:lnL>
                      <a:noFill/>
                    </a:lnL>
                    <a:lnR>
                      <a:noFill/>
                    </a:lnR>
                    <a:lnT>
                      <a:noFill/>
                    </a:lnT>
                    <a:lnB>
                      <a:noFill/>
                    </a:lnB>
                    <a:noFill/>
                  </a:tcPr>
                </a:tc>
                <a:extLst>
                  <a:ext uri="{0D108BD9-81ED-4DB2-BD59-A6C34878D82A}">
                    <a16:rowId xmlns:a16="http://schemas.microsoft.com/office/drawing/2014/main" val="3068086413"/>
                  </a:ext>
                </a:extLst>
              </a:tr>
              <a:tr h="203200">
                <a:tc>
                  <a:txBody>
                    <a:bodyPr/>
                    <a:lstStyle/>
                    <a:p>
                      <a:pPr algn="l" fontAlgn="b">
                        <a:buNone/>
                      </a:pPr>
                      <a:r>
                        <a:rPr lang="de-DE" sz="1200" b="1" i="0" u="none" strike="noStrike">
                          <a:solidFill>
                            <a:srgbClr val="000000"/>
                          </a:solidFill>
                          <a:effectLst/>
                          <a:latin typeface="Aptos Narrow" panose="020B0004020202020204" pitchFamily="34" charset="0"/>
                        </a:rPr>
                        <a:t>Summe Positionen 1–6</a:t>
                      </a:r>
                    </a:p>
                  </a:txBody>
                  <a:tcPr marL="9525" marR="9525" marT="9525" marB="0" anchor="b">
                    <a:lnL>
                      <a:noFill/>
                    </a:lnL>
                    <a:lnR>
                      <a:noFill/>
                    </a:lnR>
                    <a:lnT>
                      <a:noFill/>
                    </a:lnT>
                    <a:lnB>
                      <a:noFill/>
                    </a:lnB>
                    <a:noFill/>
                  </a:tcPr>
                </a:tc>
                <a:tc>
                  <a:txBody>
                    <a:bodyPr/>
                    <a:lstStyle/>
                    <a:p>
                      <a:pPr algn="r" fontAlgn="b">
                        <a:buNone/>
                      </a:pPr>
                      <a:r>
                        <a:rPr lang="de-DE" sz="1200" b="1" i="0" u="none" strike="noStrike" dirty="0">
                          <a:solidFill>
                            <a:srgbClr val="000000"/>
                          </a:solidFill>
                          <a:effectLst/>
                          <a:latin typeface="Aptos Narrow" panose="020B0004020202020204" pitchFamily="34" charset="0"/>
                        </a:rPr>
                        <a:t>1.064.122 €</a:t>
                      </a:r>
                    </a:p>
                  </a:txBody>
                  <a:tcPr marL="9525" marR="9525" marT="9525" marB="0" anchor="b">
                    <a:lnL>
                      <a:noFill/>
                    </a:lnL>
                    <a:lnR>
                      <a:noFill/>
                    </a:lnR>
                    <a:lnT>
                      <a:noFill/>
                    </a:lnT>
                    <a:lnB>
                      <a:noFill/>
                    </a:lnB>
                    <a:noFill/>
                  </a:tcPr>
                </a:tc>
                <a:extLst>
                  <a:ext uri="{0D108BD9-81ED-4DB2-BD59-A6C34878D82A}">
                    <a16:rowId xmlns:a16="http://schemas.microsoft.com/office/drawing/2014/main" val="597546450"/>
                  </a:ext>
                </a:extLst>
              </a:tr>
            </a:tbl>
          </a:graphicData>
        </a:graphic>
      </p:graphicFrame>
      <p:graphicFrame>
        <p:nvGraphicFramePr>
          <p:cNvPr id="11" name="Tabelle 10">
            <a:extLst>
              <a:ext uri="{FF2B5EF4-FFF2-40B4-BE49-F238E27FC236}">
                <a16:creationId xmlns:a16="http://schemas.microsoft.com/office/drawing/2014/main" id="{38AAEAE7-A288-2BC3-B07D-176D4BA7DD06}"/>
              </a:ext>
            </a:extLst>
          </p:cNvPr>
          <p:cNvGraphicFramePr>
            <a:graphicFrameLocks noGrp="1"/>
          </p:cNvGraphicFramePr>
          <p:nvPr>
            <p:extLst>
              <p:ext uri="{D42A27DB-BD31-4B8C-83A1-F6EECF244321}">
                <p14:modId xmlns:p14="http://schemas.microsoft.com/office/powerpoint/2010/main" val="2054526577"/>
              </p:ext>
            </p:extLst>
          </p:nvPr>
        </p:nvGraphicFramePr>
        <p:xfrm>
          <a:off x="6487007" y="2804637"/>
          <a:ext cx="2971800" cy="1016000"/>
        </p:xfrm>
        <a:graphic>
          <a:graphicData uri="http://schemas.openxmlformats.org/drawingml/2006/table">
            <a:tbl>
              <a:tblPr/>
              <a:tblGrid>
                <a:gridCol w="1638300">
                  <a:extLst>
                    <a:ext uri="{9D8B030D-6E8A-4147-A177-3AD203B41FA5}">
                      <a16:colId xmlns:a16="http://schemas.microsoft.com/office/drawing/2014/main" val="1927442352"/>
                    </a:ext>
                  </a:extLst>
                </a:gridCol>
                <a:gridCol w="1333500">
                  <a:extLst>
                    <a:ext uri="{9D8B030D-6E8A-4147-A177-3AD203B41FA5}">
                      <a16:colId xmlns:a16="http://schemas.microsoft.com/office/drawing/2014/main" val="3456268966"/>
                    </a:ext>
                  </a:extLst>
                </a:gridCol>
              </a:tblGrid>
              <a:tr h="203200">
                <a:tc>
                  <a:txBody>
                    <a:bodyPr/>
                    <a:lstStyle/>
                    <a:p>
                      <a:pPr algn="l" fontAlgn="b">
                        <a:buNone/>
                      </a:pPr>
                      <a:r>
                        <a:rPr lang="de-DE" sz="1200" b="0" i="0" u="none" strike="noStrike">
                          <a:solidFill>
                            <a:srgbClr val="000000"/>
                          </a:solidFill>
                          <a:effectLst/>
                          <a:latin typeface="Aptos Narrow" panose="020B0004020202020204" pitchFamily="34" charset="0"/>
                        </a:rPr>
                        <a:t>Geschäftsführerin</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8.672 €</a:t>
                      </a:r>
                    </a:p>
                  </a:txBody>
                  <a:tcPr marL="9525" marR="9525" marT="9525" marB="0" anchor="b">
                    <a:lnL>
                      <a:noFill/>
                    </a:lnL>
                    <a:lnR>
                      <a:noFill/>
                    </a:lnR>
                    <a:lnT>
                      <a:noFill/>
                    </a:lnT>
                    <a:lnB>
                      <a:noFill/>
                    </a:lnB>
                    <a:noFill/>
                  </a:tcPr>
                </a:tc>
                <a:extLst>
                  <a:ext uri="{0D108BD9-81ED-4DB2-BD59-A6C34878D82A}">
                    <a16:rowId xmlns:a16="http://schemas.microsoft.com/office/drawing/2014/main" val="709399278"/>
                  </a:ext>
                </a:extLst>
              </a:tr>
              <a:tr h="203200">
                <a:tc>
                  <a:txBody>
                    <a:bodyPr/>
                    <a:lstStyle/>
                    <a:p>
                      <a:pPr algn="l" fontAlgn="b">
                        <a:buNone/>
                      </a:pPr>
                      <a:r>
                        <a:rPr lang="de-DE" sz="1200" b="0" i="0" u="none" strike="noStrike">
                          <a:solidFill>
                            <a:srgbClr val="000000"/>
                          </a:solidFill>
                          <a:effectLst/>
                          <a:latin typeface="Aptos Narrow" panose="020B0004020202020204" pitchFamily="34" charset="0"/>
                        </a:rPr>
                        <a:t>Geschäftsführer</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7.519 €</a:t>
                      </a:r>
                    </a:p>
                  </a:txBody>
                  <a:tcPr marL="9525" marR="9525" marT="9525" marB="0" anchor="b">
                    <a:lnL>
                      <a:noFill/>
                    </a:lnL>
                    <a:lnR>
                      <a:noFill/>
                    </a:lnR>
                    <a:lnT>
                      <a:noFill/>
                    </a:lnT>
                    <a:lnB>
                      <a:noFill/>
                    </a:lnB>
                    <a:noFill/>
                  </a:tcPr>
                </a:tc>
                <a:extLst>
                  <a:ext uri="{0D108BD9-81ED-4DB2-BD59-A6C34878D82A}">
                    <a16:rowId xmlns:a16="http://schemas.microsoft.com/office/drawing/2014/main" val="4235311739"/>
                  </a:ext>
                </a:extLst>
              </a:tr>
              <a:tr h="203200">
                <a:tc>
                  <a:txBody>
                    <a:bodyPr/>
                    <a:lstStyle/>
                    <a:p>
                      <a:pPr algn="l" fontAlgn="b">
                        <a:buNone/>
                      </a:pPr>
                      <a:r>
                        <a:rPr lang="de-DE" sz="1200" b="0" i="0" u="none" strike="noStrike" dirty="0">
                          <a:solidFill>
                            <a:srgbClr val="000000"/>
                          </a:solidFill>
                          <a:effectLst/>
                          <a:latin typeface="Aptos Narrow" panose="020B0004020202020204" pitchFamily="34" charset="0"/>
                        </a:rPr>
                        <a:t>Leitende Angestellte</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10.592 €</a:t>
                      </a:r>
                    </a:p>
                  </a:txBody>
                  <a:tcPr marL="9525" marR="9525" marT="9525" marB="0" anchor="b">
                    <a:lnL>
                      <a:noFill/>
                    </a:lnL>
                    <a:lnR>
                      <a:noFill/>
                    </a:lnR>
                    <a:lnT>
                      <a:noFill/>
                    </a:lnT>
                    <a:lnB>
                      <a:noFill/>
                    </a:lnB>
                    <a:noFill/>
                  </a:tcPr>
                </a:tc>
                <a:extLst>
                  <a:ext uri="{0D108BD9-81ED-4DB2-BD59-A6C34878D82A}">
                    <a16:rowId xmlns:a16="http://schemas.microsoft.com/office/drawing/2014/main" val="58468066"/>
                  </a:ext>
                </a:extLst>
              </a:tr>
              <a:tr h="203200">
                <a:tc>
                  <a:txBody>
                    <a:bodyPr/>
                    <a:lstStyle/>
                    <a:p>
                      <a:pPr algn="l" fontAlgn="b">
                        <a:buNone/>
                      </a:pPr>
                      <a:r>
                        <a:rPr lang="de-DE" sz="1200" b="0" i="0" u="none" strike="noStrike">
                          <a:solidFill>
                            <a:srgbClr val="000000"/>
                          </a:solidFill>
                          <a:effectLst/>
                          <a:latin typeface="Aptos Narrow" panose="020B0004020202020204" pitchFamily="34" charset="0"/>
                        </a:rPr>
                        <a:t>Leitender Angestellter</a:t>
                      </a:r>
                    </a:p>
                  </a:txBody>
                  <a:tcPr marL="9525" marR="9525" marT="9525" marB="0" anchor="b">
                    <a:lnL>
                      <a:noFill/>
                    </a:lnL>
                    <a:lnR>
                      <a:noFill/>
                    </a:lnR>
                    <a:lnT>
                      <a:noFill/>
                    </a:lnT>
                    <a:lnB>
                      <a:noFill/>
                    </a:lnB>
                    <a:noFill/>
                  </a:tcPr>
                </a:tc>
                <a:tc>
                  <a:txBody>
                    <a:bodyPr/>
                    <a:lstStyle/>
                    <a:p>
                      <a:pPr algn="r" fontAlgn="b">
                        <a:buNone/>
                      </a:pPr>
                      <a:r>
                        <a:rPr lang="de-DE" sz="1200" b="0" i="0" u="none" strike="noStrike">
                          <a:solidFill>
                            <a:srgbClr val="000000"/>
                          </a:solidFill>
                          <a:effectLst/>
                          <a:latin typeface="Aptos Narrow" panose="020B0004020202020204" pitchFamily="34" charset="0"/>
                        </a:rPr>
                        <a:t>11.744 €</a:t>
                      </a:r>
                    </a:p>
                  </a:txBody>
                  <a:tcPr marL="9525" marR="9525" marT="9525" marB="0" anchor="b">
                    <a:lnL>
                      <a:noFill/>
                    </a:lnL>
                    <a:lnR>
                      <a:noFill/>
                    </a:lnR>
                    <a:lnT>
                      <a:noFill/>
                    </a:lnT>
                    <a:lnB>
                      <a:noFill/>
                    </a:lnB>
                    <a:noFill/>
                  </a:tcPr>
                </a:tc>
                <a:extLst>
                  <a:ext uri="{0D108BD9-81ED-4DB2-BD59-A6C34878D82A}">
                    <a16:rowId xmlns:a16="http://schemas.microsoft.com/office/drawing/2014/main" val="3093978253"/>
                  </a:ext>
                </a:extLst>
              </a:tr>
              <a:tr h="203200">
                <a:tc>
                  <a:txBody>
                    <a:bodyPr/>
                    <a:lstStyle/>
                    <a:p>
                      <a:pPr algn="l" fontAlgn="b">
                        <a:buNone/>
                      </a:pPr>
                      <a:r>
                        <a:rPr lang="de-DE" sz="1200" b="1" i="0" u="none" strike="noStrike">
                          <a:solidFill>
                            <a:srgbClr val="000000"/>
                          </a:solidFill>
                          <a:effectLst/>
                          <a:latin typeface="Aptos Narrow" panose="020B0004020202020204" pitchFamily="34" charset="0"/>
                        </a:rPr>
                        <a:t>Summe Positionen 7–10</a:t>
                      </a:r>
                    </a:p>
                  </a:txBody>
                  <a:tcPr marL="9525" marR="9525" marT="9525" marB="0" anchor="b">
                    <a:lnL>
                      <a:noFill/>
                    </a:lnL>
                    <a:lnR>
                      <a:noFill/>
                    </a:lnR>
                    <a:lnT>
                      <a:noFill/>
                    </a:lnT>
                    <a:lnB>
                      <a:noFill/>
                    </a:lnB>
                    <a:noFill/>
                  </a:tcPr>
                </a:tc>
                <a:tc>
                  <a:txBody>
                    <a:bodyPr/>
                    <a:lstStyle/>
                    <a:p>
                      <a:pPr algn="r" fontAlgn="b">
                        <a:buNone/>
                      </a:pPr>
                      <a:r>
                        <a:rPr lang="de-DE" sz="1200" b="1" i="0" u="none" strike="noStrike" dirty="0">
                          <a:solidFill>
                            <a:srgbClr val="000000"/>
                          </a:solidFill>
                          <a:effectLst/>
                          <a:latin typeface="Aptos Narrow" panose="020B0004020202020204" pitchFamily="34" charset="0"/>
                        </a:rPr>
                        <a:t>38.527 €</a:t>
                      </a:r>
                    </a:p>
                  </a:txBody>
                  <a:tcPr marL="9525" marR="9525" marT="9525" marB="0" anchor="b">
                    <a:lnL>
                      <a:noFill/>
                    </a:lnL>
                    <a:lnR>
                      <a:noFill/>
                    </a:lnR>
                    <a:lnT>
                      <a:noFill/>
                    </a:lnT>
                    <a:lnB>
                      <a:noFill/>
                    </a:lnB>
                    <a:noFill/>
                  </a:tcPr>
                </a:tc>
                <a:extLst>
                  <a:ext uri="{0D108BD9-81ED-4DB2-BD59-A6C34878D82A}">
                    <a16:rowId xmlns:a16="http://schemas.microsoft.com/office/drawing/2014/main" val="201023957"/>
                  </a:ext>
                </a:extLst>
              </a:tr>
            </a:tbl>
          </a:graphicData>
        </a:graphic>
      </p:graphicFrame>
      <p:graphicFrame>
        <p:nvGraphicFramePr>
          <p:cNvPr id="13" name="Tabelle 12">
            <a:extLst>
              <a:ext uri="{FF2B5EF4-FFF2-40B4-BE49-F238E27FC236}">
                <a16:creationId xmlns:a16="http://schemas.microsoft.com/office/drawing/2014/main" id="{736DE295-CAD8-DBA0-902E-2A72362B886B}"/>
              </a:ext>
            </a:extLst>
          </p:cNvPr>
          <p:cNvGraphicFramePr>
            <a:graphicFrameLocks noGrp="1"/>
          </p:cNvGraphicFramePr>
          <p:nvPr>
            <p:extLst>
              <p:ext uri="{D42A27DB-BD31-4B8C-83A1-F6EECF244321}">
                <p14:modId xmlns:p14="http://schemas.microsoft.com/office/powerpoint/2010/main" val="3937749505"/>
              </p:ext>
            </p:extLst>
          </p:nvPr>
        </p:nvGraphicFramePr>
        <p:xfrm>
          <a:off x="6487007" y="3813400"/>
          <a:ext cx="2971800" cy="203200"/>
        </p:xfrm>
        <a:graphic>
          <a:graphicData uri="http://schemas.openxmlformats.org/drawingml/2006/table">
            <a:tbl>
              <a:tblPr/>
              <a:tblGrid>
                <a:gridCol w="1638300">
                  <a:extLst>
                    <a:ext uri="{9D8B030D-6E8A-4147-A177-3AD203B41FA5}">
                      <a16:colId xmlns:a16="http://schemas.microsoft.com/office/drawing/2014/main" val="838872780"/>
                    </a:ext>
                  </a:extLst>
                </a:gridCol>
                <a:gridCol w="1333500">
                  <a:extLst>
                    <a:ext uri="{9D8B030D-6E8A-4147-A177-3AD203B41FA5}">
                      <a16:colId xmlns:a16="http://schemas.microsoft.com/office/drawing/2014/main" val="1492608423"/>
                    </a:ext>
                  </a:extLst>
                </a:gridCol>
              </a:tblGrid>
              <a:tr h="203200">
                <a:tc>
                  <a:txBody>
                    <a:bodyPr/>
                    <a:lstStyle/>
                    <a:p>
                      <a:pPr algn="l" fontAlgn="b">
                        <a:buNone/>
                      </a:pPr>
                      <a:endParaRPr lang="de-DE"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r" fontAlgn="b">
                        <a:buNone/>
                      </a:pPr>
                      <a:r>
                        <a:rPr lang="de-DE" sz="1200" b="1" i="0" u="none" strike="noStrike" dirty="0">
                          <a:solidFill>
                            <a:srgbClr val="000000"/>
                          </a:solidFill>
                          <a:effectLst/>
                          <a:latin typeface="Aptos Narrow" panose="020B0004020202020204" pitchFamily="34" charset="0"/>
                        </a:rPr>
                        <a:t>1.102.649 €</a:t>
                      </a:r>
                    </a:p>
                  </a:txBody>
                  <a:tcPr marL="9525" marR="9525" marT="9525" marB="0" anchor="b">
                    <a:lnL>
                      <a:noFill/>
                    </a:lnL>
                    <a:lnR>
                      <a:noFill/>
                    </a:lnR>
                    <a:lnT>
                      <a:noFill/>
                    </a:lnT>
                    <a:lnB>
                      <a:noFill/>
                    </a:lnB>
                    <a:noFill/>
                  </a:tcPr>
                </a:tc>
                <a:extLst>
                  <a:ext uri="{0D108BD9-81ED-4DB2-BD59-A6C34878D82A}">
                    <a16:rowId xmlns:a16="http://schemas.microsoft.com/office/drawing/2014/main" val="4177590010"/>
                  </a:ext>
                </a:extLst>
              </a:tr>
            </a:tbl>
          </a:graphicData>
        </a:graphic>
      </p:graphicFrame>
      <p:sp>
        <p:nvSpPr>
          <p:cNvPr id="14" name="Stern mit 12 Zacken 13">
            <a:extLst>
              <a:ext uri="{FF2B5EF4-FFF2-40B4-BE49-F238E27FC236}">
                <a16:creationId xmlns:a16="http://schemas.microsoft.com/office/drawing/2014/main" id="{18B7EFF8-01F3-F1B6-558D-656FC60B8321}"/>
              </a:ext>
            </a:extLst>
          </p:cNvPr>
          <p:cNvSpPr/>
          <p:nvPr/>
        </p:nvSpPr>
        <p:spPr bwMode="auto">
          <a:xfrm>
            <a:off x="7066722" y="4209773"/>
            <a:ext cx="2097157" cy="1958009"/>
          </a:xfrm>
          <a:prstGeom prst="star12">
            <a:avLst/>
          </a:prstGeom>
          <a:solidFill>
            <a:srgbClr val="00B050"/>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de-DE" b="1" dirty="0">
                <a:solidFill>
                  <a:sysClr val="windowText" lastClr="000000"/>
                </a:solidFill>
                <a:latin typeface="+mn-lt"/>
              </a:rPr>
              <a:t>22.229 € </a:t>
            </a:r>
          </a:p>
          <a:p>
            <a:pPr algn="ctr" defTabSz="963613" eaLnBrk="0" hangingPunct="0">
              <a:tabLst>
                <a:tab pos="1257300" algn="l"/>
              </a:tabLst>
            </a:pPr>
            <a:r>
              <a:rPr lang="de-DE" b="1" dirty="0">
                <a:solidFill>
                  <a:sysClr val="windowText" lastClr="000000"/>
                </a:solidFill>
                <a:latin typeface="+mn-lt"/>
              </a:rPr>
              <a:t>Ertrag</a:t>
            </a:r>
          </a:p>
        </p:txBody>
      </p:sp>
    </p:spTree>
    <p:extLst>
      <p:ext uri="{BB962C8B-B14F-4D97-AF65-F5344CB8AC3E}">
        <p14:creationId xmlns:p14="http://schemas.microsoft.com/office/powerpoint/2010/main" val="380263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1"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B1C52-E337-86F9-1A40-9148E649497E}"/>
            </a:ext>
          </a:extLst>
        </p:cNvPr>
        <p:cNvGrpSpPr/>
        <p:nvPr/>
      </p:nvGrpSpPr>
      <p:grpSpPr>
        <a:xfrm>
          <a:off x="0" y="0"/>
          <a:ext cx="0" cy="0"/>
          <a:chOff x="0" y="0"/>
          <a:chExt cx="0" cy="0"/>
        </a:xfrm>
      </p:grpSpPr>
      <p:pic>
        <p:nvPicPr>
          <p:cNvPr id="27" name="Grafik 26" descr="Ein Bild, das Computer, peripher, Büroausstattung, Eingabegerät enthält.&#10;&#10;Automatisch generierte Beschreibung">
            <a:extLst>
              <a:ext uri="{FF2B5EF4-FFF2-40B4-BE49-F238E27FC236}">
                <a16:creationId xmlns:a16="http://schemas.microsoft.com/office/drawing/2014/main" id="{C21068FB-46F8-DAFE-664E-800D091A17AD}"/>
              </a:ext>
            </a:extLst>
          </p:cNvPr>
          <p:cNvPicPr>
            <a:picLocks noChangeAspect="1"/>
          </p:cNvPicPr>
          <p:nvPr/>
        </p:nvPicPr>
        <p:blipFill>
          <a:blip r:embed="rId3">
            <a:alphaModFix amt="75000"/>
          </a:blip>
          <a:srcRect l="834" r="4337" b="2141"/>
          <a:stretch/>
        </p:blipFill>
        <p:spPr>
          <a:xfrm>
            <a:off x="0" y="0"/>
            <a:ext cx="12188825" cy="6858000"/>
          </a:xfrm>
          <a:prstGeom prst="rect">
            <a:avLst/>
          </a:prstGeom>
        </p:spPr>
      </p:pic>
      <p:sp>
        <p:nvSpPr>
          <p:cNvPr id="3" name="Foliennummernplatzhalter 1">
            <a:extLst>
              <a:ext uri="{FF2B5EF4-FFF2-40B4-BE49-F238E27FC236}">
                <a16:creationId xmlns:a16="http://schemas.microsoft.com/office/drawing/2014/main" id="{E6F7C8FA-3E69-AB12-A840-5F0D652B3D90}"/>
              </a:ext>
            </a:extLst>
          </p:cNvPr>
          <p:cNvSpPr txBox="1">
            <a:spLocks/>
          </p:cNvSpPr>
          <p:nvPr/>
        </p:nvSpPr>
        <p:spPr>
          <a:xfrm>
            <a:off x="11412000" y="6552000"/>
            <a:ext cx="360000" cy="306000"/>
          </a:xfrm>
          <a:prstGeom prst="rect">
            <a:avLst/>
          </a:prstGeom>
        </p:spPr>
        <p:txBody>
          <a:bodyPr lIns="0" tIns="0" rIns="0" bIns="0"/>
          <a:lstStyle>
            <a:defPPr>
              <a:defRPr lang="en-US"/>
            </a:defPPr>
            <a:lvl1pPr algn="l" defTabSz="914414" rtl="0" fontAlgn="base">
              <a:spcBef>
                <a:spcPct val="0"/>
              </a:spcBef>
              <a:spcAft>
                <a:spcPct val="0"/>
              </a:spcAft>
              <a:defRPr sz="1814" kern="1200">
                <a:solidFill>
                  <a:schemeClr val="tx1"/>
                </a:solidFill>
                <a:latin typeface="Arial" charset="0"/>
                <a:ea typeface="+mn-ea"/>
                <a:cs typeface="Arial" charset="0"/>
              </a:defRPr>
            </a:lvl1pPr>
            <a:lvl2pPr marL="456487" indent="-41761" algn="l" defTabSz="914414" rtl="0" fontAlgn="base">
              <a:spcBef>
                <a:spcPct val="0"/>
              </a:spcBef>
              <a:spcAft>
                <a:spcPct val="0"/>
              </a:spcAft>
              <a:defRPr sz="1814" kern="1200">
                <a:solidFill>
                  <a:schemeClr val="tx1"/>
                </a:solidFill>
                <a:latin typeface="Arial" charset="0"/>
                <a:ea typeface="+mn-ea"/>
                <a:cs typeface="Arial" charset="0"/>
              </a:defRPr>
            </a:lvl2pPr>
            <a:lvl3pPr marL="914414" indent="-84962" algn="l" defTabSz="914414" rtl="0" fontAlgn="base">
              <a:spcBef>
                <a:spcPct val="0"/>
              </a:spcBef>
              <a:spcAft>
                <a:spcPct val="0"/>
              </a:spcAft>
              <a:defRPr sz="1814" kern="1200">
                <a:solidFill>
                  <a:schemeClr val="tx1"/>
                </a:solidFill>
                <a:latin typeface="Arial" charset="0"/>
                <a:ea typeface="+mn-ea"/>
                <a:cs typeface="Arial" charset="0"/>
              </a:defRPr>
            </a:lvl3pPr>
            <a:lvl4pPr marL="1372341" indent="-128162" algn="l" defTabSz="914414" rtl="0" fontAlgn="base">
              <a:spcBef>
                <a:spcPct val="0"/>
              </a:spcBef>
              <a:spcAft>
                <a:spcPct val="0"/>
              </a:spcAft>
              <a:defRPr sz="1814" kern="1200">
                <a:solidFill>
                  <a:schemeClr val="tx1"/>
                </a:solidFill>
                <a:latin typeface="Arial" charset="0"/>
                <a:ea typeface="+mn-ea"/>
                <a:cs typeface="Arial" charset="0"/>
              </a:defRPr>
            </a:lvl4pPr>
            <a:lvl5pPr marL="1830267" indent="-171363" algn="l" defTabSz="914414" rtl="0" fontAlgn="base">
              <a:spcBef>
                <a:spcPct val="0"/>
              </a:spcBef>
              <a:spcAft>
                <a:spcPct val="0"/>
              </a:spcAft>
              <a:defRPr sz="1814" kern="1200">
                <a:solidFill>
                  <a:schemeClr val="tx1"/>
                </a:solidFill>
                <a:latin typeface="Arial" charset="0"/>
                <a:ea typeface="+mn-ea"/>
                <a:cs typeface="Arial" charset="0"/>
              </a:defRPr>
            </a:lvl5pPr>
            <a:lvl6pPr marL="2073631" algn="l" defTabSz="829452" rtl="0" eaLnBrk="1" latinLnBrk="0" hangingPunct="1">
              <a:defRPr sz="1814" kern="1200">
                <a:solidFill>
                  <a:schemeClr val="tx1"/>
                </a:solidFill>
                <a:latin typeface="Arial" charset="0"/>
                <a:ea typeface="+mn-ea"/>
                <a:cs typeface="Arial" charset="0"/>
              </a:defRPr>
            </a:lvl6pPr>
            <a:lvl7pPr marL="2488357" algn="l" defTabSz="829452" rtl="0" eaLnBrk="1" latinLnBrk="0" hangingPunct="1">
              <a:defRPr sz="1814" kern="1200">
                <a:solidFill>
                  <a:schemeClr val="tx1"/>
                </a:solidFill>
                <a:latin typeface="Arial" charset="0"/>
                <a:ea typeface="+mn-ea"/>
                <a:cs typeface="Arial" charset="0"/>
              </a:defRPr>
            </a:lvl7pPr>
            <a:lvl8pPr marL="2903083" algn="l" defTabSz="829452" rtl="0" eaLnBrk="1" latinLnBrk="0" hangingPunct="1">
              <a:defRPr sz="1814" kern="1200">
                <a:solidFill>
                  <a:schemeClr val="tx1"/>
                </a:solidFill>
                <a:latin typeface="Arial" charset="0"/>
                <a:ea typeface="+mn-ea"/>
                <a:cs typeface="Arial" charset="0"/>
              </a:defRPr>
            </a:lvl8pPr>
            <a:lvl9pPr marL="3317809" algn="l" defTabSz="829452" rtl="0" eaLnBrk="1" latinLnBrk="0" hangingPunct="1">
              <a:defRPr sz="1814" kern="1200">
                <a:solidFill>
                  <a:schemeClr val="tx1"/>
                </a:solidFill>
                <a:latin typeface="Arial" charset="0"/>
                <a:ea typeface="+mn-ea"/>
                <a:cs typeface="Arial" charset="0"/>
              </a:defRPr>
            </a:lvl9pPr>
          </a:lstStyle>
          <a:p>
            <a:pPr algn="r">
              <a:defRPr/>
            </a:pPr>
            <a:fld id="{2F3E20D8-87FE-CB44-8098-7B77BDE06CF2}" type="slidenum">
              <a:rPr lang="en-US" sz="1000" b="1">
                <a:solidFill>
                  <a:srgbClr val="0C2340"/>
                </a:solidFill>
                <a:latin typeface="Calibri" panose="020F0502020204030204" pitchFamily="34" charset="0"/>
                <a:cs typeface="Calibri" panose="020F0502020204030204" pitchFamily="34" charset="0"/>
              </a:rPr>
              <a:pPr algn="r">
                <a:defRPr/>
              </a:pPr>
              <a:t>7</a:t>
            </a:fld>
            <a:endParaRPr lang="en-US" sz="1000" b="1">
              <a:solidFill>
                <a:srgbClr val="0C2340"/>
              </a:solidFill>
              <a:latin typeface="Calibri" panose="020F0502020204030204" pitchFamily="34" charset="0"/>
              <a:cs typeface="Calibri" panose="020F0502020204030204" pitchFamily="34" charset="0"/>
            </a:endParaRPr>
          </a:p>
        </p:txBody>
      </p:sp>
      <p:sp>
        <p:nvSpPr>
          <p:cNvPr id="4" name="Rechteck 3">
            <a:extLst>
              <a:ext uri="{FF2B5EF4-FFF2-40B4-BE49-F238E27FC236}">
                <a16:creationId xmlns:a16="http://schemas.microsoft.com/office/drawing/2014/main" id="{1FEA9068-0377-77FE-8AE8-3D81016E7FCA}"/>
              </a:ext>
            </a:extLst>
          </p:cNvPr>
          <p:cNvSpPr/>
          <p:nvPr/>
        </p:nvSpPr>
        <p:spPr>
          <a:xfrm>
            <a:off x="360000" y="6570000"/>
            <a:ext cx="2880000" cy="288000"/>
          </a:xfrm>
          <a:prstGeom prst="rect">
            <a:avLst/>
          </a:prstGeom>
        </p:spPr>
        <p:txBody>
          <a:bodyPr wrap="square" lIns="0" tIns="0" rIns="0" bIns="0">
            <a:noAutofit/>
          </a:bodyPr>
          <a:lstStyle/>
          <a:p>
            <a:pPr>
              <a:lnSpc>
                <a:spcPts val="998"/>
              </a:lnSpc>
              <a:defRPr/>
            </a:pPr>
            <a:r>
              <a:rPr lang="en-US" sz="800" b="1">
                <a:solidFill>
                  <a:srgbClr val="0018A8"/>
                </a:solidFill>
                <a:ea typeface="Deutsche Bank Text" panose="020B0503020202030204" pitchFamily="34" charset="0"/>
                <a:cs typeface="Arial" panose="020B0604020202020204" pitchFamily="34" charset="0"/>
              </a:rPr>
              <a:t>Deutsche Bank AG     </a:t>
            </a:r>
            <a:r>
              <a:rPr lang="en-US" sz="800" b="1">
                <a:solidFill>
                  <a:srgbClr val="0C2340"/>
                </a:solidFill>
                <a:ea typeface="Deutsche Bank Text" panose="020B0503020202030204" pitchFamily="34" charset="0"/>
                <a:cs typeface="Arial" panose="020B0604020202020204" pitchFamily="34" charset="0"/>
              </a:rPr>
              <a:t>Betriebliche Altersversorgung</a:t>
            </a:r>
          </a:p>
        </p:txBody>
      </p:sp>
      <p:pic>
        <p:nvPicPr>
          <p:cNvPr id="5" name="Grafik 4">
            <a:extLst>
              <a:ext uri="{FF2B5EF4-FFF2-40B4-BE49-F238E27FC236}">
                <a16:creationId xmlns:a16="http://schemas.microsoft.com/office/drawing/2014/main" id="{A64CBEAA-3A2A-3E72-7EEA-F8D51B730AE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232000" y="360000"/>
            <a:ext cx="540000" cy="540000"/>
          </a:xfrm>
          <a:prstGeom prst="rect">
            <a:avLst/>
          </a:prstGeom>
        </p:spPr>
      </p:pic>
      <p:sp>
        <p:nvSpPr>
          <p:cNvPr id="7" name="Titel 2">
            <a:extLst>
              <a:ext uri="{FF2B5EF4-FFF2-40B4-BE49-F238E27FC236}">
                <a16:creationId xmlns:a16="http://schemas.microsoft.com/office/drawing/2014/main" id="{B29CB390-D1A2-1C90-CC0B-BBE4349E6F5B}"/>
              </a:ext>
            </a:extLst>
          </p:cNvPr>
          <p:cNvSpPr txBox="1">
            <a:spLocks/>
          </p:cNvSpPr>
          <p:nvPr/>
        </p:nvSpPr>
        <p:spPr>
          <a:xfrm>
            <a:off x="360000" y="360000"/>
            <a:ext cx="8262000" cy="612000"/>
          </a:xfrm>
          <a:prstGeom prst="rect">
            <a:avLst/>
          </a:prstGeom>
        </p:spPr>
        <p:txBody>
          <a:bodyPr lIns="0" tIns="0" rIns="0" bIns="0" anchor="t" anchorCtr="0"/>
          <a:lstStyle>
            <a:lvl1pPr algn="l" rtl="0" eaLnBrk="1" fontAlgn="base" hangingPunct="1">
              <a:lnSpc>
                <a:spcPct val="80000"/>
              </a:lnSpc>
              <a:spcBef>
                <a:spcPct val="0"/>
              </a:spcBef>
              <a:spcAft>
                <a:spcPct val="0"/>
              </a:spcAft>
              <a:defRPr sz="3266" kern="1200" baseline="0">
                <a:solidFill>
                  <a:schemeClr val="tx1"/>
                </a:solidFill>
                <a:latin typeface="+mj-lt"/>
                <a:ea typeface="Deutsche Bank Display" panose="020F0403020203030304" pitchFamily="34" charset="0"/>
                <a:cs typeface="Calibri Light" panose="020F0302020204030204" pitchFamily="34" charset="0"/>
              </a:defRPr>
            </a:lvl1pPr>
            <a:lvl2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5pPr>
            <a:lvl6pPr marL="456273" algn="l" rtl="0" eaLnBrk="1" fontAlgn="base" hangingPunct="1">
              <a:lnSpc>
                <a:spcPct val="90000"/>
              </a:lnSpc>
              <a:spcBef>
                <a:spcPct val="0"/>
              </a:spcBef>
              <a:spcAft>
                <a:spcPct val="0"/>
              </a:spcAft>
              <a:tabLst>
                <a:tab pos="665398" algn="l"/>
              </a:tabLst>
              <a:defRPr sz="2351" b="1">
                <a:solidFill>
                  <a:schemeClr val="tx1"/>
                </a:solidFill>
                <a:latin typeface="Arial" charset="0"/>
              </a:defRPr>
            </a:lvl6pPr>
            <a:lvl7pPr marL="912546" algn="l" rtl="0" eaLnBrk="1" fontAlgn="base" hangingPunct="1">
              <a:lnSpc>
                <a:spcPct val="90000"/>
              </a:lnSpc>
              <a:spcBef>
                <a:spcPct val="0"/>
              </a:spcBef>
              <a:spcAft>
                <a:spcPct val="0"/>
              </a:spcAft>
              <a:tabLst>
                <a:tab pos="665398" algn="l"/>
              </a:tabLst>
              <a:defRPr sz="2351" b="1">
                <a:solidFill>
                  <a:schemeClr val="tx1"/>
                </a:solidFill>
                <a:latin typeface="Arial" charset="0"/>
              </a:defRPr>
            </a:lvl7pPr>
            <a:lvl8pPr marL="1368819" algn="l" rtl="0" eaLnBrk="1" fontAlgn="base" hangingPunct="1">
              <a:lnSpc>
                <a:spcPct val="90000"/>
              </a:lnSpc>
              <a:spcBef>
                <a:spcPct val="0"/>
              </a:spcBef>
              <a:spcAft>
                <a:spcPct val="0"/>
              </a:spcAft>
              <a:tabLst>
                <a:tab pos="665398" algn="l"/>
              </a:tabLst>
              <a:defRPr sz="2351" b="1">
                <a:solidFill>
                  <a:schemeClr val="tx1"/>
                </a:solidFill>
                <a:latin typeface="Arial" charset="0"/>
              </a:defRPr>
            </a:lvl8pPr>
            <a:lvl9pPr marL="1825091" algn="l" rtl="0" eaLnBrk="1" fontAlgn="base" hangingPunct="1">
              <a:lnSpc>
                <a:spcPct val="90000"/>
              </a:lnSpc>
              <a:spcBef>
                <a:spcPct val="0"/>
              </a:spcBef>
              <a:spcAft>
                <a:spcPct val="0"/>
              </a:spcAft>
              <a:tabLst>
                <a:tab pos="665398" algn="l"/>
              </a:tabLst>
              <a:defRPr sz="2351" b="1">
                <a:solidFill>
                  <a:schemeClr val="tx1"/>
                </a:solidFill>
                <a:latin typeface="Arial" charset="0"/>
              </a:defRPr>
            </a:lvl9pPr>
          </a:lstStyle>
          <a:p>
            <a:pPr marL="12700">
              <a:lnSpc>
                <a:spcPct val="100000"/>
              </a:lnSpc>
              <a:spcBef>
                <a:spcPts val="645"/>
              </a:spcBef>
            </a:pPr>
            <a:r>
              <a:rPr lang="de-DE" sz="2100" dirty="0" err="1">
                <a:solidFill>
                  <a:srgbClr val="0C2340"/>
                </a:solidFill>
                <a:latin typeface="Calibri Light" panose="020F0302020204030204" pitchFamily="34" charset="0"/>
              </a:rPr>
              <a:t>Anspracheideen</a:t>
            </a:r>
            <a:r>
              <a:rPr lang="de-DE" sz="2100" dirty="0">
                <a:solidFill>
                  <a:srgbClr val="0C2340"/>
                </a:solidFill>
                <a:latin typeface="Calibri Light" panose="020F0302020204030204" pitchFamily="34" charset="0"/>
              </a:rPr>
              <a:t>:</a:t>
            </a:r>
          </a:p>
        </p:txBody>
      </p:sp>
      <p:sp>
        <p:nvSpPr>
          <p:cNvPr id="2" name="Rectangle 1">
            <a:extLst>
              <a:ext uri="{FF2B5EF4-FFF2-40B4-BE49-F238E27FC236}">
                <a16:creationId xmlns:a16="http://schemas.microsoft.com/office/drawing/2014/main" id="{AF6D0829-DB35-7A7C-1DEA-349170C4859F}"/>
              </a:ext>
            </a:extLst>
          </p:cNvPr>
          <p:cNvSpPr>
            <a:spLocks noChangeArrowheads="1"/>
          </p:cNvSpPr>
          <p:nvPr/>
        </p:nvSpPr>
        <p:spPr bwMode="auto">
          <a:xfrm>
            <a:off x="360000" y="918139"/>
            <a:ext cx="8797855" cy="367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600" b="1" i="0" strike="noStrike" cap="none" normalizeH="0" baseline="0" dirty="0">
                <a:ln>
                  <a:noFill/>
                </a:ln>
                <a:solidFill>
                  <a:srgbClr val="212121"/>
                </a:solidFill>
                <a:effectLst/>
                <a:latin typeface="Aptos" panose="020B0004020202020204" pitchFamily="34" charset="0"/>
              </a:rPr>
              <a:t>Klar, strategisch, auf Augenhöhe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1" i="0" u="none" strike="noStrike" cap="none" normalizeH="0" baseline="0" dirty="0">
                <a:ln>
                  <a:noFill/>
                </a:ln>
                <a:solidFill>
                  <a:srgbClr val="212121"/>
                </a:solidFill>
                <a:effectLst/>
                <a:latin typeface="Aptos" panose="020B0004020202020204" pitchFamily="34" charset="0"/>
              </a:rPr>
              <a:t>Einstieg:</a:t>
            </a:r>
            <a:endParaRPr kumimoji="0" lang="de-DE" altLang="de-DE"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dirty="0">
                <a:ln>
                  <a:noFill/>
                </a:ln>
                <a:solidFill>
                  <a:srgbClr val="212121"/>
                </a:solidFill>
                <a:effectLst/>
                <a:latin typeface="Aptos" panose="020B0004020202020204" pitchFamily="34" charset="0"/>
              </a:rPr>
              <a:t>„Guten Tag Herr/Frau [Name], hier ist [Name] von der [Bank]. Ich mache es ganz kurz – ich melde mich mit einem strategischen Impuls, der speziell für Sie als Geschäftsführer interessant ist.“</a:t>
            </a:r>
            <a:endParaRPr kumimoji="0" lang="de-DE" altLang="de-DE"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1" i="0" u="none" strike="noStrike" cap="none" normalizeH="0" baseline="0" dirty="0">
                <a:ln>
                  <a:noFill/>
                </a:ln>
                <a:solidFill>
                  <a:srgbClr val="212121"/>
                </a:solidFill>
                <a:effectLst/>
                <a:latin typeface="Aptos" panose="020B0004020202020204" pitchFamily="34" charset="0"/>
              </a:rPr>
              <a:t>Relevanz herstellen:</a:t>
            </a:r>
            <a:endParaRPr kumimoji="0" lang="de-DE" altLang="de-DE"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dirty="0">
                <a:ln>
                  <a:noFill/>
                </a:ln>
                <a:solidFill>
                  <a:srgbClr val="212121"/>
                </a:solidFill>
                <a:effectLst/>
                <a:latin typeface="Aptos" panose="020B0004020202020204" pitchFamily="34" charset="0"/>
              </a:rPr>
              <a:t>„Es geht darum, wie man über das Unternehmen Vermögen strukturiert ins Privatvermögen überführen kann – steuerlich optimiert, bilanziell sinnvoll und unter Nutzung der aktuellen Kapitalmarktsituation.“</a:t>
            </a:r>
            <a:endParaRPr kumimoji="0" lang="de-DE" altLang="de-DE"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1" i="0" u="none" strike="noStrike" cap="none" normalizeH="0" baseline="0" dirty="0">
                <a:ln>
                  <a:noFill/>
                </a:ln>
                <a:solidFill>
                  <a:srgbClr val="212121"/>
                </a:solidFill>
                <a:effectLst/>
                <a:latin typeface="Aptos" panose="020B0004020202020204" pitchFamily="34" charset="0"/>
              </a:rPr>
              <a:t>Sozialen Auftrag einbinden:</a:t>
            </a:r>
            <a:endParaRPr kumimoji="0" lang="de-DE" altLang="de-DE"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dirty="0">
                <a:ln>
                  <a:noFill/>
                </a:ln>
                <a:solidFill>
                  <a:srgbClr val="212121"/>
                </a:solidFill>
                <a:effectLst/>
                <a:latin typeface="Aptos" panose="020B0004020202020204" pitchFamily="34" charset="0"/>
              </a:rPr>
              <a:t>„Als Bank sehen wir es auch als unseren Auftrag, unsere Unternehmer aktiv auf solche Gestaltungsmöglichkeiten hinzuweisen – gerade im Bereich Absicherung und Altersvorsorge über das Unternehmen.“</a:t>
            </a:r>
            <a:endParaRPr kumimoji="0" lang="de-DE" altLang="de-DE"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1" i="0" u="none" strike="noStrike" cap="none" normalizeH="0" baseline="0" dirty="0">
                <a:ln>
                  <a:noFill/>
                </a:ln>
                <a:solidFill>
                  <a:srgbClr val="212121"/>
                </a:solidFill>
                <a:effectLst/>
                <a:latin typeface="Aptos" panose="020B0004020202020204" pitchFamily="34" charset="0"/>
              </a:rPr>
              <a:t>Terminüberleitung:</a:t>
            </a:r>
            <a:endParaRPr kumimoji="0" lang="de-DE" altLang="de-DE"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dirty="0">
                <a:ln>
                  <a:noFill/>
                </a:ln>
                <a:solidFill>
                  <a:srgbClr val="212121"/>
                </a:solidFill>
                <a:effectLst/>
                <a:latin typeface="Aptos" panose="020B0004020202020204" pitchFamily="34" charset="0"/>
              </a:rPr>
              <a:t>„Das Thema ist zu komplex für ein Telefonat, aber sehr spannend für Sie. Ich würde Ihnen das gern kompakt und strukturiert in 30 Minuten vorstellen.“</a:t>
            </a:r>
            <a:endParaRPr kumimoji="0" lang="de-DE" altLang="de-DE"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1" i="0" u="none" strike="noStrike" cap="none" normalizeH="0" baseline="0" dirty="0">
                <a:ln>
                  <a:noFill/>
                </a:ln>
                <a:solidFill>
                  <a:srgbClr val="212121"/>
                </a:solidFill>
                <a:effectLst/>
                <a:latin typeface="Aptos" panose="020B0004020202020204" pitchFamily="34" charset="0"/>
              </a:rPr>
              <a:t>Abschlussfrage:</a:t>
            </a:r>
            <a:endParaRPr kumimoji="0" lang="de-DE" altLang="de-DE"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dirty="0">
                <a:ln>
                  <a:noFill/>
                </a:ln>
                <a:solidFill>
                  <a:srgbClr val="212121"/>
                </a:solidFill>
                <a:effectLst/>
                <a:latin typeface="Aptos" panose="020B0004020202020204" pitchFamily="34" charset="0"/>
              </a:rPr>
              <a:t>„Passt es Ihnen nächste Woche eher vormittags oder nachmittags?“</a:t>
            </a:r>
            <a:endParaRPr kumimoji="0" lang="de-DE" altLang="de-DE"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76016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12257-2FF8-DF50-FB08-69117BE80999}"/>
            </a:ext>
          </a:extLst>
        </p:cNvPr>
        <p:cNvGrpSpPr/>
        <p:nvPr/>
      </p:nvGrpSpPr>
      <p:grpSpPr>
        <a:xfrm>
          <a:off x="0" y="0"/>
          <a:ext cx="0" cy="0"/>
          <a:chOff x="0" y="0"/>
          <a:chExt cx="0" cy="0"/>
        </a:xfrm>
      </p:grpSpPr>
      <p:pic>
        <p:nvPicPr>
          <p:cNvPr id="27" name="Grafik 26" descr="Ein Bild, das Computer, peripher, Büroausstattung, Eingabegerät enthält.&#10;&#10;Automatisch generierte Beschreibung">
            <a:extLst>
              <a:ext uri="{FF2B5EF4-FFF2-40B4-BE49-F238E27FC236}">
                <a16:creationId xmlns:a16="http://schemas.microsoft.com/office/drawing/2014/main" id="{809FCE6B-3D24-A1B2-9C4B-54F367B7E2D0}"/>
              </a:ext>
            </a:extLst>
          </p:cNvPr>
          <p:cNvPicPr>
            <a:picLocks noChangeAspect="1"/>
          </p:cNvPicPr>
          <p:nvPr/>
        </p:nvPicPr>
        <p:blipFill>
          <a:blip r:embed="rId3">
            <a:alphaModFix amt="75000"/>
          </a:blip>
          <a:srcRect l="834" r="4337" b="2141"/>
          <a:stretch/>
        </p:blipFill>
        <p:spPr>
          <a:xfrm>
            <a:off x="-1" y="0"/>
            <a:ext cx="12188825" cy="6858000"/>
          </a:xfrm>
          <a:prstGeom prst="rect">
            <a:avLst/>
          </a:prstGeom>
        </p:spPr>
      </p:pic>
      <p:sp>
        <p:nvSpPr>
          <p:cNvPr id="3" name="Foliennummernplatzhalter 1">
            <a:extLst>
              <a:ext uri="{FF2B5EF4-FFF2-40B4-BE49-F238E27FC236}">
                <a16:creationId xmlns:a16="http://schemas.microsoft.com/office/drawing/2014/main" id="{D9597136-8DE6-0475-4BB8-522457784711}"/>
              </a:ext>
            </a:extLst>
          </p:cNvPr>
          <p:cNvSpPr txBox="1">
            <a:spLocks/>
          </p:cNvSpPr>
          <p:nvPr/>
        </p:nvSpPr>
        <p:spPr>
          <a:xfrm>
            <a:off x="11412000" y="6552000"/>
            <a:ext cx="360000" cy="306000"/>
          </a:xfrm>
          <a:prstGeom prst="rect">
            <a:avLst/>
          </a:prstGeom>
        </p:spPr>
        <p:txBody>
          <a:bodyPr lIns="0" tIns="0" rIns="0" bIns="0"/>
          <a:lstStyle>
            <a:defPPr>
              <a:defRPr lang="en-US"/>
            </a:defPPr>
            <a:lvl1pPr algn="l" defTabSz="914414" rtl="0" fontAlgn="base">
              <a:spcBef>
                <a:spcPct val="0"/>
              </a:spcBef>
              <a:spcAft>
                <a:spcPct val="0"/>
              </a:spcAft>
              <a:defRPr sz="1814" kern="1200">
                <a:solidFill>
                  <a:schemeClr val="tx1"/>
                </a:solidFill>
                <a:latin typeface="Arial" charset="0"/>
                <a:ea typeface="+mn-ea"/>
                <a:cs typeface="Arial" charset="0"/>
              </a:defRPr>
            </a:lvl1pPr>
            <a:lvl2pPr marL="456487" indent="-41761" algn="l" defTabSz="914414" rtl="0" fontAlgn="base">
              <a:spcBef>
                <a:spcPct val="0"/>
              </a:spcBef>
              <a:spcAft>
                <a:spcPct val="0"/>
              </a:spcAft>
              <a:defRPr sz="1814" kern="1200">
                <a:solidFill>
                  <a:schemeClr val="tx1"/>
                </a:solidFill>
                <a:latin typeface="Arial" charset="0"/>
                <a:ea typeface="+mn-ea"/>
                <a:cs typeface="Arial" charset="0"/>
              </a:defRPr>
            </a:lvl2pPr>
            <a:lvl3pPr marL="914414" indent="-84962" algn="l" defTabSz="914414" rtl="0" fontAlgn="base">
              <a:spcBef>
                <a:spcPct val="0"/>
              </a:spcBef>
              <a:spcAft>
                <a:spcPct val="0"/>
              </a:spcAft>
              <a:defRPr sz="1814" kern="1200">
                <a:solidFill>
                  <a:schemeClr val="tx1"/>
                </a:solidFill>
                <a:latin typeface="Arial" charset="0"/>
                <a:ea typeface="+mn-ea"/>
                <a:cs typeface="Arial" charset="0"/>
              </a:defRPr>
            </a:lvl3pPr>
            <a:lvl4pPr marL="1372341" indent="-128162" algn="l" defTabSz="914414" rtl="0" fontAlgn="base">
              <a:spcBef>
                <a:spcPct val="0"/>
              </a:spcBef>
              <a:spcAft>
                <a:spcPct val="0"/>
              </a:spcAft>
              <a:defRPr sz="1814" kern="1200">
                <a:solidFill>
                  <a:schemeClr val="tx1"/>
                </a:solidFill>
                <a:latin typeface="Arial" charset="0"/>
                <a:ea typeface="+mn-ea"/>
                <a:cs typeface="Arial" charset="0"/>
              </a:defRPr>
            </a:lvl4pPr>
            <a:lvl5pPr marL="1830267" indent="-171363" algn="l" defTabSz="914414" rtl="0" fontAlgn="base">
              <a:spcBef>
                <a:spcPct val="0"/>
              </a:spcBef>
              <a:spcAft>
                <a:spcPct val="0"/>
              </a:spcAft>
              <a:defRPr sz="1814" kern="1200">
                <a:solidFill>
                  <a:schemeClr val="tx1"/>
                </a:solidFill>
                <a:latin typeface="Arial" charset="0"/>
                <a:ea typeface="+mn-ea"/>
                <a:cs typeface="Arial" charset="0"/>
              </a:defRPr>
            </a:lvl5pPr>
            <a:lvl6pPr marL="2073631" algn="l" defTabSz="829452" rtl="0" eaLnBrk="1" latinLnBrk="0" hangingPunct="1">
              <a:defRPr sz="1814" kern="1200">
                <a:solidFill>
                  <a:schemeClr val="tx1"/>
                </a:solidFill>
                <a:latin typeface="Arial" charset="0"/>
                <a:ea typeface="+mn-ea"/>
                <a:cs typeface="Arial" charset="0"/>
              </a:defRPr>
            </a:lvl6pPr>
            <a:lvl7pPr marL="2488357" algn="l" defTabSz="829452" rtl="0" eaLnBrk="1" latinLnBrk="0" hangingPunct="1">
              <a:defRPr sz="1814" kern="1200">
                <a:solidFill>
                  <a:schemeClr val="tx1"/>
                </a:solidFill>
                <a:latin typeface="Arial" charset="0"/>
                <a:ea typeface="+mn-ea"/>
                <a:cs typeface="Arial" charset="0"/>
              </a:defRPr>
            </a:lvl7pPr>
            <a:lvl8pPr marL="2903083" algn="l" defTabSz="829452" rtl="0" eaLnBrk="1" latinLnBrk="0" hangingPunct="1">
              <a:defRPr sz="1814" kern="1200">
                <a:solidFill>
                  <a:schemeClr val="tx1"/>
                </a:solidFill>
                <a:latin typeface="Arial" charset="0"/>
                <a:ea typeface="+mn-ea"/>
                <a:cs typeface="Arial" charset="0"/>
              </a:defRPr>
            </a:lvl8pPr>
            <a:lvl9pPr marL="3317809" algn="l" defTabSz="829452" rtl="0" eaLnBrk="1" latinLnBrk="0" hangingPunct="1">
              <a:defRPr sz="1814" kern="1200">
                <a:solidFill>
                  <a:schemeClr val="tx1"/>
                </a:solidFill>
                <a:latin typeface="Arial" charset="0"/>
                <a:ea typeface="+mn-ea"/>
                <a:cs typeface="Arial" charset="0"/>
              </a:defRPr>
            </a:lvl9pPr>
          </a:lstStyle>
          <a:p>
            <a:pPr algn="r">
              <a:defRPr/>
            </a:pPr>
            <a:fld id="{2F3E20D8-87FE-CB44-8098-7B77BDE06CF2}" type="slidenum">
              <a:rPr lang="en-US" sz="1000" b="1">
                <a:solidFill>
                  <a:srgbClr val="0C2340"/>
                </a:solidFill>
                <a:latin typeface="Calibri" panose="020F0502020204030204" pitchFamily="34" charset="0"/>
                <a:cs typeface="Calibri" panose="020F0502020204030204" pitchFamily="34" charset="0"/>
              </a:rPr>
              <a:pPr algn="r">
                <a:defRPr/>
              </a:pPr>
              <a:t>8</a:t>
            </a:fld>
            <a:endParaRPr lang="en-US" sz="1000" b="1">
              <a:solidFill>
                <a:srgbClr val="0C2340"/>
              </a:solidFill>
              <a:latin typeface="Calibri" panose="020F0502020204030204" pitchFamily="34" charset="0"/>
              <a:cs typeface="Calibri" panose="020F0502020204030204" pitchFamily="34" charset="0"/>
            </a:endParaRPr>
          </a:p>
        </p:txBody>
      </p:sp>
      <p:sp>
        <p:nvSpPr>
          <p:cNvPr id="4" name="Rechteck 3">
            <a:extLst>
              <a:ext uri="{FF2B5EF4-FFF2-40B4-BE49-F238E27FC236}">
                <a16:creationId xmlns:a16="http://schemas.microsoft.com/office/drawing/2014/main" id="{5629CAA7-AFFD-D7A0-EF71-D322233C9365}"/>
              </a:ext>
            </a:extLst>
          </p:cNvPr>
          <p:cNvSpPr/>
          <p:nvPr/>
        </p:nvSpPr>
        <p:spPr>
          <a:xfrm>
            <a:off x="360000" y="6570000"/>
            <a:ext cx="2880000" cy="288000"/>
          </a:xfrm>
          <a:prstGeom prst="rect">
            <a:avLst/>
          </a:prstGeom>
        </p:spPr>
        <p:txBody>
          <a:bodyPr wrap="square" lIns="0" tIns="0" rIns="0" bIns="0">
            <a:noAutofit/>
          </a:bodyPr>
          <a:lstStyle/>
          <a:p>
            <a:pPr>
              <a:lnSpc>
                <a:spcPts val="998"/>
              </a:lnSpc>
              <a:defRPr/>
            </a:pPr>
            <a:r>
              <a:rPr lang="en-US" sz="800" b="1">
                <a:solidFill>
                  <a:srgbClr val="0018A8"/>
                </a:solidFill>
                <a:ea typeface="Deutsche Bank Text" panose="020B0503020202030204" pitchFamily="34" charset="0"/>
                <a:cs typeface="Arial" panose="020B0604020202020204" pitchFamily="34" charset="0"/>
              </a:rPr>
              <a:t>Deutsche Bank AG     </a:t>
            </a:r>
            <a:r>
              <a:rPr lang="en-US" sz="800" b="1">
                <a:solidFill>
                  <a:srgbClr val="0C2340"/>
                </a:solidFill>
                <a:ea typeface="Deutsche Bank Text" panose="020B0503020202030204" pitchFamily="34" charset="0"/>
                <a:cs typeface="Arial" panose="020B0604020202020204" pitchFamily="34" charset="0"/>
              </a:rPr>
              <a:t>Betriebliche Altersversorgung</a:t>
            </a:r>
          </a:p>
        </p:txBody>
      </p:sp>
      <p:pic>
        <p:nvPicPr>
          <p:cNvPr id="5" name="Grafik 4">
            <a:extLst>
              <a:ext uri="{FF2B5EF4-FFF2-40B4-BE49-F238E27FC236}">
                <a16:creationId xmlns:a16="http://schemas.microsoft.com/office/drawing/2014/main" id="{81B2B5E9-B00B-9A9C-7BC3-DE03B3E863CE}"/>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232000" y="360000"/>
            <a:ext cx="540000" cy="540000"/>
          </a:xfrm>
          <a:prstGeom prst="rect">
            <a:avLst/>
          </a:prstGeom>
        </p:spPr>
      </p:pic>
      <p:sp>
        <p:nvSpPr>
          <p:cNvPr id="7" name="Titel 2">
            <a:extLst>
              <a:ext uri="{FF2B5EF4-FFF2-40B4-BE49-F238E27FC236}">
                <a16:creationId xmlns:a16="http://schemas.microsoft.com/office/drawing/2014/main" id="{211D366C-3B1C-0057-1AA1-7437A422D63F}"/>
              </a:ext>
            </a:extLst>
          </p:cNvPr>
          <p:cNvSpPr txBox="1">
            <a:spLocks/>
          </p:cNvSpPr>
          <p:nvPr/>
        </p:nvSpPr>
        <p:spPr>
          <a:xfrm>
            <a:off x="360000" y="360000"/>
            <a:ext cx="8262000" cy="612000"/>
          </a:xfrm>
          <a:prstGeom prst="rect">
            <a:avLst/>
          </a:prstGeom>
        </p:spPr>
        <p:txBody>
          <a:bodyPr lIns="0" tIns="0" rIns="0" bIns="0" anchor="t" anchorCtr="0"/>
          <a:lstStyle>
            <a:lvl1pPr algn="l" rtl="0" eaLnBrk="1" fontAlgn="base" hangingPunct="1">
              <a:lnSpc>
                <a:spcPct val="80000"/>
              </a:lnSpc>
              <a:spcBef>
                <a:spcPct val="0"/>
              </a:spcBef>
              <a:spcAft>
                <a:spcPct val="0"/>
              </a:spcAft>
              <a:defRPr sz="3266" kern="1200" baseline="0">
                <a:solidFill>
                  <a:schemeClr val="tx1"/>
                </a:solidFill>
                <a:latin typeface="+mj-lt"/>
                <a:ea typeface="Deutsche Bank Display" panose="020F0403020203030304" pitchFamily="34" charset="0"/>
                <a:cs typeface="Calibri Light" panose="020F0302020204030204" pitchFamily="34" charset="0"/>
              </a:defRPr>
            </a:lvl1pPr>
            <a:lvl2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5pPr>
            <a:lvl6pPr marL="456273" algn="l" rtl="0" eaLnBrk="1" fontAlgn="base" hangingPunct="1">
              <a:lnSpc>
                <a:spcPct val="90000"/>
              </a:lnSpc>
              <a:spcBef>
                <a:spcPct val="0"/>
              </a:spcBef>
              <a:spcAft>
                <a:spcPct val="0"/>
              </a:spcAft>
              <a:tabLst>
                <a:tab pos="665398" algn="l"/>
              </a:tabLst>
              <a:defRPr sz="2351" b="1">
                <a:solidFill>
                  <a:schemeClr val="tx1"/>
                </a:solidFill>
                <a:latin typeface="Arial" charset="0"/>
              </a:defRPr>
            </a:lvl6pPr>
            <a:lvl7pPr marL="912546" algn="l" rtl="0" eaLnBrk="1" fontAlgn="base" hangingPunct="1">
              <a:lnSpc>
                <a:spcPct val="90000"/>
              </a:lnSpc>
              <a:spcBef>
                <a:spcPct val="0"/>
              </a:spcBef>
              <a:spcAft>
                <a:spcPct val="0"/>
              </a:spcAft>
              <a:tabLst>
                <a:tab pos="665398" algn="l"/>
              </a:tabLst>
              <a:defRPr sz="2351" b="1">
                <a:solidFill>
                  <a:schemeClr val="tx1"/>
                </a:solidFill>
                <a:latin typeface="Arial" charset="0"/>
              </a:defRPr>
            </a:lvl7pPr>
            <a:lvl8pPr marL="1368819" algn="l" rtl="0" eaLnBrk="1" fontAlgn="base" hangingPunct="1">
              <a:lnSpc>
                <a:spcPct val="90000"/>
              </a:lnSpc>
              <a:spcBef>
                <a:spcPct val="0"/>
              </a:spcBef>
              <a:spcAft>
                <a:spcPct val="0"/>
              </a:spcAft>
              <a:tabLst>
                <a:tab pos="665398" algn="l"/>
              </a:tabLst>
              <a:defRPr sz="2351" b="1">
                <a:solidFill>
                  <a:schemeClr val="tx1"/>
                </a:solidFill>
                <a:latin typeface="Arial" charset="0"/>
              </a:defRPr>
            </a:lvl8pPr>
            <a:lvl9pPr marL="1825091" algn="l" rtl="0" eaLnBrk="1" fontAlgn="base" hangingPunct="1">
              <a:lnSpc>
                <a:spcPct val="90000"/>
              </a:lnSpc>
              <a:spcBef>
                <a:spcPct val="0"/>
              </a:spcBef>
              <a:spcAft>
                <a:spcPct val="0"/>
              </a:spcAft>
              <a:tabLst>
                <a:tab pos="665398" algn="l"/>
              </a:tabLst>
              <a:defRPr sz="2351" b="1">
                <a:solidFill>
                  <a:schemeClr val="tx1"/>
                </a:solidFill>
                <a:latin typeface="Arial" charset="0"/>
              </a:defRPr>
            </a:lvl9pPr>
          </a:lstStyle>
          <a:p>
            <a:pPr marL="12700">
              <a:lnSpc>
                <a:spcPct val="100000"/>
              </a:lnSpc>
              <a:spcBef>
                <a:spcPts val="645"/>
              </a:spcBef>
            </a:pPr>
            <a:r>
              <a:rPr lang="de-DE" sz="2100" dirty="0" err="1">
                <a:solidFill>
                  <a:srgbClr val="0C2340"/>
                </a:solidFill>
                <a:latin typeface="Calibri Light" panose="020F0302020204030204" pitchFamily="34" charset="0"/>
              </a:rPr>
              <a:t>Anspracheideen</a:t>
            </a:r>
            <a:r>
              <a:rPr lang="de-DE" sz="2100" dirty="0">
                <a:solidFill>
                  <a:srgbClr val="0C2340"/>
                </a:solidFill>
                <a:latin typeface="Calibri Light" panose="020F0302020204030204" pitchFamily="34" charset="0"/>
              </a:rPr>
              <a:t>:</a:t>
            </a:r>
          </a:p>
        </p:txBody>
      </p:sp>
      <p:sp>
        <p:nvSpPr>
          <p:cNvPr id="2" name="Rectangle 1">
            <a:extLst>
              <a:ext uri="{FF2B5EF4-FFF2-40B4-BE49-F238E27FC236}">
                <a16:creationId xmlns:a16="http://schemas.microsoft.com/office/drawing/2014/main" id="{8D7CC653-74E7-0A60-8670-65444488BE5E}"/>
              </a:ext>
            </a:extLst>
          </p:cNvPr>
          <p:cNvSpPr>
            <a:spLocks noChangeArrowheads="1"/>
          </p:cNvSpPr>
          <p:nvPr/>
        </p:nvSpPr>
        <p:spPr bwMode="auto">
          <a:xfrm>
            <a:off x="360000" y="918139"/>
            <a:ext cx="8797855" cy="367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de-DE" altLang="de-DE" sz="1600" b="1" dirty="0">
                <a:solidFill>
                  <a:srgbClr val="212121"/>
                </a:solidFill>
                <a:latin typeface="Aptos" panose="020B0004020202020204" pitchFamily="34" charset="0"/>
              </a:rPr>
              <a:t>Nutzenorientiert &amp; lösungsfokussiert</a:t>
            </a:r>
            <a:endParaRPr lang="de-DE" altLang="de-DE" sz="18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700" b="0" i="0" u="none" strike="noStrike" cap="none" normalizeH="0" baseline="0" dirty="0">
              <a:ln>
                <a:noFill/>
              </a:ln>
              <a:solidFill>
                <a:schemeClr val="tx1"/>
              </a:solidFill>
              <a:effectLst/>
            </a:endParaRPr>
          </a:p>
          <a:p>
            <a:pPr lvl="0" defTabSz="914400"/>
            <a:r>
              <a:rPr lang="de-DE" altLang="de-DE" sz="1400" b="1" dirty="0" err="1">
                <a:solidFill>
                  <a:srgbClr val="212121"/>
                </a:solidFill>
                <a:latin typeface="Aptos" panose="020B0004020202020204" pitchFamily="34" charset="0"/>
              </a:rPr>
              <a:t>instieg</a:t>
            </a:r>
            <a:r>
              <a:rPr lang="de-DE" altLang="de-DE" sz="1400" b="1" dirty="0">
                <a:solidFill>
                  <a:srgbClr val="212121"/>
                </a:solidFill>
                <a:latin typeface="Aptos" panose="020B0004020202020204" pitchFamily="34" charset="0"/>
              </a:rPr>
              <a:t>:</a:t>
            </a:r>
            <a:endParaRPr lang="de-DE" altLang="de-DE" sz="800" dirty="0"/>
          </a:p>
          <a:p>
            <a:pPr lvl="0" defTabSz="914400"/>
            <a:r>
              <a:rPr lang="de-DE" altLang="de-DE" sz="1400" dirty="0">
                <a:solidFill>
                  <a:srgbClr val="212121"/>
                </a:solidFill>
                <a:latin typeface="Aptos" panose="020B0004020202020204" pitchFamily="34" charset="0"/>
              </a:rPr>
              <a:t>„Guten Tag Herr/Frau [Name], [Name] von der [Bank] hier. Ich habe einen kurzen Impuls für Sie als Unternehmer – keine Sorge, dauert nur eine Minute.“</a:t>
            </a:r>
            <a:endParaRPr lang="de-DE" altLang="de-DE" sz="800" dirty="0"/>
          </a:p>
          <a:p>
            <a:pPr lvl="0" defTabSz="914400"/>
            <a:r>
              <a:rPr lang="de-DE" altLang="de-DE" sz="1400" b="1" dirty="0">
                <a:solidFill>
                  <a:srgbClr val="212121"/>
                </a:solidFill>
                <a:latin typeface="Aptos" panose="020B0004020202020204" pitchFamily="34" charset="0"/>
              </a:rPr>
              <a:t>Problem/Nutzen:</a:t>
            </a:r>
            <a:endParaRPr lang="de-DE" altLang="de-DE" sz="800" dirty="0"/>
          </a:p>
          <a:p>
            <a:pPr lvl="0" defTabSz="914400"/>
            <a:r>
              <a:rPr lang="de-DE" altLang="de-DE" sz="1400" dirty="0">
                <a:solidFill>
                  <a:srgbClr val="212121"/>
                </a:solidFill>
                <a:latin typeface="Aptos" panose="020B0004020202020204" pitchFamily="34" charset="0"/>
              </a:rPr>
              <a:t>„Viele Geschäftsführer lassen aktuell Potenzial liegen, wenn es darum geht, Unternehmensvermögen strategisch für die eigene Absicherung und den privaten Vermögensaufbau zu nutzen – insbesondere im Bereich betriebliche Vorsorgelösungen.“</a:t>
            </a:r>
            <a:endParaRPr lang="de-DE" altLang="de-DE" sz="800" dirty="0"/>
          </a:p>
          <a:p>
            <a:pPr lvl="0" defTabSz="914400"/>
            <a:r>
              <a:rPr lang="de-DE" altLang="de-DE" sz="1400" b="1" dirty="0">
                <a:solidFill>
                  <a:srgbClr val="212121"/>
                </a:solidFill>
                <a:latin typeface="Aptos" panose="020B0004020202020204" pitchFamily="34" charset="0"/>
              </a:rPr>
              <a:t>Kapitalmarkt &amp; Strategie:</a:t>
            </a:r>
            <a:endParaRPr lang="de-DE" altLang="de-DE" sz="800" dirty="0"/>
          </a:p>
          <a:p>
            <a:pPr lvl="0" defTabSz="914400"/>
            <a:r>
              <a:rPr lang="de-DE" altLang="de-DE" sz="1400" dirty="0">
                <a:solidFill>
                  <a:srgbClr val="212121"/>
                </a:solidFill>
                <a:latin typeface="Aptos" panose="020B0004020202020204" pitchFamily="34" charset="0"/>
              </a:rPr>
              <a:t>„Gerade mit Blick auf die Kapitalmärkte ergeben sich hier interessante Gestaltungsmöglichkeiten, die wir individuell prüfen können.“</a:t>
            </a:r>
            <a:endParaRPr lang="de-DE" altLang="de-DE" sz="800" dirty="0"/>
          </a:p>
          <a:p>
            <a:pPr lvl="0" defTabSz="914400"/>
            <a:r>
              <a:rPr lang="de-DE" altLang="de-DE" sz="1400" b="1" dirty="0">
                <a:solidFill>
                  <a:srgbClr val="212121"/>
                </a:solidFill>
                <a:latin typeface="Aptos" panose="020B0004020202020204" pitchFamily="34" charset="0"/>
              </a:rPr>
              <a:t>Terminüberleitung:</a:t>
            </a:r>
            <a:endParaRPr lang="de-DE" altLang="de-DE" sz="800" dirty="0"/>
          </a:p>
          <a:p>
            <a:pPr lvl="0" defTabSz="914400"/>
            <a:r>
              <a:rPr lang="de-DE" altLang="de-DE" sz="1400" dirty="0">
                <a:solidFill>
                  <a:srgbClr val="212121"/>
                </a:solidFill>
                <a:latin typeface="Aptos" panose="020B0004020202020204" pitchFamily="34" charset="0"/>
              </a:rPr>
              <a:t>„Ich würde Ihnen das gern strukturiert und mit konkreten Beispielen vorstellen – das macht im persönlichen Gespräch deutlich mehr Sinn.“</a:t>
            </a:r>
            <a:endParaRPr lang="de-DE" altLang="de-DE" sz="800" dirty="0"/>
          </a:p>
          <a:p>
            <a:pPr lvl="0" defTabSz="914400"/>
            <a:r>
              <a:rPr lang="de-DE" altLang="de-DE" sz="1400" b="1" dirty="0">
                <a:solidFill>
                  <a:srgbClr val="212121"/>
                </a:solidFill>
                <a:latin typeface="Aptos" panose="020B0004020202020204" pitchFamily="34" charset="0"/>
              </a:rPr>
              <a:t>Abschlussfrage:</a:t>
            </a:r>
            <a:endParaRPr lang="de-DE" altLang="de-DE" sz="800" dirty="0"/>
          </a:p>
          <a:p>
            <a:pPr lvl="0" defTabSz="914400"/>
            <a:r>
              <a:rPr lang="de-DE" altLang="de-DE" sz="1400" dirty="0">
                <a:solidFill>
                  <a:srgbClr val="212121"/>
                </a:solidFill>
                <a:latin typeface="Aptos" panose="020B0004020202020204" pitchFamily="34" charset="0"/>
              </a:rPr>
              <a:t>„Passt es Ihnen nächste Woche eher vormittags oder nachmittags?“</a:t>
            </a:r>
            <a:endParaRPr lang="de-DE" altLang="de-DE" sz="2400" dirty="0"/>
          </a:p>
        </p:txBody>
      </p:sp>
    </p:spTree>
    <p:extLst>
      <p:ext uri="{BB962C8B-B14F-4D97-AF65-F5344CB8AC3E}">
        <p14:creationId xmlns:p14="http://schemas.microsoft.com/office/powerpoint/2010/main" val="617521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70B7B-3EC3-27B1-803B-354EEDF400DF}"/>
            </a:ext>
          </a:extLst>
        </p:cNvPr>
        <p:cNvGrpSpPr/>
        <p:nvPr/>
      </p:nvGrpSpPr>
      <p:grpSpPr>
        <a:xfrm>
          <a:off x="0" y="0"/>
          <a:ext cx="0" cy="0"/>
          <a:chOff x="0" y="0"/>
          <a:chExt cx="0" cy="0"/>
        </a:xfrm>
      </p:grpSpPr>
      <p:pic>
        <p:nvPicPr>
          <p:cNvPr id="8" name="Grafik 7" descr="Ein Bild, das Computer, peripher, Büroausstattung, Eingabegerät enthält.&#10;&#10;Automatisch generierte Beschreibung">
            <a:extLst>
              <a:ext uri="{FF2B5EF4-FFF2-40B4-BE49-F238E27FC236}">
                <a16:creationId xmlns:a16="http://schemas.microsoft.com/office/drawing/2014/main" id="{771CB127-1511-B8FC-FA52-99952741206D}"/>
              </a:ext>
            </a:extLst>
          </p:cNvPr>
          <p:cNvPicPr>
            <a:picLocks noChangeAspect="1"/>
          </p:cNvPicPr>
          <p:nvPr/>
        </p:nvPicPr>
        <p:blipFill>
          <a:blip r:embed="rId3">
            <a:alphaModFix amt="75000"/>
          </a:blip>
          <a:srcRect l="834" r="4337" b="2141"/>
          <a:stretch/>
        </p:blipFill>
        <p:spPr>
          <a:xfrm>
            <a:off x="-1" y="0"/>
            <a:ext cx="12188825" cy="6858000"/>
          </a:xfrm>
          <a:prstGeom prst="rect">
            <a:avLst/>
          </a:prstGeom>
        </p:spPr>
      </p:pic>
      <p:sp>
        <p:nvSpPr>
          <p:cNvPr id="3" name="Foliennummernplatzhalter 1">
            <a:extLst>
              <a:ext uri="{FF2B5EF4-FFF2-40B4-BE49-F238E27FC236}">
                <a16:creationId xmlns:a16="http://schemas.microsoft.com/office/drawing/2014/main" id="{6A8BD30F-3FD4-BED5-5F0D-7C54D25E7D87}"/>
              </a:ext>
            </a:extLst>
          </p:cNvPr>
          <p:cNvSpPr txBox="1">
            <a:spLocks/>
          </p:cNvSpPr>
          <p:nvPr/>
        </p:nvSpPr>
        <p:spPr>
          <a:xfrm>
            <a:off x="11412000" y="6552000"/>
            <a:ext cx="360000" cy="306000"/>
          </a:xfrm>
          <a:prstGeom prst="rect">
            <a:avLst/>
          </a:prstGeom>
        </p:spPr>
        <p:txBody>
          <a:bodyPr lIns="0" tIns="0" rIns="0" bIns="0"/>
          <a:lstStyle>
            <a:defPPr>
              <a:defRPr lang="en-US"/>
            </a:defPPr>
            <a:lvl1pPr algn="l" defTabSz="914414" rtl="0" fontAlgn="base">
              <a:spcBef>
                <a:spcPct val="0"/>
              </a:spcBef>
              <a:spcAft>
                <a:spcPct val="0"/>
              </a:spcAft>
              <a:defRPr sz="1814" kern="1200">
                <a:solidFill>
                  <a:schemeClr val="tx1"/>
                </a:solidFill>
                <a:latin typeface="Arial" charset="0"/>
                <a:ea typeface="+mn-ea"/>
                <a:cs typeface="Arial" charset="0"/>
              </a:defRPr>
            </a:lvl1pPr>
            <a:lvl2pPr marL="456487" indent="-41761" algn="l" defTabSz="914414" rtl="0" fontAlgn="base">
              <a:spcBef>
                <a:spcPct val="0"/>
              </a:spcBef>
              <a:spcAft>
                <a:spcPct val="0"/>
              </a:spcAft>
              <a:defRPr sz="1814" kern="1200">
                <a:solidFill>
                  <a:schemeClr val="tx1"/>
                </a:solidFill>
                <a:latin typeface="Arial" charset="0"/>
                <a:ea typeface="+mn-ea"/>
                <a:cs typeface="Arial" charset="0"/>
              </a:defRPr>
            </a:lvl2pPr>
            <a:lvl3pPr marL="914414" indent="-84962" algn="l" defTabSz="914414" rtl="0" fontAlgn="base">
              <a:spcBef>
                <a:spcPct val="0"/>
              </a:spcBef>
              <a:spcAft>
                <a:spcPct val="0"/>
              </a:spcAft>
              <a:defRPr sz="1814" kern="1200">
                <a:solidFill>
                  <a:schemeClr val="tx1"/>
                </a:solidFill>
                <a:latin typeface="Arial" charset="0"/>
                <a:ea typeface="+mn-ea"/>
                <a:cs typeface="Arial" charset="0"/>
              </a:defRPr>
            </a:lvl3pPr>
            <a:lvl4pPr marL="1372341" indent="-128162" algn="l" defTabSz="914414" rtl="0" fontAlgn="base">
              <a:spcBef>
                <a:spcPct val="0"/>
              </a:spcBef>
              <a:spcAft>
                <a:spcPct val="0"/>
              </a:spcAft>
              <a:defRPr sz="1814" kern="1200">
                <a:solidFill>
                  <a:schemeClr val="tx1"/>
                </a:solidFill>
                <a:latin typeface="Arial" charset="0"/>
                <a:ea typeface="+mn-ea"/>
                <a:cs typeface="Arial" charset="0"/>
              </a:defRPr>
            </a:lvl4pPr>
            <a:lvl5pPr marL="1830267" indent="-171363" algn="l" defTabSz="914414" rtl="0" fontAlgn="base">
              <a:spcBef>
                <a:spcPct val="0"/>
              </a:spcBef>
              <a:spcAft>
                <a:spcPct val="0"/>
              </a:spcAft>
              <a:defRPr sz="1814" kern="1200">
                <a:solidFill>
                  <a:schemeClr val="tx1"/>
                </a:solidFill>
                <a:latin typeface="Arial" charset="0"/>
                <a:ea typeface="+mn-ea"/>
                <a:cs typeface="Arial" charset="0"/>
              </a:defRPr>
            </a:lvl5pPr>
            <a:lvl6pPr marL="2073631" algn="l" defTabSz="829452" rtl="0" eaLnBrk="1" latinLnBrk="0" hangingPunct="1">
              <a:defRPr sz="1814" kern="1200">
                <a:solidFill>
                  <a:schemeClr val="tx1"/>
                </a:solidFill>
                <a:latin typeface="Arial" charset="0"/>
                <a:ea typeface="+mn-ea"/>
                <a:cs typeface="Arial" charset="0"/>
              </a:defRPr>
            </a:lvl6pPr>
            <a:lvl7pPr marL="2488357" algn="l" defTabSz="829452" rtl="0" eaLnBrk="1" latinLnBrk="0" hangingPunct="1">
              <a:defRPr sz="1814" kern="1200">
                <a:solidFill>
                  <a:schemeClr val="tx1"/>
                </a:solidFill>
                <a:latin typeface="Arial" charset="0"/>
                <a:ea typeface="+mn-ea"/>
                <a:cs typeface="Arial" charset="0"/>
              </a:defRPr>
            </a:lvl7pPr>
            <a:lvl8pPr marL="2903083" algn="l" defTabSz="829452" rtl="0" eaLnBrk="1" latinLnBrk="0" hangingPunct="1">
              <a:defRPr sz="1814" kern="1200">
                <a:solidFill>
                  <a:schemeClr val="tx1"/>
                </a:solidFill>
                <a:latin typeface="Arial" charset="0"/>
                <a:ea typeface="+mn-ea"/>
                <a:cs typeface="Arial" charset="0"/>
              </a:defRPr>
            </a:lvl8pPr>
            <a:lvl9pPr marL="3317809" algn="l" defTabSz="829452" rtl="0" eaLnBrk="1" latinLnBrk="0" hangingPunct="1">
              <a:defRPr sz="1814" kern="1200">
                <a:solidFill>
                  <a:schemeClr val="tx1"/>
                </a:solidFill>
                <a:latin typeface="Arial" charset="0"/>
                <a:ea typeface="+mn-ea"/>
                <a:cs typeface="Arial" charset="0"/>
              </a:defRPr>
            </a:lvl9pPr>
          </a:lstStyle>
          <a:p>
            <a:pPr algn="r">
              <a:defRPr/>
            </a:pPr>
            <a:fld id="{2F3E20D8-87FE-CB44-8098-7B77BDE06CF2}" type="slidenum">
              <a:rPr lang="en-US" sz="1000" b="1">
                <a:solidFill>
                  <a:srgbClr val="0C2340"/>
                </a:solidFill>
                <a:latin typeface="Calibri" panose="020F0502020204030204" pitchFamily="34" charset="0"/>
                <a:cs typeface="Calibri" panose="020F0502020204030204" pitchFamily="34" charset="0"/>
              </a:rPr>
              <a:pPr algn="r">
                <a:defRPr/>
              </a:pPr>
              <a:t>9</a:t>
            </a:fld>
            <a:endParaRPr lang="en-US" sz="1000" b="1">
              <a:solidFill>
                <a:srgbClr val="0C2340"/>
              </a:solidFill>
              <a:latin typeface="Calibri" panose="020F0502020204030204" pitchFamily="34" charset="0"/>
              <a:cs typeface="Calibri" panose="020F0502020204030204" pitchFamily="34" charset="0"/>
            </a:endParaRPr>
          </a:p>
        </p:txBody>
      </p:sp>
      <p:sp>
        <p:nvSpPr>
          <p:cNvPr id="4" name="Rechteck 3">
            <a:extLst>
              <a:ext uri="{FF2B5EF4-FFF2-40B4-BE49-F238E27FC236}">
                <a16:creationId xmlns:a16="http://schemas.microsoft.com/office/drawing/2014/main" id="{DB59A8F0-D68C-67CD-4B04-7E7BE53A0FF8}"/>
              </a:ext>
            </a:extLst>
          </p:cNvPr>
          <p:cNvSpPr/>
          <p:nvPr/>
        </p:nvSpPr>
        <p:spPr>
          <a:xfrm>
            <a:off x="360000" y="6570000"/>
            <a:ext cx="2880000" cy="288000"/>
          </a:xfrm>
          <a:prstGeom prst="rect">
            <a:avLst/>
          </a:prstGeom>
        </p:spPr>
        <p:txBody>
          <a:bodyPr wrap="square" lIns="0" tIns="0" rIns="0" bIns="0">
            <a:noAutofit/>
          </a:bodyPr>
          <a:lstStyle/>
          <a:p>
            <a:pPr>
              <a:lnSpc>
                <a:spcPts val="998"/>
              </a:lnSpc>
              <a:defRPr/>
            </a:pPr>
            <a:r>
              <a:rPr lang="en-US" sz="800" b="1">
                <a:solidFill>
                  <a:srgbClr val="0018A8"/>
                </a:solidFill>
                <a:ea typeface="Deutsche Bank Text" panose="020B0503020202030204" pitchFamily="34" charset="0"/>
                <a:cs typeface="Arial" panose="020B0604020202020204" pitchFamily="34" charset="0"/>
              </a:rPr>
              <a:t>Deutsche Bank AG     </a:t>
            </a:r>
            <a:r>
              <a:rPr lang="en-US" sz="800" b="1">
                <a:solidFill>
                  <a:srgbClr val="0C2340"/>
                </a:solidFill>
                <a:ea typeface="Deutsche Bank Text" panose="020B0503020202030204" pitchFamily="34" charset="0"/>
                <a:cs typeface="Arial" panose="020B0604020202020204" pitchFamily="34" charset="0"/>
              </a:rPr>
              <a:t>Betriebliche Altersversorgung</a:t>
            </a:r>
          </a:p>
        </p:txBody>
      </p:sp>
      <p:pic>
        <p:nvPicPr>
          <p:cNvPr id="5" name="Grafik 4">
            <a:extLst>
              <a:ext uri="{FF2B5EF4-FFF2-40B4-BE49-F238E27FC236}">
                <a16:creationId xmlns:a16="http://schemas.microsoft.com/office/drawing/2014/main" id="{7C1297CA-6149-EC4C-0E10-356D0AC45D5A}"/>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232000" y="360000"/>
            <a:ext cx="540000" cy="540000"/>
          </a:xfrm>
          <a:prstGeom prst="rect">
            <a:avLst/>
          </a:prstGeom>
        </p:spPr>
      </p:pic>
      <p:sp>
        <p:nvSpPr>
          <p:cNvPr id="7" name="Titel 2">
            <a:extLst>
              <a:ext uri="{FF2B5EF4-FFF2-40B4-BE49-F238E27FC236}">
                <a16:creationId xmlns:a16="http://schemas.microsoft.com/office/drawing/2014/main" id="{3B93070D-B843-867C-B6DE-769AC488E1D6}"/>
              </a:ext>
            </a:extLst>
          </p:cNvPr>
          <p:cNvSpPr txBox="1">
            <a:spLocks/>
          </p:cNvSpPr>
          <p:nvPr/>
        </p:nvSpPr>
        <p:spPr>
          <a:xfrm>
            <a:off x="360000" y="360000"/>
            <a:ext cx="8262000" cy="612000"/>
          </a:xfrm>
          <a:prstGeom prst="rect">
            <a:avLst/>
          </a:prstGeom>
        </p:spPr>
        <p:txBody>
          <a:bodyPr lIns="0" tIns="0" rIns="0" bIns="0" anchor="t" anchorCtr="0"/>
          <a:lstStyle>
            <a:lvl1pPr algn="l" rtl="0" eaLnBrk="1" fontAlgn="base" hangingPunct="1">
              <a:lnSpc>
                <a:spcPct val="80000"/>
              </a:lnSpc>
              <a:spcBef>
                <a:spcPct val="0"/>
              </a:spcBef>
              <a:spcAft>
                <a:spcPct val="0"/>
              </a:spcAft>
              <a:defRPr sz="3266" kern="1200" baseline="0">
                <a:solidFill>
                  <a:schemeClr val="tx1"/>
                </a:solidFill>
                <a:latin typeface="+mj-lt"/>
                <a:ea typeface="Deutsche Bank Display" panose="020F0403020203030304" pitchFamily="34" charset="0"/>
                <a:cs typeface="Calibri Light" panose="020F0302020204030204" pitchFamily="34" charset="0"/>
              </a:defRPr>
            </a:lvl1pPr>
            <a:lvl2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5pPr>
            <a:lvl6pPr marL="456273" algn="l" rtl="0" eaLnBrk="1" fontAlgn="base" hangingPunct="1">
              <a:lnSpc>
                <a:spcPct val="90000"/>
              </a:lnSpc>
              <a:spcBef>
                <a:spcPct val="0"/>
              </a:spcBef>
              <a:spcAft>
                <a:spcPct val="0"/>
              </a:spcAft>
              <a:tabLst>
                <a:tab pos="665398" algn="l"/>
              </a:tabLst>
              <a:defRPr sz="2351" b="1">
                <a:solidFill>
                  <a:schemeClr val="tx1"/>
                </a:solidFill>
                <a:latin typeface="Arial" charset="0"/>
              </a:defRPr>
            </a:lvl6pPr>
            <a:lvl7pPr marL="912546" algn="l" rtl="0" eaLnBrk="1" fontAlgn="base" hangingPunct="1">
              <a:lnSpc>
                <a:spcPct val="90000"/>
              </a:lnSpc>
              <a:spcBef>
                <a:spcPct val="0"/>
              </a:spcBef>
              <a:spcAft>
                <a:spcPct val="0"/>
              </a:spcAft>
              <a:tabLst>
                <a:tab pos="665398" algn="l"/>
              </a:tabLst>
              <a:defRPr sz="2351" b="1">
                <a:solidFill>
                  <a:schemeClr val="tx1"/>
                </a:solidFill>
                <a:latin typeface="Arial" charset="0"/>
              </a:defRPr>
            </a:lvl7pPr>
            <a:lvl8pPr marL="1368819" algn="l" rtl="0" eaLnBrk="1" fontAlgn="base" hangingPunct="1">
              <a:lnSpc>
                <a:spcPct val="90000"/>
              </a:lnSpc>
              <a:spcBef>
                <a:spcPct val="0"/>
              </a:spcBef>
              <a:spcAft>
                <a:spcPct val="0"/>
              </a:spcAft>
              <a:tabLst>
                <a:tab pos="665398" algn="l"/>
              </a:tabLst>
              <a:defRPr sz="2351" b="1">
                <a:solidFill>
                  <a:schemeClr val="tx1"/>
                </a:solidFill>
                <a:latin typeface="Arial" charset="0"/>
              </a:defRPr>
            </a:lvl8pPr>
            <a:lvl9pPr marL="1825091" algn="l" rtl="0" eaLnBrk="1" fontAlgn="base" hangingPunct="1">
              <a:lnSpc>
                <a:spcPct val="90000"/>
              </a:lnSpc>
              <a:spcBef>
                <a:spcPct val="0"/>
              </a:spcBef>
              <a:spcAft>
                <a:spcPct val="0"/>
              </a:spcAft>
              <a:tabLst>
                <a:tab pos="665398" algn="l"/>
              </a:tabLst>
              <a:defRPr sz="2351" b="1">
                <a:solidFill>
                  <a:schemeClr val="tx1"/>
                </a:solidFill>
                <a:latin typeface="Arial" charset="0"/>
              </a:defRPr>
            </a:lvl9pPr>
          </a:lstStyle>
          <a:p>
            <a:pPr marL="12700">
              <a:lnSpc>
                <a:spcPct val="100000"/>
              </a:lnSpc>
              <a:spcBef>
                <a:spcPts val="645"/>
              </a:spcBef>
            </a:pPr>
            <a:r>
              <a:rPr lang="de-DE" sz="2100" dirty="0" err="1">
                <a:solidFill>
                  <a:srgbClr val="0C2340"/>
                </a:solidFill>
                <a:latin typeface="Calibri Light" panose="020F0302020204030204" pitchFamily="34" charset="0"/>
              </a:rPr>
              <a:t>Anspracheideen</a:t>
            </a:r>
            <a:r>
              <a:rPr lang="de-DE" sz="2100" dirty="0">
                <a:solidFill>
                  <a:srgbClr val="0C2340"/>
                </a:solidFill>
                <a:latin typeface="Calibri Light" panose="020F0302020204030204" pitchFamily="34" charset="0"/>
              </a:rPr>
              <a:t>:</a:t>
            </a:r>
          </a:p>
        </p:txBody>
      </p:sp>
      <p:sp>
        <p:nvSpPr>
          <p:cNvPr id="2" name="Rectangle 1">
            <a:extLst>
              <a:ext uri="{FF2B5EF4-FFF2-40B4-BE49-F238E27FC236}">
                <a16:creationId xmlns:a16="http://schemas.microsoft.com/office/drawing/2014/main" id="{4BE70CB1-65B2-29C8-97D3-1334C732F607}"/>
              </a:ext>
            </a:extLst>
          </p:cNvPr>
          <p:cNvSpPr>
            <a:spLocks noChangeArrowheads="1"/>
          </p:cNvSpPr>
          <p:nvPr/>
        </p:nvSpPr>
        <p:spPr bwMode="auto">
          <a:xfrm>
            <a:off x="360000" y="918139"/>
            <a:ext cx="8797855" cy="367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de-DE" altLang="de-DE" sz="1600" b="1" dirty="0">
                <a:solidFill>
                  <a:srgbClr val="212121"/>
                </a:solidFill>
                <a:latin typeface="Aptos" panose="020B0004020202020204" pitchFamily="34" charset="0"/>
              </a:rPr>
              <a:t>Vertrieblicher, mit mehr Zug zum Termin</a:t>
            </a:r>
          </a:p>
          <a:p>
            <a:pPr lvl="0" defTabSz="914400"/>
            <a:endParaRPr kumimoji="0" lang="de-DE" altLang="de-DE" sz="700" b="0" i="0" u="none" strike="noStrike" cap="none" normalizeH="0" baseline="0" dirty="0">
              <a:ln>
                <a:noFill/>
              </a:ln>
              <a:solidFill>
                <a:schemeClr val="tx1"/>
              </a:solidFill>
              <a:effectLst/>
            </a:endParaRPr>
          </a:p>
          <a:p>
            <a:pPr lvl="0" defTabSz="914400"/>
            <a:r>
              <a:rPr lang="de-DE" altLang="de-DE" sz="1400" b="1" dirty="0">
                <a:solidFill>
                  <a:srgbClr val="212121"/>
                </a:solidFill>
                <a:latin typeface="Aptos" panose="020B0004020202020204" pitchFamily="34" charset="0"/>
              </a:rPr>
              <a:t>Einstieg:</a:t>
            </a:r>
            <a:endParaRPr lang="de-DE" altLang="de-DE" sz="800" dirty="0"/>
          </a:p>
          <a:p>
            <a:pPr lvl="0" defTabSz="914400"/>
            <a:r>
              <a:rPr lang="de-DE" altLang="de-DE" sz="1400" dirty="0">
                <a:solidFill>
                  <a:srgbClr val="212121"/>
                </a:solidFill>
                <a:latin typeface="Aptos" panose="020B0004020202020204" pitchFamily="34" charset="0"/>
              </a:rPr>
              <a:t>„Guten Tag Herr/Frau [Name], hier ist [Name] von der [Bank]. Ich melde mich mit einem Thema, das aktuell für Geschäftsführer besonders relevant ist.“</a:t>
            </a:r>
            <a:endParaRPr lang="de-DE" altLang="de-DE" sz="800" dirty="0"/>
          </a:p>
          <a:p>
            <a:pPr lvl="0" defTabSz="914400"/>
            <a:r>
              <a:rPr lang="de-DE" altLang="de-DE" sz="1400" b="1" dirty="0">
                <a:solidFill>
                  <a:srgbClr val="212121"/>
                </a:solidFill>
                <a:latin typeface="Aptos" panose="020B0004020202020204" pitchFamily="34" charset="0"/>
              </a:rPr>
              <a:t>Dringlichkeit / Relevanz:</a:t>
            </a:r>
            <a:endParaRPr lang="de-DE" altLang="de-DE" sz="800" dirty="0"/>
          </a:p>
          <a:p>
            <a:pPr lvl="0" defTabSz="914400"/>
            <a:r>
              <a:rPr lang="de-DE" altLang="de-DE" sz="1400" dirty="0">
                <a:solidFill>
                  <a:srgbClr val="212121"/>
                </a:solidFill>
                <a:latin typeface="Aptos" panose="020B0004020202020204" pitchFamily="34" charset="0"/>
              </a:rPr>
              <a:t>„Es geht darum, wie Sie Unternehmensgewinne strategisch nutzen können, um privat Vermögen aufzubauen – steuerlich optimiert und unter Einbindung der aktuellen Kapitalmarktsituation.“</a:t>
            </a:r>
            <a:endParaRPr lang="de-DE" altLang="de-DE" sz="800" dirty="0"/>
          </a:p>
          <a:p>
            <a:pPr lvl="0" defTabSz="914400"/>
            <a:r>
              <a:rPr lang="de-DE" altLang="de-DE" sz="1400" b="1" dirty="0">
                <a:solidFill>
                  <a:srgbClr val="212121"/>
                </a:solidFill>
                <a:latin typeface="Aptos" panose="020B0004020202020204" pitchFamily="34" charset="0"/>
              </a:rPr>
              <a:t>Positionierung:</a:t>
            </a:r>
            <a:endParaRPr lang="de-DE" altLang="de-DE" sz="800" dirty="0"/>
          </a:p>
          <a:p>
            <a:pPr lvl="0" defTabSz="914400"/>
            <a:r>
              <a:rPr lang="de-DE" altLang="de-DE" sz="1400" dirty="0">
                <a:solidFill>
                  <a:srgbClr val="212121"/>
                </a:solidFill>
                <a:latin typeface="Aptos" panose="020B0004020202020204" pitchFamily="34" charset="0"/>
              </a:rPr>
              <a:t>„Viele Unternehmer beschäftigen sich intensiv mit ihrem Unternehmen – aber die strukturierte Überführung ins Privatvermögen wird häufig nicht aktiv genug gestaltet. Genau da setzen wir an.“</a:t>
            </a:r>
            <a:endParaRPr lang="de-DE" altLang="de-DE" sz="800" dirty="0"/>
          </a:p>
          <a:p>
            <a:pPr lvl="0" defTabSz="914400"/>
            <a:r>
              <a:rPr lang="de-DE" altLang="de-DE" sz="1400" b="1" dirty="0">
                <a:solidFill>
                  <a:srgbClr val="212121"/>
                </a:solidFill>
                <a:latin typeface="Aptos" panose="020B0004020202020204" pitchFamily="34" charset="0"/>
              </a:rPr>
              <a:t>Terminüberleitung:</a:t>
            </a:r>
            <a:endParaRPr lang="de-DE" altLang="de-DE" sz="800" dirty="0"/>
          </a:p>
          <a:p>
            <a:pPr lvl="0" defTabSz="914400"/>
            <a:r>
              <a:rPr lang="de-DE" altLang="de-DE" sz="1400" dirty="0">
                <a:solidFill>
                  <a:srgbClr val="212121"/>
                </a:solidFill>
                <a:latin typeface="Aptos" panose="020B0004020202020204" pitchFamily="34" charset="0"/>
              </a:rPr>
              <a:t>„Ich bin überzeugt, dass sich ein kurzer Austausch für Sie lohnt. 30 Minuten reichen aus, um zu prüfen, welches Potenzial in Ihrer Struktur steckt.“</a:t>
            </a:r>
            <a:endParaRPr lang="de-DE" altLang="de-DE" sz="800" dirty="0"/>
          </a:p>
          <a:p>
            <a:pPr lvl="0" defTabSz="914400"/>
            <a:r>
              <a:rPr lang="de-DE" altLang="de-DE" sz="1400" b="1" dirty="0">
                <a:solidFill>
                  <a:srgbClr val="212121"/>
                </a:solidFill>
                <a:latin typeface="Aptos" panose="020B0004020202020204" pitchFamily="34" charset="0"/>
              </a:rPr>
              <a:t>Abschluss (konkret &amp; führend):</a:t>
            </a:r>
            <a:endParaRPr lang="de-DE" altLang="de-DE" sz="800" dirty="0"/>
          </a:p>
          <a:p>
            <a:pPr lvl="0" defTabSz="914400"/>
            <a:r>
              <a:rPr lang="de-DE" altLang="de-DE" sz="1400" dirty="0">
                <a:solidFill>
                  <a:srgbClr val="212121"/>
                </a:solidFill>
                <a:latin typeface="Aptos" panose="020B0004020202020204" pitchFamily="34" charset="0"/>
              </a:rPr>
              <a:t>„Wie sieht es bei Ihnen am Dienstag oder Donnerstag aus?“</a:t>
            </a:r>
            <a:endParaRPr lang="de-DE" altLang="de-DE"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347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C02BD-6794-0E43-3897-4707CFA84809}"/>
            </a:ext>
          </a:extLst>
        </p:cNvPr>
        <p:cNvGrpSpPr/>
        <p:nvPr/>
      </p:nvGrpSpPr>
      <p:grpSpPr>
        <a:xfrm>
          <a:off x="0" y="0"/>
          <a:ext cx="0" cy="0"/>
          <a:chOff x="0" y="0"/>
          <a:chExt cx="0" cy="0"/>
        </a:xfrm>
      </p:grpSpPr>
      <p:pic>
        <p:nvPicPr>
          <p:cNvPr id="27" name="Grafik 26" descr="Ein Bild, das Computer, peripher, Büroausstattung, Eingabegerät enthält.&#10;&#10;Automatisch generierte Beschreibung">
            <a:extLst>
              <a:ext uri="{FF2B5EF4-FFF2-40B4-BE49-F238E27FC236}">
                <a16:creationId xmlns:a16="http://schemas.microsoft.com/office/drawing/2014/main" id="{43B947DC-4181-A210-FB4F-9DA287B9773C}"/>
              </a:ext>
            </a:extLst>
          </p:cNvPr>
          <p:cNvPicPr>
            <a:picLocks noChangeAspect="1"/>
          </p:cNvPicPr>
          <p:nvPr/>
        </p:nvPicPr>
        <p:blipFill>
          <a:blip r:embed="rId3">
            <a:alphaModFix amt="75000"/>
          </a:blip>
          <a:srcRect l="834" r="4337" b="2141"/>
          <a:stretch/>
        </p:blipFill>
        <p:spPr>
          <a:xfrm>
            <a:off x="0" y="0"/>
            <a:ext cx="12188825" cy="6858000"/>
          </a:xfrm>
          <a:prstGeom prst="rect">
            <a:avLst/>
          </a:prstGeom>
        </p:spPr>
      </p:pic>
      <p:sp>
        <p:nvSpPr>
          <p:cNvPr id="3" name="Foliennummernplatzhalter 1">
            <a:extLst>
              <a:ext uri="{FF2B5EF4-FFF2-40B4-BE49-F238E27FC236}">
                <a16:creationId xmlns:a16="http://schemas.microsoft.com/office/drawing/2014/main" id="{3BEC91C7-60F0-2D2B-C9A5-5FF8189EE2D6}"/>
              </a:ext>
            </a:extLst>
          </p:cNvPr>
          <p:cNvSpPr txBox="1">
            <a:spLocks/>
          </p:cNvSpPr>
          <p:nvPr/>
        </p:nvSpPr>
        <p:spPr>
          <a:xfrm>
            <a:off x="11412000" y="6552000"/>
            <a:ext cx="360000" cy="306000"/>
          </a:xfrm>
          <a:prstGeom prst="rect">
            <a:avLst/>
          </a:prstGeom>
        </p:spPr>
        <p:txBody>
          <a:bodyPr lIns="0" tIns="0" rIns="0" bIns="0"/>
          <a:lstStyle>
            <a:defPPr>
              <a:defRPr lang="en-US"/>
            </a:defPPr>
            <a:lvl1pPr algn="l" defTabSz="914414" rtl="0" fontAlgn="base">
              <a:spcBef>
                <a:spcPct val="0"/>
              </a:spcBef>
              <a:spcAft>
                <a:spcPct val="0"/>
              </a:spcAft>
              <a:defRPr sz="1814" kern="1200">
                <a:solidFill>
                  <a:schemeClr val="tx1"/>
                </a:solidFill>
                <a:latin typeface="Arial" charset="0"/>
                <a:ea typeface="+mn-ea"/>
                <a:cs typeface="Arial" charset="0"/>
              </a:defRPr>
            </a:lvl1pPr>
            <a:lvl2pPr marL="456487" indent="-41761" algn="l" defTabSz="914414" rtl="0" fontAlgn="base">
              <a:spcBef>
                <a:spcPct val="0"/>
              </a:spcBef>
              <a:spcAft>
                <a:spcPct val="0"/>
              </a:spcAft>
              <a:defRPr sz="1814" kern="1200">
                <a:solidFill>
                  <a:schemeClr val="tx1"/>
                </a:solidFill>
                <a:latin typeface="Arial" charset="0"/>
                <a:ea typeface="+mn-ea"/>
                <a:cs typeface="Arial" charset="0"/>
              </a:defRPr>
            </a:lvl2pPr>
            <a:lvl3pPr marL="914414" indent="-84962" algn="l" defTabSz="914414" rtl="0" fontAlgn="base">
              <a:spcBef>
                <a:spcPct val="0"/>
              </a:spcBef>
              <a:spcAft>
                <a:spcPct val="0"/>
              </a:spcAft>
              <a:defRPr sz="1814" kern="1200">
                <a:solidFill>
                  <a:schemeClr val="tx1"/>
                </a:solidFill>
                <a:latin typeface="Arial" charset="0"/>
                <a:ea typeface="+mn-ea"/>
                <a:cs typeface="Arial" charset="0"/>
              </a:defRPr>
            </a:lvl3pPr>
            <a:lvl4pPr marL="1372341" indent="-128162" algn="l" defTabSz="914414" rtl="0" fontAlgn="base">
              <a:spcBef>
                <a:spcPct val="0"/>
              </a:spcBef>
              <a:spcAft>
                <a:spcPct val="0"/>
              </a:spcAft>
              <a:defRPr sz="1814" kern="1200">
                <a:solidFill>
                  <a:schemeClr val="tx1"/>
                </a:solidFill>
                <a:latin typeface="Arial" charset="0"/>
                <a:ea typeface="+mn-ea"/>
                <a:cs typeface="Arial" charset="0"/>
              </a:defRPr>
            </a:lvl4pPr>
            <a:lvl5pPr marL="1830267" indent="-171363" algn="l" defTabSz="914414" rtl="0" fontAlgn="base">
              <a:spcBef>
                <a:spcPct val="0"/>
              </a:spcBef>
              <a:spcAft>
                <a:spcPct val="0"/>
              </a:spcAft>
              <a:defRPr sz="1814" kern="1200">
                <a:solidFill>
                  <a:schemeClr val="tx1"/>
                </a:solidFill>
                <a:latin typeface="Arial" charset="0"/>
                <a:ea typeface="+mn-ea"/>
                <a:cs typeface="Arial" charset="0"/>
              </a:defRPr>
            </a:lvl5pPr>
            <a:lvl6pPr marL="2073631" algn="l" defTabSz="829452" rtl="0" eaLnBrk="1" latinLnBrk="0" hangingPunct="1">
              <a:defRPr sz="1814" kern="1200">
                <a:solidFill>
                  <a:schemeClr val="tx1"/>
                </a:solidFill>
                <a:latin typeface="Arial" charset="0"/>
                <a:ea typeface="+mn-ea"/>
                <a:cs typeface="Arial" charset="0"/>
              </a:defRPr>
            </a:lvl6pPr>
            <a:lvl7pPr marL="2488357" algn="l" defTabSz="829452" rtl="0" eaLnBrk="1" latinLnBrk="0" hangingPunct="1">
              <a:defRPr sz="1814" kern="1200">
                <a:solidFill>
                  <a:schemeClr val="tx1"/>
                </a:solidFill>
                <a:latin typeface="Arial" charset="0"/>
                <a:ea typeface="+mn-ea"/>
                <a:cs typeface="Arial" charset="0"/>
              </a:defRPr>
            </a:lvl7pPr>
            <a:lvl8pPr marL="2903083" algn="l" defTabSz="829452" rtl="0" eaLnBrk="1" latinLnBrk="0" hangingPunct="1">
              <a:defRPr sz="1814" kern="1200">
                <a:solidFill>
                  <a:schemeClr val="tx1"/>
                </a:solidFill>
                <a:latin typeface="Arial" charset="0"/>
                <a:ea typeface="+mn-ea"/>
                <a:cs typeface="Arial" charset="0"/>
              </a:defRPr>
            </a:lvl8pPr>
            <a:lvl9pPr marL="3317809" algn="l" defTabSz="829452" rtl="0" eaLnBrk="1" latinLnBrk="0" hangingPunct="1">
              <a:defRPr sz="1814" kern="1200">
                <a:solidFill>
                  <a:schemeClr val="tx1"/>
                </a:solidFill>
                <a:latin typeface="Arial" charset="0"/>
                <a:ea typeface="+mn-ea"/>
                <a:cs typeface="Arial" charset="0"/>
              </a:defRPr>
            </a:lvl9pPr>
          </a:lstStyle>
          <a:p>
            <a:pPr algn="r">
              <a:defRPr/>
            </a:pPr>
            <a:fld id="{2F3E20D8-87FE-CB44-8098-7B77BDE06CF2}" type="slidenum">
              <a:rPr lang="en-US" sz="1000" b="1">
                <a:solidFill>
                  <a:srgbClr val="0C2340"/>
                </a:solidFill>
                <a:latin typeface="Calibri" panose="020F0502020204030204" pitchFamily="34" charset="0"/>
                <a:cs typeface="Calibri" panose="020F0502020204030204" pitchFamily="34" charset="0"/>
              </a:rPr>
              <a:pPr algn="r">
                <a:defRPr/>
              </a:pPr>
              <a:t>10</a:t>
            </a:fld>
            <a:endParaRPr lang="en-US" sz="1000" b="1">
              <a:solidFill>
                <a:srgbClr val="0C2340"/>
              </a:solidFill>
              <a:latin typeface="Calibri" panose="020F0502020204030204" pitchFamily="34" charset="0"/>
              <a:cs typeface="Calibri" panose="020F0502020204030204" pitchFamily="34" charset="0"/>
            </a:endParaRPr>
          </a:p>
        </p:txBody>
      </p:sp>
      <p:sp>
        <p:nvSpPr>
          <p:cNvPr id="4" name="Rechteck 3">
            <a:extLst>
              <a:ext uri="{FF2B5EF4-FFF2-40B4-BE49-F238E27FC236}">
                <a16:creationId xmlns:a16="http://schemas.microsoft.com/office/drawing/2014/main" id="{480FA952-F862-1D13-FE19-AAFAA6441B0E}"/>
              </a:ext>
            </a:extLst>
          </p:cNvPr>
          <p:cNvSpPr/>
          <p:nvPr/>
        </p:nvSpPr>
        <p:spPr>
          <a:xfrm>
            <a:off x="360000" y="6570000"/>
            <a:ext cx="2880000" cy="288000"/>
          </a:xfrm>
          <a:prstGeom prst="rect">
            <a:avLst/>
          </a:prstGeom>
        </p:spPr>
        <p:txBody>
          <a:bodyPr wrap="square" lIns="0" tIns="0" rIns="0" bIns="0">
            <a:noAutofit/>
          </a:bodyPr>
          <a:lstStyle/>
          <a:p>
            <a:pPr>
              <a:lnSpc>
                <a:spcPts val="998"/>
              </a:lnSpc>
              <a:defRPr/>
            </a:pPr>
            <a:r>
              <a:rPr lang="en-US" sz="800" b="1">
                <a:solidFill>
                  <a:srgbClr val="0018A8"/>
                </a:solidFill>
                <a:ea typeface="Deutsche Bank Text" panose="020B0503020202030204" pitchFamily="34" charset="0"/>
                <a:cs typeface="Arial" panose="020B0604020202020204" pitchFamily="34" charset="0"/>
              </a:rPr>
              <a:t>Deutsche Bank AG     </a:t>
            </a:r>
            <a:r>
              <a:rPr lang="en-US" sz="800" b="1">
                <a:solidFill>
                  <a:srgbClr val="0C2340"/>
                </a:solidFill>
                <a:ea typeface="Deutsche Bank Text" panose="020B0503020202030204" pitchFamily="34" charset="0"/>
                <a:cs typeface="Arial" panose="020B0604020202020204" pitchFamily="34" charset="0"/>
              </a:rPr>
              <a:t>Betriebliche Altersversorgung</a:t>
            </a:r>
          </a:p>
        </p:txBody>
      </p:sp>
      <p:pic>
        <p:nvPicPr>
          <p:cNvPr id="5" name="Grafik 4">
            <a:extLst>
              <a:ext uri="{FF2B5EF4-FFF2-40B4-BE49-F238E27FC236}">
                <a16:creationId xmlns:a16="http://schemas.microsoft.com/office/drawing/2014/main" id="{D5C4E871-708B-5DD8-A6A8-467D8FCDB362}"/>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232000" y="360000"/>
            <a:ext cx="540000" cy="540000"/>
          </a:xfrm>
          <a:prstGeom prst="rect">
            <a:avLst/>
          </a:prstGeom>
        </p:spPr>
      </p:pic>
      <p:sp>
        <p:nvSpPr>
          <p:cNvPr id="7" name="Titel 2">
            <a:extLst>
              <a:ext uri="{FF2B5EF4-FFF2-40B4-BE49-F238E27FC236}">
                <a16:creationId xmlns:a16="http://schemas.microsoft.com/office/drawing/2014/main" id="{399C3883-057B-5887-A85A-691499691BDD}"/>
              </a:ext>
            </a:extLst>
          </p:cNvPr>
          <p:cNvSpPr txBox="1">
            <a:spLocks/>
          </p:cNvSpPr>
          <p:nvPr/>
        </p:nvSpPr>
        <p:spPr>
          <a:xfrm>
            <a:off x="360000" y="360000"/>
            <a:ext cx="8262000" cy="612000"/>
          </a:xfrm>
          <a:prstGeom prst="rect">
            <a:avLst/>
          </a:prstGeom>
        </p:spPr>
        <p:txBody>
          <a:bodyPr lIns="0" tIns="0" rIns="0" bIns="0" anchor="t" anchorCtr="0"/>
          <a:lstStyle>
            <a:lvl1pPr algn="l" rtl="0" eaLnBrk="1" fontAlgn="base" hangingPunct="1">
              <a:lnSpc>
                <a:spcPct val="80000"/>
              </a:lnSpc>
              <a:spcBef>
                <a:spcPct val="0"/>
              </a:spcBef>
              <a:spcAft>
                <a:spcPct val="0"/>
              </a:spcAft>
              <a:defRPr sz="3266" kern="1200" baseline="0">
                <a:solidFill>
                  <a:schemeClr val="tx1"/>
                </a:solidFill>
                <a:latin typeface="+mj-lt"/>
                <a:ea typeface="Deutsche Bank Display" panose="020F0403020203030304" pitchFamily="34" charset="0"/>
                <a:cs typeface="Calibri Light" panose="020F0302020204030204" pitchFamily="34" charset="0"/>
              </a:defRPr>
            </a:lvl1pPr>
            <a:lvl2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5pPr>
            <a:lvl6pPr marL="456273" algn="l" rtl="0" eaLnBrk="1" fontAlgn="base" hangingPunct="1">
              <a:lnSpc>
                <a:spcPct val="90000"/>
              </a:lnSpc>
              <a:spcBef>
                <a:spcPct val="0"/>
              </a:spcBef>
              <a:spcAft>
                <a:spcPct val="0"/>
              </a:spcAft>
              <a:tabLst>
                <a:tab pos="665398" algn="l"/>
              </a:tabLst>
              <a:defRPr sz="2351" b="1">
                <a:solidFill>
                  <a:schemeClr val="tx1"/>
                </a:solidFill>
                <a:latin typeface="Arial" charset="0"/>
              </a:defRPr>
            </a:lvl6pPr>
            <a:lvl7pPr marL="912546" algn="l" rtl="0" eaLnBrk="1" fontAlgn="base" hangingPunct="1">
              <a:lnSpc>
                <a:spcPct val="90000"/>
              </a:lnSpc>
              <a:spcBef>
                <a:spcPct val="0"/>
              </a:spcBef>
              <a:spcAft>
                <a:spcPct val="0"/>
              </a:spcAft>
              <a:tabLst>
                <a:tab pos="665398" algn="l"/>
              </a:tabLst>
              <a:defRPr sz="2351" b="1">
                <a:solidFill>
                  <a:schemeClr val="tx1"/>
                </a:solidFill>
                <a:latin typeface="Arial" charset="0"/>
              </a:defRPr>
            </a:lvl7pPr>
            <a:lvl8pPr marL="1368819" algn="l" rtl="0" eaLnBrk="1" fontAlgn="base" hangingPunct="1">
              <a:lnSpc>
                <a:spcPct val="90000"/>
              </a:lnSpc>
              <a:spcBef>
                <a:spcPct val="0"/>
              </a:spcBef>
              <a:spcAft>
                <a:spcPct val="0"/>
              </a:spcAft>
              <a:tabLst>
                <a:tab pos="665398" algn="l"/>
              </a:tabLst>
              <a:defRPr sz="2351" b="1">
                <a:solidFill>
                  <a:schemeClr val="tx1"/>
                </a:solidFill>
                <a:latin typeface="Arial" charset="0"/>
              </a:defRPr>
            </a:lvl8pPr>
            <a:lvl9pPr marL="1825091" algn="l" rtl="0" eaLnBrk="1" fontAlgn="base" hangingPunct="1">
              <a:lnSpc>
                <a:spcPct val="90000"/>
              </a:lnSpc>
              <a:spcBef>
                <a:spcPct val="0"/>
              </a:spcBef>
              <a:spcAft>
                <a:spcPct val="0"/>
              </a:spcAft>
              <a:tabLst>
                <a:tab pos="665398" algn="l"/>
              </a:tabLst>
              <a:defRPr sz="2351" b="1">
                <a:solidFill>
                  <a:schemeClr val="tx1"/>
                </a:solidFill>
                <a:latin typeface="Arial" charset="0"/>
              </a:defRPr>
            </a:lvl9pPr>
          </a:lstStyle>
          <a:p>
            <a:pPr marL="12700">
              <a:lnSpc>
                <a:spcPct val="100000"/>
              </a:lnSpc>
              <a:spcBef>
                <a:spcPts val="645"/>
              </a:spcBef>
            </a:pPr>
            <a:r>
              <a:rPr lang="de-DE" sz="2100" dirty="0" err="1">
                <a:solidFill>
                  <a:srgbClr val="0C2340"/>
                </a:solidFill>
                <a:latin typeface="Calibri Light" panose="020F0302020204030204" pitchFamily="34" charset="0"/>
              </a:rPr>
              <a:t>Anspracheideen</a:t>
            </a:r>
            <a:r>
              <a:rPr lang="de-DE" sz="2100" dirty="0">
                <a:solidFill>
                  <a:srgbClr val="0C2340"/>
                </a:solidFill>
                <a:latin typeface="Calibri Light" panose="020F0302020204030204" pitchFamily="34" charset="0"/>
              </a:rPr>
              <a:t>:</a:t>
            </a:r>
          </a:p>
        </p:txBody>
      </p:sp>
      <p:sp>
        <p:nvSpPr>
          <p:cNvPr id="2" name="Rectangle 1">
            <a:extLst>
              <a:ext uri="{FF2B5EF4-FFF2-40B4-BE49-F238E27FC236}">
                <a16:creationId xmlns:a16="http://schemas.microsoft.com/office/drawing/2014/main" id="{4CD895F9-17B1-501F-928C-61C891B9E849}"/>
              </a:ext>
            </a:extLst>
          </p:cNvPr>
          <p:cNvSpPr>
            <a:spLocks noChangeArrowheads="1"/>
          </p:cNvSpPr>
          <p:nvPr/>
        </p:nvSpPr>
        <p:spPr bwMode="auto">
          <a:xfrm>
            <a:off x="360000" y="918139"/>
            <a:ext cx="8797855" cy="367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de-DE" altLang="de-DE" sz="1600" b="1" dirty="0">
                <a:solidFill>
                  <a:srgbClr val="212121"/>
                </a:solidFill>
                <a:latin typeface="Aptos" panose="020B0004020202020204" pitchFamily="34" charset="0"/>
              </a:rPr>
              <a:t> Premium-Ansprache für vermögende Mandanten </a:t>
            </a:r>
          </a:p>
          <a:p>
            <a:pPr lvl="0" defTabSz="914400"/>
            <a:endParaRPr kumimoji="0" lang="de-DE" altLang="de-DE" sz="700" b="0" i="0" u="none" strike="noStrike" cap="none" normalizeH="0" baseline="0" dirty="0">
              <a:ln>
                <a:noFill/>
              </a:ln>
              <a:solidFill>
                <a:schemeClr val="tx1"/>
              </a:solidFill>
              <a:effectLst/>
            </a:endParaRPr>
          </a:p>
          <a:p>
            <a:pPr lvl="0" defTabSz="914400"/>
            <a:r>
              <a:rPr lang="de-DE" altLang="de-DE" sz="1400" b="1" dirty="0">
                <a:solidFill>
                  <a:srgbClr val="212121"/>
                </a:solidFill>
                <a:latin typeface="Aptos" panose="020B0004020202020204" pitchFamily="34" charset="0"/>
              </a:rPr>
              <a:t>Einstieg:</a:t>
            </a:r>
            <a:endParaRPr lang="de-DE" altLang="de-DE" sz="500" dirty="0"/>
          </a:p>
          <a:p>
            <a:pPr lvl="0" defTabSz="914400"/>
            <a:r>
              <a:rPr lang="de-DE" altLang="de-DE" sz="1400" dirty="0">
                <a:solidFill>
                  <a:srgbClr val="212121"/>
                </a:solidFill>
                <a:latin typeface="Aptos" panose="020B0004020202020204" pitchFamily="34" charset="0"/>
              </a:rPr>
              <a:t>„Guten Tag Herr/Frau [Name], [Name] von der [Bank]. Ich möchte heute einen strategischen Impuls mit Ihnen teilen – speziell mit Blick auf Ihre langfristige Vermögensstruktur.“</a:t>
            </a:r>
            <a:endParaRPr lang="de-DE" altLang="de-DE" sz="500" dirty="0"/>
          </a:p>
          <a:p>
            <a:pPr lvl="0" defTabSz="914400"/>
            <a:r>
              <a:rPr lang="de-DE" altLang="de-DE" sz="1400" b="1" dirty="0">
                <a:solidFill>
                  <a:srgbClr val="212121"/>
                </a:solidFill>
                <a:latin typeface="Aptos" panose="020B0004020202020204" pitchFamily="34" charset="0"/>
              </a:rPr>
              <a:t>Inhaltliche Andeutung:</a:t>
            </a:r>
            <a:endParaRPr lang="de-DE" altLang="de-DE" sz="500" dirty="0"/>
          </a:p>
          <a:p>
            <a:pPr lvl="0" defTabSz="914400"/>
            <a:r>
              <a:rPr lang="de-DE" altLang="de-DE" sz="1400" dirty="0">
                <a:solidFill>
                  <a:srgbClr val="212121"/>
                </a:solidFill>
                <a:latin typeface="Aptos" panose="020B0004020202020204" pitchFamily="34" charset="0"/>
              </a:rPr>
              <a:t>„Es geht um die Frage, wie sich Unternehmensvermögen intelligent in Ihre private Vermögensplanung integrieren lässt – mit Fokus auf Absicherung, Altersvorsorge und Kapitalmarktstrategie.“</a:t>
            </a:r>
            <a:endParaRPr lang="de-DE" altLang="de-DE" sz="500" dirty="0"/>
          </a:p>
          <a:p>
            <a:pPr lvl="0" defTabSz="914400"/>
            <a:r>
              <a:rPr lang="de-DE" altLang="de-DE" sz="1400" b="1" dirty="0">
                <a:solidFill>
                  <a:srgbClr val="212121"/>
                </a:solidFill>
                <a:latin typeface="Aptos" panose="020B0004020202020204" pitchFamily="34" charset="0"/>
              </a:rPr>
              <a:t>Wertschätzung / Augenhöhe:</a:t>
            </a:r>
            <a:endParaRPr lang="de-DE" altLang="de-DE" sz="500" dirty="0"/>
          </a:p>
          <a:p>
            <a:pPr lvl="0" defTabSz="914400"/>
            <a:r>
              <a:rPr lang="de-DE" altLang="de-DE" sz="1400" dirty="0">
                <a:solidFill>
                  <a:srgbClr val="212121"/>
                </a:solidFill>
                <a:latin typeface="Aptos" panose="020B0004020202020204" pitchFamily="34" charset="0"/>
              </a:rPr>
              <a:t>„Gerade bei erfolgreichen Unternehmern ist das weniger ein Produkt-, sondern vielmehr ein Strukturthema.“</a:t>
            </a:r>
            <a:endParaRPr lang="de-DE" altLang="de-DE" sz="500" dirty="0"/>
          </a:p>
          <a:p>
            <a:pPr lvl="0" defTabSz="914400"/>
            <a:r>
              <a:rPr lang="de-DE" altLang="de-DE" sz="1400" b="1" dirty="0">
                <a:solidFill>
                  <a:srgbClr val="212121"/>
                </a:solidFill>
                <a:latin typeface="Aptos" panose="020B0004020202020204" pitchFamily="34" charset="0"/>
              </a:rPr>
              <a:t>Sozialer Auftrag:</a:t>
            </a:r>
            <a:endParaRPr lang="de-DE" altLang="de-DE" sz="500" dirty="0"/>
          </a:p>
          <a:p>
            <a:pPr lvl="0" defTabSz="914400"/>
            <a:r>
              <a:rPr lang="de-DE" altLang="de-DE" sz="1400" dirty="0">
                <a:solidFill>
                  <a:srgbClr val="212121"/>
                </a:solidFill>
                <a:latin typeface="Aptos" panose="020B0004020202020204" pitchFamily="34" charset="0"/>
              </a:rPr>
              <a:t>„Als Bank sehen wir es als unsere Verantwortung, Sie proaktiv auf solche strategischen Gestaltungsmöglichkeiten hinzuweisen.“</a:t>
            </a:r>
            <a:endParaRPr lang="de-DE" altLang="de-DE" sz="500" dirty="0"/>
          </a:p>
          <a:p>
            <a:pPr lvl="0" defTabSz="914400"/>
            <a:r>
              <a:rPr lang="de-DE" altLang="de-DE" sz="1400" b="1" dirty="0">
                <a:solidFill>
                  <a:srgbClr val="212121"/>
                </a:solidFill>
                <a:latin typeface="Aptos" panose="020B0004020202020204" pitchFamily="34" charset="0"/>
              </a:rPr>
              <a:t>Terminüberleitung:</a:t>
            </a:r>
            <a:endParaRPr lang="de-DE" altLang="de-DE" sz="500" dirty="0"/>
          </a:p>
          <a:p>
            <a:pPr lvl="0" defTabSz="914400"/>
            <a:r>
              <a:rPr lang="de-DE" altLang="de-DE" sz="1400" dirty="0">
                <a:solidFill>
                  <a:srgbClr val="212121"/>
                </a:solidFill>
                <a:latin typeface="Aptos" panose="020B0004020202020204" pitchFamily="34" charset="0"/>
              </a:rPr>
              <a:t>„Ich würde das gern diskret und strukturiert mit Ihnen besprechen.“</a:t>
            </a:r>
            <a:endParaRPr lang="de-DE" altLang="de-DE" sz="500" dirty="0"/>
          </a:p>
          <a:p>
            <a:pPr lvl="0" defTabSz="914400"/>
            <a:r>
              <a:rPr lang="de-DE" altLang="de-DE" sz="1400" b="1" dirty="0">
                <a:solidFill>
                  <a:srgbClr val="212121"/>
                </a:solidFill>
                <a:latin typeface="Aptos" panose="020B0004020202020204" pitchFamily="34" charset="0"/>
              </a:rPr>
              <a:t>Abschluss (ruhig &amp; souverän):</a:t>
            </a:r>
            <a:endParaRPr lang="de-DE" altLang="de-DE" sz="500" dirty="0"/>
          </a:p>
          <a:p>
            <a:pPr lvl="0" defTabSz="914400"/>
            <a:r>
              <a:rPr lang="de-DE" altLang="de-DE" sz="1400" dirty="0">
                <a:solidFill>
                  <a:srgbClr val="212121"/>
                </a:solidFill>
                <a:latin typeface="Aptos" panose="020B0004020202020204" pitchFamily="34" charset="0"/>
              </a:rPr>
              <a:t>„Wann passt es Ihnen besser – kommende Woche oder die Woche darauf?“</a:t>
            </a:r>
            <a:endParaRPr lang="de-DE" altLang="de-DE" sz="2400" dirty="0"/>
          </a:p>
        </p:txBody>
      </p:sp>
    </p:spTree>
    <p:extLst>
      <p:ext uri="{BB962C8B-B14F-4D97-AF65-F5344CB8AC3E}">
        <p14:creationId xmlns:p14="http://schemas.microsoft.com/office/powerpoint/2010/main" val="4036577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AB1C3-D282-6BC6-7E44-AA34C9B3FA16}"/>
            </a:ext>
          </a:extLst>
        </p:cNvPr>
        <p:cNvGrpSpPr/>
        <p:nvPr/>
      </p:nvGrpSpPr>
      <p:grpSpPr>
        <a:xfrm>
          <a:off x="0" y="0"/>
          <a:ext cx="0" cy="0"/>
          <a:chOff x="0" y="0"/>
          <a:chExt cx="0" cy="0"/>
        </a:xfrm>
      </p:grpSpPr>
      <p:pic>
        <p:nvPicPr>
          <p:cNvPr id="27" name="Grafik 26" descr="Ein Bild, das Computer, peripher, Büroausstattung, Eingabegerät enthält.&#10;&#10;Automatisch generierte Beschreibung">
            <a:extLst>
              <a:ext uri="{FF2B5EF4-FFF2-40B4-BE49-F238E27FC236}">
                <a16:creationId xmlns:a16="http://schemas.microsoft.com/office/drawing/2014/main" id="{D4176333-E9B0-D8E6-A607-B9488EE5A038}"/>
              </a:ext>
            </a:extLst>
          </p:cNvPr>
          <p:cNvPicPr>
            <a:picLocks noChangeAspect="1"/>
          </p:cNvPicPr>
          <p:nvPr/>
        </p:nvPicPr>
        <p:blipFill>
          <a:blip r:embed="rId3">
            <a:alphaModFix amt="75000"/>
          </a:blip>
          <a:srcRect l="834" r="4337" b="2141"/>
          <a:stretch/>
        </p:blipFill>
        <p:spPr>
          <a:xfrm>
            <a:off x="0" y="0"/>
            <a:ext cx="12188825" cy="6858000"/>
          </a:xfrm>
          <a:prstGeom prst="rect">
            <a:avLst/>
          </a:prstGeom>
        </p:spPr>
      </p:pic>
      <p:sp>
        <p:nvSpPr>
          <p:cNvPr id="3" name="Foliennummernplatzhalter 1">
            <a:extLst>
              <a:ext uri="{FF2B5EF4-FFF2-40B4-BE49-F238E27FC236}">
                <a16:creationId xmlns:a16="http://schemas.microsoft.com/office/drawing/2014/main" id="{B96B14D0-67D4-1CCB-AD2A-165466CDAE92}"/>
              </a:ext>
            </a:extLst>
          </p:cNvPr>
          <p:cNvSpPr txBox="1">
            <a:spLocks/>
          </p:cNvSpPr>
          <p:nvPr/>
        </p:nvSpPr>
        <p:spPr>
          <a:xfrm>
            <a:off x="11412000" y="6552000"/>
            <a:ext cx="360000" cy="306000"/>
          </a:xfrm>
          <a:prstGeom prst="rect">
            <a:avLst/>
          </a:prstGeom>
        </p:spPr>
        <p:txBody>
          <a:bodyPr lIns="0" tIns="0" rIns="0" bIns="0"/>
          <a:lstStyle>
            <a:defPPr>
              <a:defRPr lang="en-US"/>
            </a:defPPr>
            <a:lvl1pPr algn="l" defTabSz="914414" rtl="0" fontAlgn="base">
              <a:spcBef>
                <a:spcPct val="0"/>
              </a:spcBef>
              <a:spcAft>
                <a:spcPct val="0"/>
              </a:spcAft>
              <a:defRPr sz="1814" kern="1200">
                <a:solidFill>
                  <a:schemeClr val="tx1"/>
                </a:solidFill>
                <a:latin typeface="Arial" charset="0"/>
                <a:ea typeface="+mn-ea"/>
                <a:cs typeface="Arial" charset="0"/>
              </a:defRPr>
            </a:lvl1pPr>
            <a:lvl2pPr marL="456487" indent="-41761" algn="l" defTabSz="914414" rtl="0" fontAlgn="base">
              <a:spcBef>
                <a:spcPct val="0"/>
              </a:spcBef>
              <a:spcAft>
                <a:spcPct val="0"/>
              </a:spcAft>
              <a:defRPr sz="1814" kern="1200">
                <a:solidFill>
                  <a:schemeClr val="tx1"/>
                </a:solidFill>
                <a:latin typeface="Arial" charset="0"/>
                <a:ea typeface="+mn-ea"/>
                <a:cs typeface="Arial" charset="0"/>
              </a:defRPr>
            </a:lvl2pPr>
            <a:lvl3pPr marL="914414" indent="-84962" algn="l" defTabSz="914414" rtl="0" fontAlgn="base">
              <a:spcBef>
                <a:spcPct val="0"/>
              </a:spcBef>
              <a:spcAft>
                <a:spcPct val="0"/>
              </a:spcAft>
              <a:defRPr sz="1814" kern="1200">
                <a:solidFill>
                  <a:schemeClr val="tx1"/>
                </a:solidFill>
                <a:latin typeface="Arial" charset="0"/>
                <a:ea typeface="+mn-ea"/>
                <a:cs typeface="Arial" charset="0"/>
              </a:defRPr>
            </a:lvl3pPr>
            <a:lvl4pPr marL="1372341" indent="-128162" algn="l" defTabSz="914414" rtl="0" fontAlgn="base">
              <a:spcBef>
                <a:spcPct val="0"/>
              </a:spcBef>
              <a:spcAft>
                <a:spcPct val="0"/>
              </a:spcAft>
              <a:defRPr sz="1814" kern="1200">
                <a:solidFill>
                  <a:schemeClr val="tx1"/>
                </a:solidFill>
                <a:latin typeface="Arial" charset="0"/>
                <a:ea typeface="+mn-ea"/>
                <a:cs typeface="Arial" charset="0"/>
              </a:defRPr>
            </a:lvl4pPr>
            <a:lvl5pPr marL="1830267" indent="-171363" algn="l" defTabSz="914414" rtl="0" fontAlgn="base">
              <a:spcBef>
                <a:spcPct val="0"/>
              </a:spcBef>
              <a:spcAft>
                <a:spcPct val="0"/>
              </a:spcAft>
              <a:defRPr sz="1814" kern="1200">
                <a:solidFill>
                  <a:schemeClr val="tx1"/>
                </a:solidFill>
                <a:latin typeface="Arial" charset="0"/>
                <a:ea typeface="+mn-ea"/>
                <a:cs typeface="Arial" charset="0"/>
              </a:defRPr>
            </a:lvl5pPr>
            <a:lvl6pPr marL="2073631" algn="l" defTabSz="829452" rtl="0" eaLnBrk="1" latinLnBrk="0" hangingPunct="1">
              <a:defRPr sz="1814" kern="1200">
                <a:solidFill>
                  <a:schemeClr val="tx1"/>
                </a:solidFill>
                <a:latin typeface="Arial" charset="0"/>
                <a:ea typeface="+mn-ea"/>
                <a:cs typeface="Arial" charset="0"/>
              </a:defRPr>
            </a:lvl6pPr>
            <a:lvl7pPr marL="2488357" algn="l" defTabSz="829452" rtl="0" eaLnBrk="1" latinLnBrk="0" hangingPunct="1">
              <a:defRPr sz="1814" kern="1200">
                <a:solidFill>
                  <a:schemeClr val="tx1"/>
                </a:solidFill>
                <a:latin typeface="Arial" charset="0"/>
                <a:ea typeface="+mn-ea"/>
                <a:cs typeface="Arial" charset="0"/>
              </a:defRPr>
            </a:lvl7pPr>
            <a:lvl8pPr marL="2903083" algn="l" defTabSz="829452" rtl="0" eaLnBrk="1" latinLnBrk="0" hangingPunct="1">
              <a:defRPr sz="1814" kern="1200">
                <a:solidFill>
                  <a:schemeClr val="tx1"/>
                </a:solidFill>
                <a:latin typeface="Arial" charset="0"/>
                <a:ea typeface="+mn-ea"/>
                <a:cs typeface="Arial" charset="0"/>
              </a:defRPr>
            </a:lvl8pPr>
            <a:lvl9pPr marL="3317809" algn="l" defTabSz="829452" rtl="0" eaLnBrk="1" latinLnBrk="0" hangingPunct="1">
              <a:defRPr sz="1814" kern="1200">
                <a:solidFill>
                  <a:schemeClr val="tx1"/>
                </a:solidFill>
                <a:latin typeface="Arial" charset="0"/>
                <a:ea typeface="+mn-ea"/>
                <a:cs typeface="Arial" charset="0"/>
              </a:defRPr>
            </a:lvl9pPr>
          </a:lstStyle>
          <a:p>
            <a:pPr algn="r">
              <a:defRPr/>
            </a:pPr>
            <a:fld id="{2F3E20D8-87FE-CB44-8098-7B77BDE06CF2}" type="slidenum">
              <a:rPr lang="en-US" sz="1000" b="1">
                <a:solidFill>
                  <a:srgbClr val="0C2340"/>
                </a:solidFill>
                <a:latin typeface="Calibri" panose="020F0502020204030204" pitchFamily="34" charset="0"/>
                <a:cs typeface="Calibri" panose="020F0502020204030204" pitchFamily="34" charset="0"/>
              </a:rPr>
              <a:pPr algn="r">
                <a:defRPr/>
              </a:pPr>
              <a:t>11</a:t>
            </a:fld>
            <a:endParaRPr lang="en-US" sz="1000" b="1">
              <a:solidFill>
                <a:srgbClr val="0C2340"/>
              </a:solidFill>
              <a:latin typeface="Calibri" panose="020F0502020204030204" pitchFamily="34" charset="0"/>
              <a:cs typeface="Calibri" panose="020F0502020204030204" pitchFamily="34" charset="0"/>
            </a:endParaRPr>
          </a:p>
        </p:txBody>
      </p:sp>
      <p:sp>
        <p:nvSpPr>
          <p:cNvPr id="4" name="Rechteck 3">
            <a:extLst>
              <a:ext uri="{FF2B5EF4-FFF2-40B4-BE49-F238E27FC236}">
                <a16:creationId xmlns:a16="http://schemas.microsoft.com/office/drawing/2014/main" id="{E2F22A6A-BE2A-3AC9-1E2A-04F7197BC3BC}"/>
              </a:ext>
            </a:extLst>
          </p:cNvPr>
          <p:cNvSpPr/>
          <p:nvPr/>
        </p:nvSpPr>
        <p:spPr>
          <a:xfrm>
            <a:off x="360000" y="6570000"/>
            <a:ext cx="2880000" cy="288000"/>
          </a:xfrm>
          <a:prstGeom prst="rect">
            <a:avLst/>
          </a:prstGeom>
        </p:spPr>
        <p:txBody>
          <a:bodyPr wrap="square" lIns="0" tIns="0" rIns="0" bIns="0">
            <a:noAutofit/>
          </a:bodyPr>
          <a:lstStyle/>
          <a:p>
            <a:pPr>
              <a:lnSpc>
                <a:spcPts val="998"/>
              </a:lnSpc>
              <a:defRPr/>
            </a:pPr>
            <a:r>
              <a:rPr lang="en-US" sz="800" b="1">
                <a:solidFill>
                  <a:srgbClr val="0018A8"/>
                </a:solidFill>
                <a:ea typeface="Deutsche Bank Text" panose="020B0503020202030204" pitchFamily="34" charset="0"/>
                <a:cs typeface="Arial" panose="020B0604020202020204" pitchFamily="34" charset="0"/>
              </a:rPr>
              <a:t>Deutsche Bank AG     </a:t>
            </a:r>
            <a:r>
              <a:rPr lang="en-US" sz="800" b="1">
                <a:solidFill>
                  <a:srgbClr val="0C2340"/>
                </a:solidFill>
                <a:ea typeface="Deutsche Bank Text" panose="020B0503020202030204" pitchFamily="34" charset="0"/>
                <a:cs typeface="Arial" panose="020B0604020202020204" pitchFamily="34" charset="0"/>
              </a:rPr>
              <a:t>Betriebliche Altersversorgung</a:t>
            </a:r>
          </a:p>
        </p:txBody>
      </p:sp>
      <p:pic>
        <p:nvPicPr>
          <p:cNvPr id="5" name="Grafik 4">
            <a:extLst>
              <a:ext uri="{FF2B5EF4-FFF2-40B4-BE49-F238E27FC236}">
                <a16:creationId xmlns:a16="http://schemas.microsoft.com/office/drawing/2014/main" id="{CD086CC1-93AD-6438-7319-F87B80A800C9}"/>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232000" y="360000"/>
            <a:ext cx="540000" cy="540000"/>
          </a:xfrm>
          <a:prstGeom prst="rect">
            <a:avLst/>
          </a:prstGeom>
        </p:spPr>
      </p:pic>
      <p:sp>
        <p:nvSpPr>
          <p:cNvPr id="7" name="Titel 2">
            <a:extLst>
              <a:ext uri="{FF2B5EF4-FFF2-40B4-BE49-F238E27FC236}">
                <a16:creationId xmlns:a16="http://schemas.microsoft.com/office/drawing/2014/main" id="{C8005BF7-BB81-B7D1-5BD1-D95C5C0D3B3B}"/>
              </a:ext>
            </a:extLst>
          </p:cNvPr>
          <p:cNvSpPr txBox="1">
            <a:spLocks/>
          </p:cNvSpPr>
          <p:nvPr/>
        </p:nvSpPr>
        <p:spPr>
          <a:xfrm>
            <a:off x="360000" y="360000"/>
            <a:ext cx="8262000" cy="612000"/>
          </a:xfrm>
          <a:prstGeom prst="rect">
            <a:avLst/>
          </a:prstGeom>
        </p:spPr>
        <p:txBody>
          <a:bodyPr lIns="0" tIns="0" rIns="0" bIns="0" anchor="t" anchorCtr="0"/>
          <a:lstStyle>
            <a:lvl1pPr algn="l" rtl="0" eaLnBrk="1" fontAlgn="base" hangingPunct="1">
              <a:lnSpc>
                <a:spcPct val="80000"/>
              </a:lnSpc>
              <a:spcBef>
                <a:spcPct val="0"/>
              </a:spcBef>
              <a:spcAft>
                <a:spcPct val="0"/>
              </a:spcAft>
              <a:defRPr sz="3266" kern="1200" baseline="0">
                <a:solidFill>
                  <a:schemeClr val="tx1"/>
                </a:solidFill>
                <a:latin typeface="+mj-lt"/>
                <a:ea typeface="Deutsche Bank Display" panose="020F0403020203030304" pitchFamily="34" charset="0"/>
                <a:cs typeface="Calibri Light" panose="020F0302020204030204" pitchFamily="34" charset="0"/>
              </a:defRPr>
            </a:lvl1pPr>
            <a:lvl2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351">
                <a:solidFill>
                  <a:schemeClr val="tx1"/>
                </a:solidFill>
                <a:latin typeface="Arial" charset="0"/>
                <a:ea typeface="ＭＳ Ｐゴシック" pitchFamily="34" charset="-128"/>
                <a:cs typeface="ＭＳ Ｐゴシック" pitchFamily="-109" charset="-128"/>
              </a:defRPr>
            </a:lvl5pPr>
            <a:lvl6pPr marL="456273" algn="l" rtl="0" eaLnBrk="1" fontAlgn="base" hangingPunct="1">
              <a:lnSpc>
                <a:spcPct val="90000"/>
              </a:lnSpc>
              <a:spcBef>
                <a:spcPct val="0"/>
              </a:spcBef>
              <a:spcAft>
                <a:spcPct val="0"/>
              </a:spcAft>
              <a:tabLst>
                <a:tab pos="665398" algn="l"/>
              </a:tabLst>
              <a:defRPr sz="2351" b="1">
                <a:solidFill>
                  <a:schemeClr val="tx1"/>
                </a:solidFill>
                <a:latin typeface="Arial" charset="0"/>
              </a:defRPr>
            </a:lvl6pPr>
            <a:lvl7pPr marL="912546" algn="l" rtl="0" eaLnBrk="1" fontAlgn="base" hangingPunct="1">
              <a:lnSpc>
                <a:spcPct val="90000"/>
              </a:lnSpc>
              <a:spcBef>
                <a:spcPct val="0"/>
              </a:spcBef>
              <a:spcAft>
                <a:spcPct val="0"/>
              </a:spcAft>
              <a:tabLst>
                <a:tab pos="665398" algn="l"/>
              </a:tabLst>
              <a:defRPr sz="2351" b="1">
                <a:solidFill>
                  <a:schemeClr val="tx1"/>
                </a:solidFill>
                <a:latin typeface="Arial" charset="0"/>
              </a:defRPr>
            </a:lvl7pPr>
            <a:lvl8pPr marL="1368819" algn="l" rtl="0" eaLnBrk="1" fontAlgn="base" hangingPunct="1">
              <a:lnSpc>
                <a:spcPct val="90000"/>
              </a:lnSpc>
              <a:spcBef>
                <a:spcPct val="0"/>
              </a:spcBef>
              <a:spcAft>
                <a:spcPct val="0"/>
              </a:spcAft>
              <a:tabLst>
                <a:tab pos="665398" algn="l"/>
              </a:tabLst>
              <a:defRPr sz="2351" b="1">
                <a:solidFill>
                  <a:schemeClr val="tx1"/>
                </a:solidFill>
                <a:latin typeface="Arial" charset="0"/>
              </a:defRPr>
            </a:lvl8pPr>
            <a:lvl9pPr marL="1825091" algn="l" rtl="0" eaLnBrk="1" fontAlgn="base" hangingPunct="1">
              <a:lnSpc>
                <a:spcPct val="90000"/>
              </a:lnSpc>
              <a:spcBef>
                <a:spcPct val="0"/>
              </a:spcBef>
              <a:spcAft>
                <a:spcPct val="0"/>
              </a:spcAft>
              <a:tabLst>
                <a:tab pos="665398" algn="l"/>
              </a:tabLst>
              <a:defRPr sz="2351" b="1">
                <a:solidFill>
                  <a:schemeClr val="tx1"/>
                </a:solidFill>
                <a:latin typeface="Arial" charset="0"/>
              </a:defRPr>
            </a:lvl9pPr>
          </a:lstStyle>
          <a:p>
            <a:pPr marL="12700">
              <a:lnSpc>
                <a:spcPct val="100000"/>
              </a:lnSpc>
              <a:spcBef>
                <a:spcPts val="645"/>
              </a:spcBef>
            </a:pPr>
            <a:r>
              <a:rPr lang="de-DE" sz="2100" dirty="0" err="1">
                <a:solidFill>
                  <a:srgbClr val="0C2340"/>
                </a:solidFill>
                <a:latin typeface="Calibri Light" panose="020F0302020204030204" pitchFamily="34" charset="0"/>
              </a:rPr>
              <a:t>Anspracheideen</a:t>
            </a:r>
            <a:r>
              <a:rPr lang="de-DE" sz="2100" dirty="0">
                <a:solidFill>
                  <a:srgbClr val="0C2340"/>
                </a:solidFill>
                <a:latin typeface="Calibri Light" panose="020F0302020204030204" pitchFamily="34" charset="0"/>
              </a:rPr>
              <a:t>:</a:t>
            </a:r>
          </a:p>
        </p:txBody>
      </p:sp>
      <p:sp>
        <p:nvSpPr>
          <p:cNvPr id="2" name="Rectangle 1">
            <a:extLst>
              <a:ext uri="{FF2B5EF4-FFF2-40B4-BE49-F238E27FC236}">
                <a16:creationId xmlns:a16="http://schemas.microsoft.com/office/drawing/2014/main" id="{F4A7A3B2-1320-13AD-1438-5AC6BEAA93F8}"/>
              </a:ext>
            </a:extLst>
          </p:cNvPr>
          <p:cNvSpPr>
            <a:spLocks noChangeArrowheads="1"/>
          </p:cNvSpPr>
          <p:nvPr/>
        </p:nvSpPr>
        <p:spPr bwMode="auto">
          <a:xfrm>
            <a:off x="360000" y="810417"/>
            <a:ext cx="8797855" cy="3893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de-DE" altLang="de-DE" sz="1600" b="1" dirty="0">
                <a:solidFill>
                  <a:srgbClr val="212121"/>
                </a:solidFill>
                <a:latin typeface="Aptos" panose="020B0004020202020204" pitchFamily="34" charset="0"/>
              </a:rPr>
              <a:t>Für bestehende Kundenbeziehung </a:t>
            </a:r>
          </a:p>
          <a:p>
            <a:pPr lvl="0" defTabSz="914400"/>
            <a:endParaRPr kumimoji="0" lang="de-DE" altLang="de-DE" sz="700" b="0" i="0" u="none" strike="noStrike" cap="none" normalizeH="0" baseline="0" dirty="0">
              <a:ln>
                <a:noFill/>
              </a:ln>
              <a:solidFill>
                <a:schemeClr val="tx1"/>
              </a:solidFill>
              <a:effectLst/>
            </a:endParaRPr>
          </a:p>
          <a:p>
            <a:pPr lvl="0" defTabSz="914400"/>
            <a:r>
              <a:rPr lang="de-DE" altLang="de-DE" sz="1400" b="1" dirty="0">
                <a:solidFill>
                  <a:srgbClr val="212121"/>
                </a:solidFill>
                <a:latin typeface="Aptos" panose="020B0004020202020204" pitchFamily="34" charset="0"/>
              </a:rPr>
              <a:t>Einstieg:</a:t>
            </a:r>
            <a:endParaRPr lang="de-DE" altLang="de-DE" sz="800" dirty="0"/>
          </a:p>
          <a:p>
            <a:pPr lvl="0" defTabSz="914400"/>
            <a:r>
              <a:rPr lang="de-DE" altLang="de-DE" sz="1400" dirty="0">
                <a:solidFill>
                  <a:srgbClr val="212121"/>
                </a:solidFill>
                <a:latin typeface="Aptos" panose="020B0004020202020204" pitchFamily="34" charset="0"/>
              </a:rPr>
              <a:t>„Guten Tag Herr/Frau [Name], hier ist [Name]. Ich melde mich heute mit einem ergänzenden Impuls zu unserer bisherigen Zusammenarbeit.“</a:t>
            </a:r>
            <a:endParaRPr lang="de-DE" altLang="de-DE" sz="800" dirty="0"/>
          </a:p>
          <a:p>
            <a:pPr lvl="0" defTabSz="914400"/>
            <a:r>
              <a:rPr lang="de-DE" altLang="de-DE" sz="1400" b="1" dirty="0">
                <a:solidFill>
                  <a:srgbClr val="212121"/>
                </a:solidFill>
                <a:latin typeface="Aptos" panose="020B0004020202020204" pitchFamily="34" charset="0"/>
              </a:rPr>
              <a:t>Anknüpfung an Beziehung</a:t>
            </a:r>
            <a:r>
              <a:rPr lang="de-DE" altLang="de-DE" sz="1400" dirty="0">
                <a:solidFill>
                  <a:srgbClr val="212121"/>
                </a:solidFill>
                <a:latin typeface="Aptos" panose="020B0004020202020204" pitchFamily="34" charset="0"/>
              </a:rPr>
              <a:t>:</a:t>
            </a:r>
            <a:endParaRPr lang="de-DE" altLang="de-DE" sz="800" dirty="0"/>
          </a:p>
          <a:p>
            <a:pPr lvl="0" defTabSz="914400"/>
            <a:r>
              <a:rPr lang="de-DE" altLang="de-DE" sz="1400" dirty="0">
                <a:solidFill>
                  <a:srgbClr val="212121"/>
                </a:solidFill>
                <a:latin typeface="Aptos" panose="020B0004020202020204" pitchFamily="34" charset="0"/>
              </a:rPr>
              <a:t>„Wir begleiten Sie ja bereits auf Unternehmensseite – ein Bereich, den viele Geschäftsführer dabei nicht konsequent mitdenken, ist die strategische private Absicherung über das Unternehmen.“</a:t>
            </a:r>
            <a:endParaRPr lang="de-DE" altLang="de-DE" sz="800" dirty="0"/>
          </a:p>
          <a:p>
            <a:pPr lvl="0" defTabSz="914400"/>
            <a:r>
              <a:rPr lang="de-DE" altLang="de-DE" sz="1400" b="1" dirty="0">
                <a:solidFill>
                  <a:srgbClr val="212121"/>
                </a:solidFill>
                <a:latin typeface="Aptos" panose="020B0004020202020204" pitchFamily="34" charset="0"/>
              </a:rPr>
              <a:t>Nutzen &amp; Mehrwert:</a:t>
            </a:r>
            <a:endParaRPr lang="de-DE" altLang="de-DE" sz="800" dirty="0"/>
          </a:p>
          <a:p>
            <a:pPr lvl="0" defTabSz="914400"/>
            <a:r>
              <a:rPr lang="de-DE" altLang="de-DE" sz="1400" dirty="0">
                <a:solidFill>
                  <a:srgbClr val="212121"/>
                </a:solidFill>
                <a:latin typeface="Aptos" panose="020B0004020202020204" pitchFamily="34" charset="0"/>
              </a:rPr>
              <a:t>„Hier gibt es interessante Möglichkeiten, Firmenvermögen strukturiert ins Privatvermögen zu überführen und gleichzeitig Vorsorge- sowie Kapitalmarktchancen aktiv zu nutzen.“</a:t>
            </a:r>
            <a:endParaRPr lang="de-DE" altLang="de-DE" sz="800" dirty="0"/>
          </a:p>
          <a:p>
            <a:pPr lvl="0" defTabSz="914400"/>
            <a:r>
              <a:rPr lang="de-DE" altLang="de-DE" sz="1400" b="1" dirty="0">
                <a:solidFill>
                  <a:srgbClr val="212121"/>
                </a:solidFill>
                <a:latin typeface="Aptos" panose="020B0004020202020204" pitchFamily="34" charset="0"/>
              </a:rPr>
              <a:t>Beratungsanspruch:</a:t>
            </a:r>
            <a:endParaRPr lang="de-DE" altLang="de-DE" sz="800" dirty="0"/>
          </a:p>
          <a:p>
            <a:pPr lvl="0" defTabSz="914400"/>
            <a:r>
              <a:rPr lang="de-DE" altLang="de-DE" sz="1400" dirty="0">
                <a:solidFill>
                  <a:srgbClr val="212121"/>
                </a:solidFill>
                <a:latin typeface="Aptos" panose="020B0004020202020204" pitchFamily="34" charset="0"/>
              </a:rPr>
              <a:t>„Mir ist wichtig, dass Sie diese Optionen zumindest geprüft haben – ob wir sie dann umsetzen, entscheiden wir gemeinsam.“</a:t>
            </a:r>
            <a:endParaRPr lang="de-DE" altLang="de-DE" sz="800" dirty="0"/>
          </a:p>
          <a:p>
            <a:pPr lvl="0" defTabSz="914400"/>
            <a:r>
              <a:rPr lang="de-DE" altLang="de-DE" sz="1400" b="1" dirty="0">
                <a:solidFill>
                  <a:srgbClr val="212121"/>
                </a:solidFill>
                <a:latin typeface="Aptos" panose="020B0004020202020204" pitchFamily="34" charset="0"/>
              </a:rPr>
              <a:t>Terminüberleitung:</a:t>
            </a:r>
            <a:endParaRPr lang="de-DE" altLang="de-DE" sz="800" dirty="0"/>
          </a:p>
          <a:p>
            <a:pPr lvl="0" defTabSz="914400"/>
            <a:r>
              <a:rPr lang="de-DE" altLang="de-DE" sz="1400" dirty="0">
                <a:solidFill>
                  <a:srgbClr val="212121"/>
                </a:solidFill>
                <a:latin typeface="Aptos" panose="020B0004020202020204" pitchFamily="34" charset="0"/>
              </a:rPr>
              <a:t>„Lassen Sie uns dazu einen kompakten Termin vereinbaren.“</a:t>
            </a:r>
            <a:endParaRPr lang="de-DE" altLang="de-DE" sz="800" dirty="0"/>
          </a:p>
          <a:p>
            <a:pPr lvl="0" defTabSz="914400"/>
            <a:r>
              <a:rPr lang="de-DE" altLang="de-DE" sz="1400" b="1" dirty="0">
                <a:solidFill>
                  <a:srgbClr val="212121"/>
                </a:solidFill>
                <a:latin typeface="Aptos" panose="020B0004020202020204" pitchFamily="34" charset="0"/>
              </a:rPr>
              <a:t>Abschlussfrage:</a:t>
            </a:r>
            <a:endParaRPr lang="de-DE" altLang="de-DE" sz="800" dirty="0"/>
          </a:p>
          <a:p>
            <a:pPr lvl="0" defTabSz="914400"/>
            <a:r>
              <a:rPr lang="de-DE" altLang="de-DE" sz="1400" dirty="0">
                <a:solidFill>
                  <a:srgbClr val="212121"/>
                </a:solidFill>
                <a:latin typeface="Aptos" panose="020B0004020202020204" pitchFamily="34" charset="0"/>
              </a:rPr>
              <a:t>„Wann haben Sie in den nächsten zwei Wochen ein 30-minütiges Zeitfenster frei?“</a:t>
            </a:r>
            <a:endParaRPr lang="de-DE" altLang="de-DE" sz="2400" dirty="0"/>
          </a:p>
        </p:txBody>
      </p:sp>
    </p:spTree>
    <p:extLst>
      <p:ext uri="{BB962C8B-B14F-4D97-AF65-F5344CB8AC3E}">
        <p14:creationId xmlns:p14="http://schemas.microsoft.com/office/powerpoint/2010/main" val="1481943755"/>
      </p:ext>
    </p:extLst>
  </p:cSld>
  <p:clrMapOvr>
    <a:masterClrMapping/>
  </p:clrMapOvr>
</p:sld>
</file>

<file path=ppt/theme/theme1.xml><?xml version="1.0" encoding="utf-8"?>
<a:theme xmlns:a="http://schemas.openxmlformats.org/drawingml/2006/main" name="Deutsche Bank theme 2018 09 copy">
  <a:themeElements>
    <a:clrScheme name="Custom 1">
      <a:dk1>
        <a:srgbClr val="000000"/>
      </a:dk1>
      <a:lt1>
        <a:srgbClr val="FFFFFF"/>
      </a:lt1>
      <a:dk2>
        <a:srgbClr val="0C2340"/>
      </a:dk2>
      <a:lt2>
        <a:srgbClr val="8794A1"/>
      </a:lt2>
      <a:accent1>
        <a:srgbClr val="4AC9E3"/>
      </a:accent1>
      <a:accent2>
        <a:srgbClr val="FFC845"/>
      </a:accent2>
      <a:accent3>
        <a:srgbClr val="E4002B"/>
      </a:accent3>
      <a:accent4>
        <a:srgbClr val="07792B"/>
      </a:accent4>
      <a:accent5>
        <a:srgbClr val="00A3E0"/>
      </a:accent5>
      <a:accent6>
        <a:srgbClr val="A7D6CD"/>
      </a:accent6>
      <a:hlink>
        <a:srgbClr val="00A3E0"/>
      </a:hlink>
      <a:folHlink>
        <a:srgbClr val="00A3E0"/>
      </a:folHlink>
    </a:clrScheme>
    <a:fontScheme name="Custom 1">
      <a:majorFont>
        <a:latin typeface="Calibri Light"/>
        <a:ea typeface="MS PGothic"/>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6350">
          <a:noFill/>
          <a:miter lim="800000"/>
          <a:headEnd/>
          <a:tailEnd/>
        </a:ln>
      </a:spPr>
      <a:bodyPr lIns="100913" tIns="50457" rIns="100913" bIns="50457" rtlCol="0" anchor="ctr">
        <a:noAutofit/>
      </a:bodyPr>
      <a:lstStyle>
        <a:defPPr algn="ctr" defTabSz="963613" eaLnBrk="0" hangingPunct="0">
          <a:tabLst>
            <a:tab pos="1257300" algn="l"/>
          </a:tabLst>
          <a:defRPr dirty="0" err="1" smtClean="0">
            <a:solidFill>
              <a:srgbClr val="FFFFFF"/>
            </a:solidFill>
            <a:latin typeface="+mn-lt"/>
          </a:defRPr>
        </a:defPPr>
      </a:lstStyle>
    </a:spDef>
    <a:lnDef>
      <a:spPr bwMode="auto">
        <a:noFill/>
        <a:ln w="12700">
          <a:solidFill>
            <a:schemeClr val="tx1"/>
          </a:solidFill>
          <a:round/>
          <a:headEnd/>
          <a:tailEnd/>
        </a:ln>
      </a:spPr>
      <a:bodyPr/>
      <a:lstStyle/>
    </a:lnDef>
    <a:txDef>
      <a:spPr bwMode="ltGray">
        <a:noFill/>
        <a:ln w="6350">
          <a:noFill/>
          <a:miter lim="800000"/>
          <a:headEnd/>
          <a:tailEnd/>
        </a:ln>
      </a:spPr>
      <a:bodyPr wrap="square" lIns="100913" tIns="50457" rIns="100913" bIns="50457" rtlCol="0" anchor="t" anchorCtr="0">
        <a:spAutoFit/>
      </a:bodyPr>
      <a:lstStyle>
        <a:defPPr eaLnBrk="0" hangingPunct="0">
          <a:defRPr dirty="0" err="1" smtClean="0">
            <a:latin typeface="+mn-lt"/>
          </a:defRPr>
        </a:defPPr>
      </a:lstStyle>
    </a:txDef>
  </a:objectDefaults>
  <a:extraClrSchemeLst/>
  <a:custClrLst>
    <a:custClr name="Dark blue">
      <a:srgbClr val="0C2340"/>
    </a:custClr>
    <a:custClr name="Pale blue">
      <a:srgbClr val="4AC9E3"/>
    </a:custClr>
    <a:custClr name="Yellow">
      <a:srgbClr val="FFC845"/>
    </a:custClr>
    <a:custClr name="Red">
      <a:srgbClr val="E4002B"/>
    </a:custClr>
    <a:custClr name="Dark green">
      <a:srgbClr val="07792B"/>
    </a:custClr>
    <a:custClr name="Blue">
      <a:srgbClr val="00A3E0"/>
    </a:custClr>
    <a:custClr name="Petrol">
      <a:srgbClr val="A7D6CD"/>
    </a:custClr>
    <a:custClr name="Grey 4">
      <a:srgbClr val="8794A1"/>
    </a:custClr>
    <a:custClr name="Deutsche Bank blue">
      <a:srgbClr val="0018A8"/>
    </a:custClr>
    <a:custClr>
      <a:srgbClr val="FFFFFF"/>
    </a:custClr>
    <a:custClr name="Pale violet">
      <a:srgbClr val="C9B7D1"/>
    </a:custClr>
    <a:custClr name="Bright blue 2">
      <a:srgbClr val="99DCF3"/>
    </a:custClr>
    <a:custClr name="Skeen">
      <a:srgbClr val="F29E97"/>
    </a:custClr>
    <a:custClr name="Orange">
      <a:srgbClr val="E57200"/>
    </a:custClr>
    <a:custClr name="Pale green">
      <a:srgbClr val="CEDC00"/>
    </a:custClr>
    <a:custClr name="Grey 1">
      <a:srgbClr val="57646C"/>
    </a:custClr>
    <a:custClr name="Violet">
      <a:srgbClr val="671E75"/>
    </a:custClr>
    <a:custClr name="Neutral grey">
      <a:srgbClr val="D7DEE2"/>
    </a:custClr>
    <a:custClr name="Tower grey">
      <a:srgbClr val="A4BCC2"/>
    </a:custClr>
  </a:custClrLst>
  <a:extLst>
    <a:ext uri="{05A4C25C-085E-4340-85A3-A5531E510DB2}">
      <thm15:themeFamily xmlns:thm15="http://schemas.microsoft.com/office/thememl/2012/main" name="Deutsche Bank theme 2018 09 copy" id="{C5C5EEE5-165C-49AF-A554-A62233C5C775}" vid="{8E00120D-7832-46EC-9844-2E199FB844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DAEC980B09B329439604276BCE3321DB" ma:contentTypeVersion="17" ma:contentTypeDescription="Ein neues Dokument erstellen." ma:contentTypeScope="" ma:versionID="f00e866eefbd7be5450c07e357af23c1">
  <xsd:schema xmlns:xsd="http://www.w3.org/2001/XMLSchema" xmlns:xs="http://www.w3.org/2001/XMLSchema" xmlns:p="http://schemas.microsoft.com/office/2006/metadata/properties" xmlns:ns2="20acaaea-8327-4cac-b22a-d8fb27113b08" xmlns:ns3="464ef31d-9d57-4d28-a542-413e5f704990" targetNamespace="http://schemas.microsoft.com/office/2006/metadata/properties" ma:root="true" ma:fieldsID="2ee04f9058e435abd24ec93177c30c56" ns2:_="" ns3:_="">
    <xsd:import namespace="20acaaea-8327-4cac-b22a-d8fb27113b08"/>
    <xsd:import namespace="464ef31d-9d57-4d28-a542-413e5f70499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lcf76f155ced4ddcb4097134ff3c332f" minOccurs="0"/>
                <xsd:element ref="ns2:TaxCatchAll" minOccurs="0"/>
                <xsd:element ref="ns3:MediaServiceOCR" minOccurs="0"/>
                <xsd:element ref="ns3:MediaServiceLocation" minOccurs="0"/>
                <xsd:element ref="ns3:Hinweis" minOccurs="0"/>
                <xsd:element ref="ns3:inBearbeitun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acaaea-8327-4cac-b22a-d8fb27113b08" elementFormDefault="qualified">
    <xsd:import namespace="http://schemas.microsoft.com/office/2006/documentManagement/types"/>
    <xsd:import namespace="http://schemas.microsoft.com/office/infopath/2007/PartnerControls"/>
    <xsd:element name="SharedWithUsers" ma:index="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Freigegeben für - Details" ma:internalName="SharedWithDetails" ma:readOnly="true">
      <xsd:simpleType>
        <xsd:restriction base="dms:Note">
          <xsd:maxLength value="255"/>
        </xsd:restriction>
      </xsd:simpleType>
    </xsd:element>
    <xsd:element name="TaxCatchAll" ma:index="20" nillable="true" ma:displayName="Taxonomy Catch All Column" ma:hidden="true" ma:list="{9d49542c-a6e0-4c7f-a307-70b78a6c1554}" ma:internalName="TaxCatchAll" ma:showField="CatchAllData" ma:web="20acaaea-8327-4cac-b22a-d8fb27113b0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64ef31d-9d57-4d28-a542-413e5f70499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Bildmarkierungen" ma:readOnly="false" ma:fieldId="{5cf76f15-5ced-4ddc-b409-7134ff3c332f}" ma:taxonomyMulti="true" ma:sspId="2578d6fb-034f-4618-ad9b-ef87b0886391"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description="" ma:indexed="true" ma:internalName="MediaServiceLocation" ma:readOnly="true">
      <xsd:simpleType>
        <xsd:restriction base="dms:Text"/>
      </xsd:simpleType>
    </xsd:element>
    <xsd:element name="Hinweis" ma:index="23" nillable="true" ma:displayName="Hinweis" ma:format="Dropdown" ma:internalName="Hinweis">
      <xsd:simpleType>
        <xsd:restriction base="dms:Note">
          <xsd:maxLength value="255"/>
        </xsd:restriction>
      </xsd:simpleType>
    </xsd:element>
    <xsd:element name="inBearbeitung" ma:index="24" nillable="true" ma:displayName="in Bearbeitung" ma:default="1" ma:format="Dropdown" ma:internalName="inBearbeitung">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20acaaea-8327-4cac-b22a-d8fb27113b08">
      <UserInfo>
        <DisplayName>Dunja Martin</DisplayName>
        <AccountId>57</AccountId>
        <AccountType/>
      </UserInfo>
      <UserInfo>
        <DisplayName>Lena Henriques Rodrigues</DisplayName>
        <AccountId>54</AccountId>
        <AccountType/>
      </UserInfo>
      <UserInfo>
        <DisplayName>Thorsten Schneider</DisplayName>
        <AccountId>64</AccountId>
        <AccountType/>
      </UserInfo>
      <UserInfo>
        <DisplayName>Oliver Koch</DisplayName>
        <AccountId>67</AccountId>
        <AccountType/>
      </UserInfo>
    </SharedWithUsers>
    <TaxCatchAll xmlns="20acaaea-8327-4cac-b22a-d8fb27113b08" xsi:nil="true"/>
    <lcf76f155ced4ddcb4097134ff3c332f xmlns="464ef31d-9d57-4d28-a542-413e5f704990">
      <Terms xmlns="http://schemas.microsoft.com/office/infopath/2007/PartnerControls"/>
    </lcf76f155ced4ddcb4097134ff3c332f>
    <MediaLengthInSeconds xmlns="464ef31d-9d57-4d28-a542-413e5f704990" xsi:nil="true"/>
    <Hinweis xmlns="464ef31d-9d57-4d28-a542-413e5f704990" xsi:nil="true"/>
    <inBearbeitung xmlns="464ef31d-9d57-4d28-a542-413e5f704990">true</inBearbeitung>
  </documentManagement>
</p:properties>
</file>

<file path=customXml/itemProps1.xml><?xml version="1.0" encoding="utf-8"?>
<ds:datastoreItem xmlns:ds="http://schemas.openxmlformats.org/officeDocument/2006/customXml" ds:itemID="{600C744D-EAF5-4506-BE86-B01A38D12F0F}">
  <ds:schemaRefs>
    <ds:schemaRef ds:uri="20acaaea-8327-4cac-b22a-d8fb27113b08"/>
    <ds:schemaRef ds:uri="464ef31d-9d57-4d28-a542-413e5f7049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1E90EA6-CAD8-44F5-8096-70DAB2015552}">
  <ds:schemaRefs>
    <ds:schemaRef ds:uri="http://schemas.microsoft.com/sharepoint/v3/contenttype/forms"/>
  </ds:schemaRefs>
</ds:datastoreItem>
</file>

<file path=customXml/itemProps3.xml><?xml version="1.0" encoding="utf-8"?>
<ds:datastoreItem xmlns:ds="http://schemas.openxmlformats.org/officeDocument/2006/customXml" ds:itemID="{45F87833-0C34-4625-BA53-DAF3DD0A1D35}">
  <ds:schemaRefs>
    <ds:schemaRef ds:uri="20acaaea-8327-4cac-b22a-d8fb27113b08"/>
    <ds:schemaRef ds:uri="464ef31d-9d57-4d28-a542-413e5f70499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Deutsche Bank theme 2018 09</Template>
  <TotalTime>0</TotalTime>
  <Words>1162</Words>
  <Application>Microsoft Macintosh PowerPoint</Application>
  <PresentationFormat>Benutzerdefiniert</PresentationFormat>
  <Paragraphs>182</Paragraphs>
  <Slides>11</Slides>
  <Notes>7</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11</vt:i4>
      </vt:variant>
    </vt:vector>
  </HeadingPairs>
  <TitlesOfParts>
    <vt:vector size="18" baseType="lpstr">
      <vt:lpstr>Aptos</vt:lpstr>
      <vt:lpstr>Aptos Narrow</vt:lpstr>
      <vt:lpstr>Arial</vt:lpstr>
      <vt:lpstr>Calibri</vt:lpstr>
      <vt:lpstr>Calibri Light</vt:lpstr>
      <vt:lpstr>Deutsche Bank Text</vt:lpstr>
      <vt:lpstr>Deutsche Bank theme 2018 09 copy</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
  <cp:keywords>Public</cp:keywords>
  <dc:description/>
  <cp:lastModifiedBy/>
  <cp:revision>1</cp:revision>
  <cp:lastPrinted>2024-12-16T16:17:35Z</cp:lastPrinted>
  <dcterms:created xsi:type="dcterms:W3CDTF">2018-12-04T13:54:04Z</dcterms:created>
  <dcterms:modified xsi:type="dcterms:W3CDTF">2026-03-24T09:35:09Z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9a8d8fa1-4e94-4f89-8eef-b5a623676d27</vt:lpwstr>
  </property>
  <property fmtid="{D5CDD505-2E9C-101B-9397-08002B2CF9AE}" pid="3" name="ContentTypeId">
    <vt:lpwstr>0x010100DAEC980B09B329439604276BCE3321DB</vt:lpwstr>
  </property>
  <property fmtid="{D5CDD505-2E9C-101B-9397-08002B2CF9AE}" pid="4" name="MediaServiceImageTags">
    <vt:lpwstr/>
  </property>
  <property fmtid="{D5CDD505-2E9C-101B-9397-08002B2CF9AE}" pid="5" name="MSIP_Label_9108d454-5c13-4905-93be-12ec8059c842_Enabled">
    <vt:lpwstr>true</vt:lpwstr>
  </property>
  <property fmtid="{D5CDD505-2E9C-101B-9397-08002B2CF9AE}" pid="6" name="MSIP_Label_9108d454-5c13-4905-93be-12ec8059c842_SetDate">
    <vt:lpwstr>2023-01-05T14:54:29Z</vt:lpwstr>
  </property>
  <property fmtid="{D5CDD505-2E9C-101B-9397-08002B2CF9AE}" pid="7" name="MSIP_Label_9108d454-5c13-4905-93be-12ec8059c842_Method">
    <vt:lpwstr>Privileged</vt:lpwstr>
  </property>
  <property fmtid="{D5CDD505-2E9C-101B-9397-08002B2CF9AE}" pid="8" name="MSIP_Label_9108d454-5c13-4905-93be-12ec8059c842_Name">
    <vt:lpwstr>9108d454-5c13-4905-93be-12ec8059c842</vt:lpwstr>
  </property>
  <property fmtid="{D5CDD505-2E9C-101B-9397-08002B2CF9AE}" pid="9" name="MSIP_Label_9108d454-5c13-4905-93be-12ec8059c842_SiteId">
    <vt:lpwstr>473672ba-cd07-4371-a2ae-788b4c61840e</vt:lpwstr>
  </property>
  <property fmtid="{D5CDD505-2E9C-101B-9397-08002B2CF9AE}" pid="10" name="MSIP_Label_9108d454-5c13-4905-93be-12ec8059c842_ActionId">
    <vt:lpwstr>414d5239-72c1-4979-8fc5-dde40de23794</vt:lpwstr>
  </property>
  <property fmtid="{D5CDD505-2E9C-101B-9397-08002B2CF9AE}" pid="11" name="MSIP_Label_9108d454-5c13-4905-93be-12ec8059c842_ContentBits">
    <vt:lpwstr>2</vt:lpwstr>
  </property>
  <property fmtid="{D5CDD505-2E9C-101B-9397-08002B2CF9AE}" pid="12" name="Order">
    <vt:r8>87483100</vt:r8>
  </property>
  <property fmtid="{D5CDD505-2E9C-101B-9397-08002B2CF9AE}" pid="13" name="xd_Signature">
    <vt:bool>false</vt:bool>
  </property>
  <property fmtid="{D5CDD505-2E9C-101B-9397-08002B2CF9AE}" pid="14" name="xd_ProgID">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TriggerFlowInfo">
    <vt:lpwstr/>
  </property>
  <property fmtid="{D5CDD505-2E9C-101B-9397-08002B2CF9AE}" pid="19" name="MSIP_Label_2216d255-4b39-426a-a3c3-52038255989a_Enabled">
    <vt:lpwstr>true</vt:lpwstr>
  </property>
  <property fmtid="{D5CDD505-2E9C-101B-9397-08002B2CF9AE}" pid="20" name="MSIP_Label_2216d255-4b39-426a-a3c3-52038255989a_SetDate">
    <vt:lpwstr>2025-01-30T09:20:46Z</vt:lpwstr>
  </property>
  <property fmtid="{D5CDD505-2E9C-101B-9397-08002B2CF9AE}" pid="21" name="MSIP_Label_2216d255-4b39-426a-a3c3-52038255989a_Method">
    <vt:lpwstr>Privileged</vt:lpwstr>
  </property>
  <property fmtid="{D5CDD505-2E9C-101B-9397-08002B2CF9AE}" pid="22" name="MSIP_Label_2216d255-4b39-426a-a3c3-52038255989a_Name">
    <vt:lpwstr>2216d255-4b39-426a-a3c3-52038255989a</vt:lpwstr>
  </property>
  <property fmtid="{D5CDD505-2E9C-101B-9397-08002B2CF9AE}" pid="23" name="MSIP_Label_2216d255-4b39-426a-a3c3-52038255989a_SiteId">
    <vt:lpwstr>1e9b61e8-e590-4abc-b1af-24125e330d2a</vt:lpwstr>
  </property>
  <property fmtid="{D5CDD505-2E9C-101B-9397-08002B2CF9AE}" pid="24" name="MSIP_Label_2216d255-4b39-426a-a3c3-52038255989a_ActionId">
    <vt:lpwstr>d9c80c4c-3eae-44e5-a10d-1ea25258ed9e</vt:lpwstr>
  </property>
  <property fmtid="{D5CDD505-2E9C-101B-9397-08002B2CF9AE}" pid="25" name="MSIP_Label_2216d255-4b39-426a-a3c3-52038255989a_ContentBits">
    <vt:lpwstr>3</vt:lpwstr>
  </property>
  <property fmtid="{D5CDD505-2E9C-101B-9397-08002B2CF9AE}" pid="26" name="db.comClassification">
    <vt:lpwstr>Confidential\Not Encrypted</vt:lpwstr>
  </property>
</Properties>
</file>